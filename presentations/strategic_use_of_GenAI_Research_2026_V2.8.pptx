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Lst>
  <p:sldSz cy="5143500" cx="9144000"/>
  <p:notesSz cx="6858000" cy="9144000"/>
  <p:embeddedFontLst>
    <p:embeddedFont>
      <p:font typeface="Cabin Sketch"/>
      <p:regular r:id="rId88"/>
      <p:bold r:id="rId89"/>
    </p:embeddedFont>
    <p:embeddedFont>
      <p:font typeface="Raleway"/>
      <p:regular r:id="rId90"/>
      <p:bold r:id="rId91"/>
      <p:italic r:id="rId92"/>
      <p:boldItalic r:id="rId93"/>
    </p:embeddedFont>
    <p:embeddedFont>
      <p:font typeface="Roboto"/>
      <p:regular r:id="rId94"/>
      <p:bold r:id="rId95"/>
      <p:italic r:id="rId96"/>
      <p:boldItalic r:id="rId97"/>
    </p:embeddedFont>
    <p:embeddedFont>
      <p:font typeface="Corbel"/>
      <p:regular r:id="rId98"/>
      <p:bold r:id="rId99"/>
      <p:italic r:id="rId100"/>
      <p:boldItalic r:id="rId101"/>
    </p:embeddedFont>
    <p:embeddedFont>
      <p:font typeface="Lora"/>
      <p:regular r:id="rId102"/>
      <p:bold r:id="rId103"/>
      <p:italic r:id="rId104"/>
      <p:boldItalic r:id="rId105"/>
    </p:embeddedFont>
    <p:embeddedFont>
      <p:font typeface="JetBrains Mono Light"/>
      <p:regular r:id="rId106"/>
      <p:bold r:id="rId107"/>
      <p:italic r:id="rId108"/>
      <p:boldItalic r:id="rId109"/>
    </p:embeddedFont>
    <p:embeddedFont>
      <p:font typeface="Oswald"/>
      <p:regular r:id="rId110"/>
      <p:bold r:id="rId111"/>
    </p:embeddedFont>
    <p:embeddedFont>
      <p:font typeface="JetBrains Mono"/>
      <p:regular r:id="rId112"/>
      <p:bold r:id="rId113"/>
      <p:italic r:id="rId114"/>
      <p:boldItalic r:id="rId115"/>
    </p:embeddedFont>
    <p:embeddedFont>
      <p:font typeface="Open Sans"/>
      <p:regular r:id="rId116"/>
      <p:bold r:id="rId117"/>
      <p:italic r:id="rId118"/>
      <p:boldItalic r:id="rId1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0" roundtripDataSignature="AMtx7mg2Sj5thmJyATIpW/bKjKX4pG0R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9467AB-D35D-4B33-A821-928160C17063}">
  <a:tblStyle styleId="{D09467AB-D35D-4B33-A821-928160C1706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JetBrainsMonoLight-bold.fntdata"/><Relationship Id="rId106" Type="http://schemas.openxmlformats.org/officeDocument/2006/relationships/font" Target="fonts/JetBrainsMonoLight-regular.fntdata"/><Relationship Id="rId105" Type="http://schemas.openxmlformats.org/officeDocument/2006/relationships/font" Target="fonts/Lora-boldItalic.fntdata"/><Relationship Id="rId104" Type="http://schemas.openxmlformats.org/officeDocument/2006/relationships/font" Target="fonts/Lora-italic.fntdata"/><Relationship Id="rId109" Type="http://schemas.openxmlformats.org/officeDocument/2006/relationships/font" Target="fonts/JetBrainsMonoLight-boldItalic.fntdata"/><Relationship Id="rId108" Type="http://schemas.openxmlformats.org/officeDocument/2006/relationships/font" Target="fonts/JetBrainsMonoLight-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Lora-bold.fntdata"/><Relationship Id="rId102" Type="http://schemas.openxmlformats.org/officeDocument/2006/relationships/font" Target="fonts/Lora-regular.fntdata"/><Relationship Id="rId101" Type="http://schemas.openxmlformats.org/officeDocument/2006/relationships/font" Target="fonts/Corbel-boldItalic.fntdata"/><Relationship Id="rId100" Type="http://schemas.openxmlformats.org/officeDocument/2006/relationships/font" Target="fonts/Corbel-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120"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Roboto-bold.fntdata"/><Relationship Id="rId94" Type="http://schemas.openxmlformats.org/officeDocument/2006/relationships/font" Target="fonts/Roboto-regular.fntdata"/><Relationship Id="rId97" Type="http://schemas.openxmlformats.org/officeDocument/2006/relationships/font" Target="fonts/Roboto-boldItalic.fntdata"/><Relationship Id="rId96" Type="http://schemas.openxmlformats.org/officeDocument/2006/relationships/font" Target="fonts/Roboto-italic.fntdata"/><Relationship Id="rId11" Type="http://schemas.openxmlformats.org/officeDocument/2006/relationships/slide" Target="slides/slide6.xml"/><Relationship Id="rId99" Type="http://schemas.openxmlformats.org/officeDocument/2006/relationships/font" Target="fonts/Corbel-bold.fntdata"/><Relationship Id="rId10" Type="http://schemas.openxmlformats.org/officeDocument/2006/relationships/slide" Target="slides/slide5.xml"/><Relationship Id="rId98" Type="http://schemas.openxmlformats.org/officeDocument/2006/relationships/font" Target="fonts/Corbel-regular.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Raleway-bold.fntdata"/><Relationship Id="rId90" Type="http://schemas.openxmlformats.org/officeDocument/2006/relationships/font" Target="fonts/Raleway-regular.fntdata"/><Relationship Id="rId93" Type="http://schemas.openxmlformats.org/officeDocument/2006/relationships/font" Target="fonts/Raleway-boldItalic.fntdata"/><Relationship Id="rId92" Type="http://schemas.openxmlformats.org/officeDocument/2006/relationships/font" Target="fonts/Raleway-italic.fntdata"/><Relationship Id="rId118" Type="http://schemas.openxmlformats.org/officeDocument/2006/relationships/font" Target="fonts/OpenSans-italic.fntdata"/><Relationship Id="rId117" Type="http://schemas.openxmlformats.org/officeDocument/2006/relationships/font" Target="fonts/OpenSans-bold.fntdata"/><Relationship Id="rId116" Type="http://schemas.openxmlformats.org/officeDocument/2006/relationships/font" Target="fonts/OpenSans-regular.fntdata"/><Relationship Id="rId115" Type="http://schemas.openxmlformats.org/officeDocument/2006/relationships/font" Target="fonts/JetBrainsMono-boldItalic.fntdata"/><Relationship Id="rId119" Type="http://schemas.openxmlformats.org/officeDocument/2006/relationships/font" Target="fonts/OpenSans-boldItalic.fntdata"/><Relationship Id="rId15" Type="http://schemas.openxmlformats.org/officeDocument/2006/relationships/slide" Target="slides/slide10.xml"/><Relationship Id="rId110" Type="http://schemas.openxmlformats.org/officeDocument/2006/relationships/font" Target="fonts/Oswald-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JetBrainsMono-italic.fntdata"/><Relationship Id="rId18" Type="http://schemas.openxmlformats.org/officeDocument/2006/relationships/slide" Target="slides/slide13.xml"/><Relationship Id="rId113" Type="http://schemas.openxmlformats.org/officeDocument/2006/relationships/font" Target="fonts/JetBrainsMono-bold.fntdata"/><Relationship Id="rId112" Type="http://schemas.openxmlformats.org/officeDocument/2006/relationships/font" Target="fonts/JetBrainsMono-regular.fntdata"/><Relationship Id="rId111" Type="http://schemas.openxmlformats.org/officeDocument/2006/relationships/font" Target="fonts/Oswald-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font" Target="fonts/CabinSketch-regular.fntdata"/><Relationship Id="rId87" Type="http://schemas.openxmlformats.org/officeDocument/2006/relationships/slide" Target="slides/slide82.xml"/><Relationship Id="rId89" Type="http://schemas.openxmlformats.org/officeDocument/2006/relationships/font" Target="fonts/CabinSketch-bold.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roneager.com/wp-content/uploads/2024/06/AI-for-Research-Workbook-Bron-Eager-V20240603.pdf" TargetMode="External"/><Relationship Id="rId3" Type="http://schemas.openxmlformats.org/officeDocument/2006/relationships/hyperlink" Target="https://scite.ai/" TargetMode="External"/><Relationship Id="rId4" Type="http://schemas.openxmlformats.org/officeDocument/2006/relationships/hyperlink" Target="https://docs.google.com/document/d/14XaTVheTtr7XpDWX33OthT4piMHnYUfl/edit"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eepik.com/icon/upload_15423209#fromView=search&amp;page=1&amp;position=0&amp;uuid=6337ce6c-9400-4e68-a14d-ae390dc4c0bc" TargetMode="External"/><Relationship Id="rId3" Type="http://schemas.openxmlformats.org/officeDocument/2006/relationships/hyperlink" Target="https://www.freepik.com/icon/download_8163379#fromView=resource_detail&amp;position=10"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eepik.com/icon/upload_15423209#fromView=search&amp;page=1&amp;position=0&amp;uuid=6337ce6c-9400-4e68-a14d-ae390dc4c0bc" TargetMode="External"/><Relationship Id="rId3" Type="http://schemas.openxmlformats.org/officeDocument/2006/relationships/hyperlink" Target="https://www.freepik.com/icon/download_8163379#fromView=resource_detail&amp;position=10"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eepik.com/icon/upload_15423209#fromView=search&amp;page=1&amp;position=0&amp;uuid=6337ce6c-9400-4e68-a14d-ae390dc4c0bc" TargetMode="External"/><Relationship Id="rId3" Type="http://schemas.openxmlformats.org/officeDocument/2006/relationships/hyperlink" Target="https://www.freepik.com/icon/download_8163379#fromView=resource_detail&amp;position=10"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eepik.com/icon/upload_15423209#fromView=search&amp;page=1&amp;position=0&amp;uuid=6337ce6c-9400-4e68-a14d-ae390dc4c0bc" TargetMode="External"/><Relationship Id="rId3" Type="http://schemas.openxmlformats.org/officeDocument/2006/relationships/hyperlink" Target="https://www.freepik.com/icon/download_8163379#fromView=resource_detail&amp;position=10"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eepik.com/free-vector/hand-drawn-new-idea-concept-with-hand-holding-light-bulb-sketch_9711851.htm#fromView=search&amp;page=3&amp;position=1&amp;uuid=1634f497-2259-42a6-8105-a4deceb77e11&amp;new_detail=true"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pilot.microsoft.com"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pilot.microsoft.com"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upport.jstor.org/hc/en-us/articles/25755478251159-JSTOR-s-Interactive-Research-Tool-Beta" TargetMode="External"/><Relationship Id="rId3" Type="http://schemas.openxmlformats.org/officeDocument/2006/relationships/hyperlink" Target="https://support.jstor.org/hc/en-us/articles/25755478251159-JSTOR-s-Interactive-Research-Tool-Beta" TargetMode="External"/><Relationship Id="rId4" Type="http://schemas.openxmlformats.org/officeDocument/2006/relationships/hyperlink" Target="https://support.jstor.org/hc/en-us/articles/25755478251159-JSTOR-s-Interactive-Research-Tool-Beta" TargetMode="External"/><Relationship Id="rId11" Type="http://schemas.openxmlformats.org/officeDocument/2006/relationships/hyperlink" Target="https://www.about.jstor.org/research-tool/" TargetMode="External"/><Relationship Id="rId10" Type="http://schemas.openxmlformats.org/officeDocument/2006/relationships/hyperlink" Target="https://www.about.jstor.org/research-tool/" TargetMode="External"/><Relationship Id="rId12" Type="http://schemas.openxmlformats.org/officeDocument/2006/relationships/hyperlink" Target="https://www.about.jstor.org/research-tool/" TargetMode="External"/><Relationship Id="rId9" Type="http://schemas.openxmlformats.org/officeDocument/2006/relationships/hyperlink" Target="https://www.about.jstor.org/research-tool/" TargetMode="External"/><Relationship Id="rId5" Type="http://schemas.openxmlformats.org/officeDocument/2006/relationships/hyperlink" Target="https://support.jstor.org/hc/en-us/articles/25755478251159-JSTOR-s-Interactive-Research-Tool-Beta" TargetMode="External"/><Relationship Id="rId6" Type="http://schemas.openxmlformats.org/officeDocument/2006/relationships/hyperlink" Target="https://support.jstor.org/hc/en-us/articles/25755478251159-JSTOR-s-Interactive-Research-Tool-Beta" TargetMode="External"/><Relationship Id="rId7" Type="http://schemas.openxmlformats.org/officeDocument/2006/relationships/hyperlink" Target="https://www.about.jstor.org/research-tool/" TargetMode="External"/><Relationship Id="rId8" Type="http://schemas.openxmlformats.org/officeDocument/2006/relationships/hyperlink" Target="https://www.about.jstor.org/research-tool/"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emanticscholar.org/about/publishers"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uides.lib.umich.edu/zotero" TargetMode="External"/><Relationship Id="rId3" Type="http://schemas.openxmlformats.org/officeDocument/2006/relationships/hyperlink" Target="https://www.litmaps.com/" TargetMode="External"/><Relationship Id="rId4" Type="http://schemas.openxmlformats.org/officeDocument/2006/relationships/hyperlink" Target="https://www.connectedpapers.com/"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nkedin.com/posts/nacke_phd-literaturesearch-ai-activity-7376223311413792768-OZSJ?utm_source=share&amp;utm_medium=member_desktop&amp;rcm=ACoAAABqGrYBTtGP9GGkyU9wUUDVqgt9cz9jvZg"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eepik.com/icon/upload_15844566#fromView=resource_detail&amp;position=8" TargetMode="External"/><Relationship Id="rId3" Type="http://schemas.openxmlformats.org/officeDocument/2006/relationships/hyperlink" Target="https://www.freepik.com/icon/cloud_15844574#fromView=resource_detail&amp;position=6" TargetMode="External"/><Relationship Id="rId4" Type="http://schemas.openxmlformats.org/officeDocument/2006/relationships/hyperlink" Target="https://www.nature.com/articles/d41586-024-01042-3"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eepik.com/icon/upload_15844566#fromView=resource_detail&amp;position=8" TargetMode="External"/><Relationship Id="rId3" Type="http://schemas.openxmlformats.org/officeDocument/2006/relationships/hyperlink" Target="https://www.freepik.com/icon/cloud_15844574#fromView=resource_detail&amp;position=6" TargetMode="External"/><Relationship Id="rId4" Type="http://schemas.openxmlformats.org/officeDocument/2006/relationships/hyperlink" Target="https://www.nature.com/articles/d41586-024-01042-3"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eepik.com/icon/upload_15423209#fromView=search&amp;page=1&amp;position=0&amp;uuid=6337ce6c-9400-4e68-a14d-ae390dc4c0bc" TargetMode="External"/><Relationship Id="rId3" Type="http://schemas.openxmlformats.org/officeDocument/2006/relationships/hyperlink" Target="https://www.freepik.com/icon/download_8163379#fromView=resource_detail&amp;position=10"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40" Type="http://schemas.openxmlformats.org/officeDocument/2006/relationships/hyperlink" Target="https://www.copyright.org.au/browse/book/Australian-Copyright-Council-Artificial-Intelligence-&amp;-Copyright-INFO142" TargetMode="External"/><Relationship Id="rId42" Type="http://schemas.openxmlformats.org/officeDocument/2006/relationships/hyperlink" Target="https://digital.org.au/resources/dtt-adm-ai-issues-paper-submission/" TargetMode="External"/><Relationship Id="rId41" Type="http://schemas.openxmlformats.org/officeDocument/2006/relationships/hyperlink" Target="https://digital.org.au/resources/dtt-adm-ai-issues-paper-submission/" TargetMode="External"/><Relationship Id="rId44" Type="http://schemas.openxmlformats.org/officeDocument/2006/relationships/hyperlink" Target="https://publicationethics.org/cope-position-statements/ai-author" TargetMode="External"/><Relationship Id="rId43" Type="http://schemas.openxmlformats.org/officeDocument/2006/relationships/hyperlink" Target="https://publicationethics.org/cope-position-statements/ai-author" TargetMode="External"/><Relationship Id="rId46" Type="http://schemas.openxmlformats.org/officeDocument/2006/relationships/hyperlink" Target="https://doi.org/10.1136/bmj-2023-077192" TargetMode="External"/><Relationship Id="rId45" Type="http://schemas.openxmlformats.org/officeDocument/2006/relationships/hyperlink" Target="https://doi.org/10.1136/bmj-2023-077192" TargetMode="External"/><Relationship Id="rId1" Type="http://schemas.openxmlformats.org/officeDocument/2006/relationships/notesMaster" Target="../notesMasters/notesMaster1.xml"/><Relationship Id="rId2" Type="http://schemas.openxmlformats.org/officeDocument/2006/relationships/hyperlink" Target="https://opentext.csu.edu.au/usingai/chapter/presenting-outputs-created-with-a" TargetMode="External"/><Relationship Id="rId3" Type="http://schemas.openxmlformats.org/officeDocument/2006/relationships/hyperlink" Target="https://opentext.csu.edu.au/usingai/chapter/presenting-outputs-created-with-a" TargetMode="External"/><Relationship Id="rId4" Type="http://schemas.openxmlformats.org/officeDocument/2006/relationships/hyperlink" Target="https://opentext.csu.edu.au/usingai/chapter/publication-and-ai/##usingaiinpublication" TargetMode="External"/><Relationship Id="rId9" Type="http://schemas.openxmlformats.org/officeDocument/2006/relationships/hyperlink" Target="https://opentext.csu.edu.au/usingai/chapter/publication-and-ai/##Kaebnicketal2023" TargetMode="External"/><Relationship Id="rId48" Type="http://schemas.openxmlformats.org/officeDocument/2006/relationships/hyperlink" Target="https://doi-org.ezproxy.csu.edu.au/10.1080/21507740.2023.2257181" TargetMode="External"/><Relationship Id="rId47" Type="http://schemas.openxmlformats.org/officeDocument/2006/relationships/hyperlink" Target="https://doi-org.ezproxy.csu.edu.au/10.1080/21507740.2023.2257181" TargetMode="External"/><Relationship Id="rId49" Type="http://schemas.openxmlformats.org/officeDocument/2006/relationships/hyperlink" Target="https://www.wipo.int/meetings/en/details.jsp?meeting_id=78188" TargetMode="External"/><Relationship Id="rId5" Type="http://schemas.openxmlformats.org/officeDocument/2006/relationships/hyperlink" Target="https://opentext.csu.edu.au/usingai/chapter/publication-and-ai/##usingaiingrantapplications" TargetMode="External"/><Relationship Id="rId6" Type="http://schemas.openxmlformats.org/officeDocument/2006/relationships/hyperlink" Target="https://opentext.csu.edu.au/usingai/chapter/publication-and-ai/##copyright" TargetMode="External"/><Relationship Id="rId7" Type="http://schemas.openxmlformats.org/officeDocument/2006/relationships/hyperlink" Target="https://opentext.csu.edu.au/usingai/chapter/publication-and-ai/#Ganjavietal2024" TargetMode="External"/><Relationship Id="rId8" Type="http://schemas.openxmlformats.org/officeDocument/2006/relationships/hyperlink" Target="https://opentext.csu.edu.au/usingai/chapter/publication-and-ai/##COPE2023" TargetMode="External"/><Relationship Id="rId31" Type="http://schemas.openxmlformats.org/officeDocument/2006/relationships/hyperlink" Target="https://www.arc.gov.au/sites/default/files/2023-07/Policy%20on%20Use%20of%20Generative%20Artificial%20Intelligence%20in%20the%20ARCs%20grants%20programs%202023.pdf" TargetMode="External"/><Relationship Id="rId30" Type="http://schemas.openxmlformats.org/officeDocument/2006/relationships/hyperlink" Target="https://www.arc.gov.au/sites/default/files/2023-07/Policy%20on%20Use%20of%20Generative%20Artificial%20Intelligence%20in%20the%20ARCs%20grants%20programs%202023.pdf" TargetMode="External"/><Relationship Id="rId33" Type="http://schemas.openxmlformats.org/officeDocument/2006/relationships/hyperlink" Target="https://www.arc.gov.au/about-arc/program-policies/research-integrity/australian-code-responsible-conduct-research-2018" TargetMode="External"/><Relationship Id="rId32" Type="http://schemas.openxmlformats.org/officeDocument/2006/relationships/hyperlink" Target="https://www.arc.gov.au/sites/default/files/2023-07/Policy%20on%20Use%20of%20Generative%20Artificial%20Intelligence%20in%20the%20ARCs%20grants%20programs%202023.pdf" TargetMode="External"/><Relationship Id="rId35" Type="http://schemas.openxmlformats.org/officeDocument/2006/relationships/hyperlink" Target="https://opentext.csu.edu.au/usingai/chapter/publication-and-ai/##AustralianDigitalAlliance2022" TargetMode="External"/><Relationship Id="rId34" Type="http://schemas.openxmlformats.org/officeDocument/2006/relationships/hyperlink" Target="https://www.arc.gov.au/about-arc/program-policies/research-integrity/australian-code-responsible-conduct-research-2018" TargetMode="External"/><Relationship Id="rId37" Type="http://schemas.openxmlformats.org/officeDocument/2006/relationships/hyperlink" Target="https://opentext.csu.edu.au/usingai/chapter/publication-and-ai/##WIPO2024" TargetMode="External"/><Relationship Id="rId36" Type="http://schemas.openxmlformats.org/officeDocument/2006/relationships/hyperlink" Target="https://opentext.csu.edu.au/usingai/chapter/publication-and-ai/##WIPO2024" TargetMode="External"/><Relationship Id="rId39" Type="http://schemas.openxmlformats.org/officeDocument/2006/relationships/hyperlink" Target="https://www.copyright.org.au/browse/book/Australian-Copyright-Council-Artificial-Intelligence-&amp;-Copyright-INFO142" TargetMode="External"/><Relationship Id="rId38" Type="http://schemas.openxmlformats.org/officeDocument/2006/relationships/hyperlink" Target="https://opentext.csu.edu.au/usingai/chapter/publication-and-ai/##AustralianCopyrightCouncil2023" TargetMode="External"/><Relationship Id="rId20" Type="http://schemas.openxmlformats.org/officeDocument/2006/relationships/hyperlink" Target="https://doi.org/10.1016/j.tics.2023.12.002" TargetMode="External"/><Relationship Id="rId22" Type="http://schemas.openxmlformats.org/officeDocument/2006/relationships/hyperlink" Target="https://doi.org/10.53880/2744-2373.2023.4.37" TargetMode="External"/><Relationship Id="rId21" Type="http://schemas.openxmlformats.org/officeDocument/2006/relationships/hyperlink" Target="https://doi.org/10.1016/j.tics.2023.12.002" TargetMode="External"/><Relationship Id="rId24" Type="http://schemas.openxmlformats.org/officeDocument/2006/relationships/hyperlink" Target="https://www.perplexity.ai/" TargetMode="External"/><Relationship Id="rId23" Type="http://schemas.openxmlformats.org/officeDocument/2006/relationships/hyperlink" Target="https://doi.org/10.53880/2744-2373.2023.4.37" TargetMode="External"/><Relationship Id="rId26" Type="http://schemas.openxmlformats.org/officeDocument/2006/relationships/hyperlink" Target="https://www.nhmrc.gov.au/about-us/resources/policy-use-generative-artificial-intelligence" TargetMode="External"/><Relationship Id="rId25" Type="http://schemas.openxmlformats.org/officeDocument/2006/relationships/hyperlink" Target="https://www.perplexity.ai/" TargetMode="External"/><Relationship Id="rId28" Type="http://schemas.openxmlformats.org/officeDocument/2006/relationships/hyperlink" Target="https://www.nhmrc.gov.au/about-us/resources/policy-use-generative-artificial-intelligence" TargetMode="External"/><Relationship Id="rId27" Type="http://schemas.openxmlformats.org/officeDocument/2006/relationships/hyperlink" Target="https://www.nhmrc.gov.au/about-us/resources/policy-use-generative-artificial-intelligence" TargetMode="External"/><Relationship Id="rId29" Type="http://schemas.openxmlformats.org/officeDocument/2006/relationships/hyperlink" Target="https://www.nhmrc.gov.au/about-us/resources/policy-use-generative-artificial-intelligence" TargetMode="External"/><Relationship Id="rId51" Type="http://schemas.openxmlformats.org/officeDocument/2006/relationships/hyperlink" Target="https://chat.openai.com/" TargetMode="External"/><Relationship Id="rId50" Type="http://schemas.openxmlformats.org/officeDocument/2006/relationships/hyperlink" Target="https://www.wipo.int/meetings/en/details.jsp?meeting_id=78188" TargetMode="External"/><Relationship Id="rId11" Type="http://schemas.openxmlformats.org/officeDocument/2006/relationships/hyperlink" Target="https://www.cambridge.org/core/services/authors/publishing-ethics/research-publishing-ethics-guidelines-for-journals/authorship-and-contributorship#ai-contributions-to-research-content" TargetMode="External"/><Relationship Id="rId10" Type="http://schemas.openxmlformats.org/officeDocument/2006/relationships/hyperlink" Target="https://opentext.csu.edu.au/usingai/chapter/publication-and-ai/#Ganjavietal2024" TargetMode="External"/><Relationship Id="rId13" Type="http://schemas.openxmlformats.org/officeDocument/2006/relationships/hyperlink" Target="https://www.emeraldgrouppublishing.com/publish-with-us/ethics-integrity/research-publishing-ethics#authorship" TargetMode="External"/><Relationship Id="rId12" Type="http://schemas.openxmlformats.org/officeDocument/2006/relationships/hyperlink" Target="https://www.elsevier.com/about/policies/publishing-ethics" TargetMode="External"/><Relationship Id="rId15" Type="http://schemas.openxmlformats.org/officeDocument/2006/relationships/hyperlink" Target="https://us.sagepub.com/en-us/nam/chatgpt-and-generative-ai" TargetMode="External"/><Relationship Id="rId14" Type="http://schemas.openxmlformats.org/officeDocument/2006/relationships/hyperlink" Target="https://journals.ieeeauthorcenter.ieee.org/become-an-ieee-journal-author/publishing-ethics/guidelines-and-policies/submission-and-peer-review-policies/#ai-generated-text" TargetMode="External"/><Relationship Id="rId17" Type="http://schemas.openxmlformats.org/officeDocument/2006/relationships/hyperlink" Target="https://www.nature.com/nature-portfolio/editorial-policies/authorship" TargetMode="External"/><Relationship Id="rId16" Type="http://schemas.openxmlformats.org/officeDocument/2006/relationships/hyperlink" Target="https://www.science.org/content/page/science-journals-editorial-policies" TargetMode="External"/><Relationship Id="rId19" Type="http://schemas.openxmlformats.org/officeDocument/2006/relationships/hyperlink" Target="https://authorservices.wiley.com/ethics-guidelines/index.html" TargetMode="External"/><Relationship Id="rId18" Type="http://schemas.openxmlformats.org/officeDocument/2006/relationships/hyperlink" Target="https://authorservices.taylorandfrancis.com/editorial-policies/defining-authorship-research-paper/" TargetMode="External"/></Relationships>
</file>

<file path=ppt/notesSlides/_rels/notesSlide65.xml.rels><?xml version="1.0" encoding="UTF-8" standalone="yes"?><Relationships xmlns="http://schemas.openxmlformats.org/package/2006/relationships"><Relationship Id="rId40" Type="http://schemas.openxmlformats.org/officeDocument/2006/relationships/hyperlink" Target="https://www.copyright.org.au/browse/book/Australian-Copyright-Council-Artificial-Intelligence-&amp;-Copyright-INFO142" TargetMode="External"/><Relationship Id="rId42" Type="http://schemas.openxmlformats.org/officeDocument/2006/relationships/hyperlink" Target="https://digital.org.au/resources/dtt-adm-ai-issues-paper-submission/" TargetMode="External"/><Relationship Id="rId41" Type="http://schemas.openxmlformats.org/officeDocument/2006/relationships/hyperlink" Target="https://digital.org.au/resources/dtt-adm-ai-issues-paper-submission/" TargetMode="External"/><Relationship Id="rId44" Type="http://schemas.openxmlformats.org/officeDocument/2006/relationships/hyperlink" Target="https://publicationethics.org/cope-position-statements/ai-author" TargetMode="External"/><Relationship Id="rId43" Type="http://schemas.openxmlformats.org/officeDocument/2006/relationships/hyperlink" Target="https://publicationethics.org/cope-position-statements/ai-author" TargetMode="External"/><Relationship Id="rId46" Type="http://schemas.openxmlformats.org/officeDocument/2006/relationships/hyperlink" Target="https://doi.org/10.1136/bmj-2023-077192" TargetMode="External"/><Relationship Id="rId45" Type="http://schemas.openxmlformats.org/officeDocument/2006/relationships/hyperlink" Target="https://doi.org/10.1136/bmj-2023-077192" TargetMode="External"/><Relationship Id="rId1" Type="http://schemas.openxmlformats.org/officeDocument/2006/relationships/notesMaster" Target="../notesMasters/notesMaster1.xml"/><Relationship Id="rId2" Type="http://schemas.openxmlformats.org/officeDocument/2006/relationships/hyperlink" Target="https://opentext.csu.edu.au/usingai/chapter/presenting-outputs-created-with-a" TargetMode="External"/><Relationship Id="rId3" Type="http://schemas.openxmlformats.org/officeDocument/2006/relationships/hyperlink" Target="https://opentext.csu.edu.au/usingai/chapter/presenting-outputs-created-with-a" TargetMode="External"/><Relationship Id="rId4" Type="http://schemas.openxmlformats.org/officeDocument/2006/relationships/hyperlink" Target="https://opentext.csu.edu.au/usingai/chapter/publication-and-ai/##usingaiinpublication" TargetMode="External"/><Relationship Id="rId9" Type="http://schemas.openxmlformats.org/officeDocument/2006/relationships/hyperlink" Target="https://opentext.csu.edu.au/usingai/chapter/publication-and-ai/##Kaebnicketal2023" TargetMode="External"/><Relationship Id="rId48" Type="http://schemas.openxmlformats.org/officeDocument/2006/relationships/hyperlink" Target="https://doi-org.ezproxy.csu.edu.au/10.1080/21507740.2023.2257181" TargetMode="External"/><Relationship Id="rId47" Type="http://schemas.openxmlformats.org/officeDocument/2006/relationships/hyperlink" Target="https://doi-org.ezproxy.csu.edu.au/10.1080/21507740.2023.2257181" TargetMode="External"/><Relationship Id="rId49" Type="http://schemas.openxmlformats.org/officeDocument/2006/relationships/hyperlink" Target="https://www.wipo.int/meetings/en/details.jsp?meeting_id=78188" TargetMode="External"/><Relationship Id="rId5" Type="http://schemas.openxmlformats.org/officeDocument/2006/relationships/hyperlink" Target="https://opentext.csu.edu.au/usingai/chapter/publication-and-ai/##usingaiingrantapplications" TargetMode="External"/><Relationship Id="rId6" Type="http://schemas.openxmlformats.org/officeDocument/2006/relationships/hyperlink" Target="https://opentext.csu.edu.au/usingai/chapter/publication-and-ai/##copyright" TargetMode="External"/><Relationship Id="rId7" Type="http://schemas.openxmlformats.org/officeDocument/2006/relationships/hyperlink" Target="https://opentext.csu.edu.au/usingai/chapter/publication-and-ai/#Ganjavietal2024" TargetMode="External"/><Relationship Id="rId8" Type="http://schemas.openxmlformats.org/officeDocument/2006/relationships/hyperlink" Target="https://opentext.csu.edu.au/usingai/chapter/publication-and-ai/##COPE2023" TargetMode="External"/><Relationship Id="rId31" Type="http://schemas.openxmlformats.org/officeDocument/2006/relationships/hyperlink" Target="https://www.arc.gov.au/sites/default/files/2023-07/Policy%20on%20Use%20of%20Generative%20Artificial%20Intelligence%20in%20the%20ARCs%20grants%20programs%202023.pdf" TargetMode="External"/><Relationship Id="rId30" Type="http://schemas.openxmlformats.org/officeDocument/2006/relationships/hyperlink" Target="https://www.arc.gov.au/sites/default/files/2023-07/Policy%20on%20Use%20of%20Generative%20Artificial%20Intelligence%20in%20the%20ARCs%20grants%20programs%202023.pdf" TargetMode="External"/><Relationship Id="rId33" Type="http://schemas.openxmlformats.org/officeDocument/2006/relationships/hyperlink" Target="https://www.arc.gov.au/about-arc/program-policies/research-integrity/australian-code-responsible-conduct-research-2018" TargetMode="External"/><Relationship Id="rId32" Type="http://schemas.openxmlformats.org/officeDocument/2006/relationships/hyperlink" Target="https://www.arc.gov.au/sites/default/files/2023-07/Policy%20on%20Use%20of%20Generative%20Artificial%20Intelligence%20in%20the%20ARCs%20grants%20programs%202023.pdf" TargetMode="External"/><Relationship Id="rId35" Type="http://schemas.openxmlformats.org/officeDocument/2006/relationships/hyperlink" Target="https://opentext.csu.edu.au/usingai/chapter/publication-and-ai/##AustralianDigitalAlliance2022" TargetMode="External"/><Relationship Id="rId34" Type="http://schemas.openxmlformats.org/officeDocument/2006/relationships/hyperlink" Target="https://www.arc.gov.au/about-arc/program-policies/research-integrity/australian-code-responsible-conduct-research-2018" TargetMode="External"/><Relationship Id="rId37" Type="http://schemas.openxmlformats.org/officeDocument/2006/relationships/hyperlink" Target="https://opentext.csu.edu.au/usingai/chapter/publication-and-ai/##WIPO2024" TargetMode="External"/><Relationship Id="rId36" Type="http://schemas.openxmlformats.org/officeDocument/2006/relationships/hyperlink" Target="https://opentext.csu.edu.au/usingai/chapter/publication-and-ai/##WIPO2024" TargetMode="External"/><Relationship Id="rId39" Type="http://schemas.openxmlformats.org/officeDocument/2006/relationships/hyperlink" Target="https://www.copyright.org.au/browse/book/Australian-Copyright-Council-Artificial-Intelligence-&amp;-Copyright-INFO142" TargetMode="External"/><Relationship Id="rId38" Type="http://schemas.openxmlformats.org/officeDocument/2006/relationships/hyperlink" Target="https://opentext.csu.edu.au/usingai/chapter/publication-and-ai/##AustralianCopyrightCouncil2023" TargetMode="External"/><Relationship Id="rId20" Type="http://schemas.openxmlformats.org/officeDocument/2006/relationships/hyperlink" Target="https://doi.org/10.1016/j.tics.2023.12.002" TargetMode="External"/><Relationship Id="rId22" Type="http://schemas.openxmlformats.org/officeDocument/2006/relationships/hyperlink" Target="https://doi.org/10.53880/2744-2373.2023.4.37" TargetMode="External"/><Relationship Id="rId21" Type="http://schemas.openxmlformats.org/officeDocument/2006/relationships/hyperlink" Target="https://doi.org/10.1016/j.tics.2023.12.002" TargetMode="External"/><Relationship Id="rId24" Type="http://schemas.openxmlformats.org/officeDocument/2006/relationships/hyperlink" Target="https://www.perplexity.ai/" TargetMode="External"/><Relationship Id="rId23" Type="http://schemas.openxmlformats.org/officeDocument/2006/relationships/hyperlink" Target="https://doi.org/10.53880/2744-2373.2023.4.37" TargetMode="External"/><Relationship Id="rId26" Type="http://schemas.openxmlformats.org/officeDocument/2006/relationships/hyperlink" Target="https://www.nhmrc.gov.au/about-us/resources/policy-use-generative-artificial-intelligence" TargetMode="External"/><Relationship Id="rId25" Type="http://schemas.openxmlformats.org/officeDocument/2006/relationships/hyperlink" Target="https://www.perplexity.ai/" TargetMode="External"/><Relationship Id="rId28" Type="http://schemas.openxmlformats.org/officeDocument/2006/relationships/hyperlink" Target="https://www.nhmrc.gov.au/about-us/resources/policy-use-generative-artificial-intelligence" TargetMode="External"/><Relationship Id="rId27" Type="http://schemas.openxmlformats.org/officeDocument/2006/relationships/hyperlink" Target="https://www.nhmrc.gov.au/about-us/resources/policy-use-generative-artificial-intelligence" TargetMode="External"/><Relationship Id="rId29" Type="http://schemas.openxmlformats.org/officeDocument/2006/relationships/hyperlink" Target="https://www.nhmrc.gov.au/about-us/resources/policy-use-generative-artificial-intelligence" TargetMode="External"/><Relationship Id="rId51" Type="http://schemas.openxmlformats.org/officeDocument/2006/relationships/hyperlink" Target="https://chat.openai.com/" TargetMode="External"/><Relationship Id="rId50" Type="http://schemas.openxmlformats.org/officeDocument/2006/relationships/hyperlink" Target="https://www.wipo.int/meetings/en/details.jsp?meeting_id=78188" TargetMode="External"/><Relationship Id="rId11" Type="http://schemas.openxmlformats.org/officeDocument/2006/relationships/hyperlink" Target="https://www.cambridge.org/core/services/authors/publishing-ethics/research-publishing-ethics-guidelines-for-journals/authorship-and-contributorship#ai-contributions-to-research-content" TargetMode="External"/><Relationship Id="rId10" Type="http://schemas.openxmlformats.org/officeDocument/2006/relationships/hyperlink" Target="https://opentext.csu.edu.au/usingai/chapter/publication-and-ai/#Ganjavietal2024" TargetMode="External"/><Relationship Id="rId13" Type="http://schemas.openxmlformats.org/officeDocument/2006/relationships/hyperlink" Target="https://www.emeraldgrouppublishing.com/publish-with-us/ethics-integrity/research-publishing-ethics#authorship" TargetMode="External"/><Relationship Id="rId12" Type="http://schemas.openxmlformats.org/officeDocument/2006/relationships/hyperlink" Target="https://www.elsevier.com/about/policies/publishing-ethics" TargetMode="External"/><Relationship Id="rId15" Type="http://schemas.openxmlformats.org/officeDocument/2006/relationships/hyperlink" Target="https://us.sagepub.com/en-us/nam/chatgpt-and-generative-ai" TargetMode="External"/><Relationship Id="rId14" Type="http://schemas.openxmlformats.org/officeDocument/2006/relationships/hyperlink" Target="https://journals.ieeeauthorcenter.ieee.org/become-an-ieee-journal-author/publishing-ethics/guidelines-and-policies/submission-and-peer-review-policies/#ai-generated-text" TargetMode="External"/><Relationship Id="rId17" Type="http://schemas.openxmlformats.org/officeDocument/2006/relationships/hyperlink" Target="https://www.nature.com/nature-portfolio/editorial-policies/authorship" TargetMode="External"/><Relationship Id="rId16" Type="http://schemas.openxmlformats.org/officeDocument/2006/relationships/hyperlink" Target="https://www.science.org/content/page/science-journals-editorial-policies" TargetMode="External"/><Relationship Id="rId19" Type="http://schemas.openxmlformats.org/officeDocument/2006/relationships/hyperlink" Target="https://authorservices.wiley.com/ethics-guidelines/index.html" TargetMode="External"/><Relationship Id="rId18" Type="http://schemas.openxmlformats.org/officeDocument/2006/relationships/hyperlink" Target="https://authorservices.taylorandfrancis.com/editorial-policies/defining-authorship-research-paper/"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ambridge.org/core/services/authors/publishing-ethics/research-publishing-ethics-guidelines-for-journals/authorship-and-contributorship#ai-contributions-to-research-content" TargetMode="External"/><Relationship Id="rId3" Type="http://schemas.openxmlformats.org/officeDocument/2006/relationships/hyperlink" Target="https://www.elsevier.com/about/policies/publishing-ethics" TargetMode="External"/><Relationship Id="rId4" Type="http://schemas.openxmlformats.org/officeDocument/2006/relationships/hyperlink" Target="https://www.emeraldgrouppublishing.com/publish-with-us/ethics-integrity/research-publishing-ethics#authorship" TargetMode="External"/><Relationship Id="rId9" Type="http://schemas.openxmlformats.org/officeDocument/2006/relationships/hyperlink" Target="https://authorservices.taylorandfrancis.com/editorial-policies/defining-authorship-research-paper/" TargetMode="External"/><Relationship Id="rId5" Type="http://schemas.openxmlformats.org/officeDocument/2006/relationships/hyperlink" Target="https://journals.ieeeauthorcenter.ieee.org/become-an-ieee-journal-author/publishing-ethics/guidelines-and-policies/submission-and-peer-review-policies/#ai-generated-text" TargetMode="External"/><Relationship Id="rId6" Type="http://schemas.openxmlformats.org/officeDocument/2006/relationships/hyperlink" Target="https://us.sagepub.com/en-us/nam/chatgpt-and-generative-ai" TargetMode="External"/><Relationship Id="rId7" Type="http://schemas.openxmlformats.org/officeDocument/2006/relationships/hyperlink" Target="https://www.science.org/content/page/science-journals-editorial-policies" TargetMode="External"/><Relationship Id="rId8" Type="http://schemas.openxmlformats.org/officeDocument/2006/relationships/hyperlink" Target="https://www.nature.com/nature-portfolio/editorial-policies/authorship" TargetMode="External"/><Relationship Id="rId10" Type="http://schemas.openxmlformats.org/officeDocument/2006/relationships/hyperlink" Target="https://authorservices.wiley.com/ethics-guidelines/index.html"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https://broneager.com/wp-content/uploads/2024/06/AI-for-Research-Workbook-Bron-Eager-V20240603.pdf</a:t>
            </a:r>
            <a:endParaRPr/>
          </a:p>
          <a:p>
            <a:pPr indent="0" lvl="0" marL="0" rtl="0" algn="l">
              <a:lnSpc>
                <a:spcPct val="100000"/>
              </a:lnSpc>
              <a:spcBef>
                <a:spcPts val="0"/>
              </a:spcBef>
              <a:spcAft>
                <a:spcPts val="0"/>
              </a:spcAft>
              <a:buSzPts val="1100"/>
              <a:buNone/>
            </a:pPr>
            <a:r>
              <a:rPr lang="en" u="sng">
                <a:solidFill>
                  <a:schemeClr val="hlink"/>
                </a:solidFill>
                <a:hlinkClick r:id="rId3"/>
              </a:rPr>
              <a:t>https://scite.ai/</a:t>
            </a:r>
            <a:r>
              <a:rPr lang="en"/>
              <a:t> </a:t>
            </a:r>
            <a:endParaRPr/>
          </a:p>
          <a:p>
            <a:pPr indent="0" lvl="0" marL="0" rtl="0" algn="l">
              <a:lnSpc>
                <a:spcPct val="100000"/>
              </a:lnSpc>
              <a:spcBef>
                <a:spcPts val="0"/>
              </a:spcBef>
              <a:spcAft>
                <a:spcPts val="0"/>
              </a:spcAft>
              <a:buSzPts val="1100"/>
              <a:buNone/>
            </a:pPr>
            <a:r>
              <a:rPr lang="en"/>
              <a:t>Cape town: </a:t>
            </a:r>
            <a:r>
              <a:rPr lang="en" u="sng">
                <a:solidFill>
                  <a:schemeClr val="hlink"/>
                </a:solidFill>
                <a:hlinkClick r:id="rId4"/>
              </a:rPr>
              <a:t>https://docs.google.com/document/d/14XaTVheTtr7XpDWX33OthT4piMHnYUfl/edit</a:t>
            </a:r>
            <a:r>
              <a:rPr lang="en"/>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Conversation starters:</a:t>
            </a:r>
            <a:br>
              <a:rPr b="1" lang="en">
                <a:solidFill>
                  <a:schemeClr val="dk1"/>
                </a:solidFill>
              </a:rPr>
            </a:br>
            <a:br>
              <a:rPr b="1" lang="en">
                <a:solidFill>
                  <a:schemeClr val="dk1"/>
                </a:solidFill>
              </a:rPr>
            </a:br>
            <a:r>
              <a:rPr b="1" lang="en">
                <a:solidFill>
                  <a:schemeClr val="dk1"/>
                </a:solidFill>
              </a:rPr>
              <a:t>AI in Writing</a:t>
            </a:r>
            <a:r>
              <a:rPr lang="en">
                <a:solidFill>
                  <a:schemeClr val="dk1"/>
                </a:solidFill>
              </a:rPr>
              <a:t>: </a:t>
            </a:r>
            <a:r>
              <a:rPr i="1" lang="en">
                <a:solidFill>
                  <a:schemeClr val="dk1"/>
                </a:solidFill>
              </a:rPr>
              <a:t>Do you think AI tools should assist researchers in writing scientific articles, or does this risk undermining originality and critical thinking?</a:t>
            </a:r>
            <a:br>
              <a:rPr i="1" lang="en">
                <a:solidFill>
                  <a:schemeClr val="dk1"/>
                </a:solidFill>
              </a:rPr>
            </a:br>
            <a:endParaRPr i="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rPr>
              <a:t>Ethics and Integrity</a:t>
            </a:r>
            <a:r>
              <a:rPr lang="en">
                <a:solidFill>
                  <a:schemeClr val="dk1"/>
                </a:solidFill>
              </a:rPr>
              <a:t>: </a:t>
            </a:r>
            <a:r>
              <a:rPr i="1" lang="en">
                <a:solidFill>
                  <a:schemeClr val="dk1"/>
                </a:solidFill>
              </a:rPr>
              <a:t>What ethical challenges do you foresee when using AI-generated text in research papers, and how should journals or institutions address them?</a:t>
            </a:r>
            <a:endParaRPr i="1">
              <a:solidFill>
                <a:schemeClr val="dk1"/>
              </a:solidFill>
            </a:endParaRPr>
          </a:p>
          <a:p>
            <a:pPr indent="0" lvl="0" marL="0" rtl="0" algn="l">
              <a:lnSpc>
                <a:spcPct val="100000"/>
              </a:lnSpc>
              <a:spcBef>
                <a:spcPts val="0"/>
              </a:spcBef>
              <a:spcAft>
                <a:spcPts val="0"/>
              </a:spcAft>
              <a:buSzPts val="1100"/>
              <a:buNone/>
            </a:pPr>
            <a:br>
              <a:rPr lang="en"/>
            </a:br>
            <a:r>
              <a:rPr b="1" lang="en">
                <a:solidFill>
                  <a:schemeClr val="dk1"/>
                </a:solidFill>
              </a:rPr>
              <a:t>Detection and Reliability</a:t>
            </a:r>
            <a:r>
              <a:rPr lang="en">
                <a:solidFill>
                  <a:schemeClr val="dk1"/>
                </a:solidFill>
              </a:rPr>
              <a:t>: </a:t>
            </a:r>
            <a:r>
              <a:rPr i="1" lang="en">
                <a:solidFill>
                  <a:schemeClr val="dk1"/>
                </a:solidFill>
              </a:rPr>
              <a:t>Current AI text detectors often misclassify content. How much confidence do you have in these tools, and what would make them more trustworthy?</a:t>
            </a:r>
            <a:br>
              <a:rPr i="1" lang="en">
                <a:solidFill>
                  <a:schemeClr val="dk1"/>
                </a:solidFill>
              </a:rPr>
            </a:br>
            <a:endParaRPr i="1">
              <a:solidFill>
                <a:schemeClr val="dk1"/>
              </a:solidFill>
            </a:endParaRPr>
          </a:p>
          <a:p>
            <a:pPr indent="0" lvl="0" marL="0" rtl="0" algn="l">
              <a:lnSpc>
                <a:spcPct val="100000"/>
              </a:lnSpc>
              <a:spcBef>
                <a:spcPts val="0"/>
              </a:spcBef>
              <a:spcAft>
                <a:spcPts val="0"/>
              </a:spcAft>
              <a:buSzPts val="1100"/>
              <a:buNone/>
            </a:pPr>
            <a:r>
              <a:rPr b="1" lang="en">
                <a:solidFill>
                  <a:schemeClr val="dk1"/>
                </a:solidFill>
              </a:rPr>
              <a:t>Governance and Citation Bias</a:t>
            </a:r>
            <a:r>
              <a:rPr lang="en">
                <a:solidFill>
                  <a:schemeClr val="dk1"/>
                </a:solidFill>
              </a:rPr>
              <a:t>: </a:t>
            </a:r>
            <a:r>
              <a:rPr i="1" lang="en">
                <a:solidFill>
                  <a:schemeClr val="dk1"/>
                </a:solidFill>
              </a:rPr>
              <a:t>If AI tools start influencing which papers are cited more often, how could this bias affect the governance of scientific knowledge?</a:t>
            </a:r>
            <a:br>
              <a:rPr lang="en"/>
            </a:br>
            <a:br>
              <a:rPr lang="en"/>
            </a:br>
            <a:r>
              <a:rPr lang="en" u="sng">
                <a:solidFill>
                  <a:schemeClr val="hlink"/>
                </a:solidFill>
                <a:hlinkClick r:id="rId2"/>
              </a:rPr>
              <a:t>https://www.freepik.com/icon/upload_15423209#fromView=search&amp;page=1&amp;position=0&amp;uuid=6337ce6c-9400-4e68-a14d-ae390dc4c0bc</a:t>
            </a:r>
            <a:endParaRPr/>
          </a:p>
          <a:p>
            <a:pPr indent="0" lvl="0" marL="0" rtl="0" algn="l">
              <a:lnSpc>
                <a:spcPct val="100000"/>
              </a:lnSpc>
              <a:spcBef>
                <a:spcPts val="0"/>
              </a:spcBef>
              <a:spcAft>
                <a:spcPts val="0"/>
              </a:spcAft>
              <a:buSzPts val="1100"/>
              <a:buNone/>
            </a:pPr>
            <a:r>
              <a:rPr lang="en" u="sng">
                <a:solidFill>
                  <a:schemeClr val="hlink"/>
                </a:solidFill>
                <a:hlinkClick r:id="rId3"/>
              </a:rPr>
              <a:t>https://www.freepik.com/icon/download_8163379#fromView=resource_detail&amp;position=10</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8904fd917d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8904fd917d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https://www.freepik.com/icon/upload_15423209#fromView=search&amp;page=1&amp;position=0&amp;uuid=6337ce6c-9400-4e68-a14d-ae390dc4c0bc</a:t>
            </a:r>
            <a:endParaRPr/>
          </a:p>
          <a:p>
            <a:pPr indent="0" lvl="0" marL="0" rtl="0" algn="l">
              <a:lnSpc>
                <a:spcPct val="100000"/>
              </a:lnSpc>
              <a:spcBef>
                <a:spcPts val="0"/>
              </a:spcBef>
              <a:spcAft>
                <a:spcPts val="0"/>
              </a:spcAft>
              <a:buSzPts val="1100"/>
              <a:buNone/>
            </a:pPr>
            <a:r>
              <a:rPr lang="en" u="sng">
                <a:solidFill>
                  <a:schemeClr val="hlink"/>
                </a:solidFill>
                <a:hlinkClick r:id="rId3"/>
              </a:rPr>
              <a:t>https://www.freepik.com/icon/download_8163379#fromView=resource_detail&amp;position=10</a:t>
            </a:r>
            <a:r>
              <a:rPr lang="en"/>
              <a:t> </a:t>
            </a:r>
            <a:br>
              <a:rPr lang="en"/>
            </a:br>
            <a:endParaRPr/>
          </a:p>
          <a:p>
            <a:pPr indent="0" lvl="0" marL="0" rtl="0" algn="l">
              <a:lnSpc>
                <a:spcPct val="100000"/>
              </a:lnSpc>
              <a:spcBef>
                <a:spcPts val="0"/>
              </a:spcBef>
              <a:spcAft>
                <a:spcPts val="0"/>
              </a:spcAft>
              <a:buSzPts val="1100"/>
              <a:buNone/>
            </a:pPr>
            <a:r>
              <a:rPr lang="en"/>
              <a:t>We’ve just identified tasks where AI can help, but also where you are not sure if you want help from AI. Now let’s make that more concrete by placing these tasks on a spectrum of human vs. machine involvement.</a:t>
            </a:r>
            <a:endParaRPr/>
          </a:p>
          <a:p>
            <a:pPr indent="0" lvl="0" marL="0" rtl="0" algn="l">
              <a:lnSpc>
                <a:spcPct val="100000"/>
              </a:lnSpc>
              <a:spcBef>
                <a:spcPts val="0"/>
              </a:spcBef>
              <a:spcAft>
                <a:spcPts val="0"/>
              </a:spcAft>
              <a:buSzPts val="1100"/>
              <a:buNone/>
            </a:pPr>
            <a:br>
              <a:rPr lang="en"/>
            </a:br>
            <a:r>
              <a:rPr lang="en"/>
              <a:t>The dimensions of AI in the writing process encompass various roles and contributions, each enhancing the writing experience in unique ways. </a:t>
            </a:r>
            <a:br>
              <a:rPr lang="en"/>
            </a:br>
            <a:br>
              <a:rPr lang="en"/>
            </a:br>
            <a:r>
              <a:rPr lang="en"/>
              <a:t>Human writing remains at the core where you might focus on individual perspective pieces, cultural analysis, subject-specific evaluation, and philosophical discussion. These elements highlight the irreplaceable human touch in crafting nuanced and deeply personal content.</a:t>
            </a:r>
            <a:endParaRPr/>
          </a:p>
          <a:p>
            <a:pPr indent="0" lvl="0" marL="0" rtl="0" algn="l">
              <a:lnSpc>
                <a:spcPct val="115000"/>
              </a:lnSpc>
              <a:spcBef>
                <a:spcPts val="1200"/>
              </a:spcBef>
              <a:spcAft>
                <a:spcPts val="0"/>
              </a:spcAft>
              <a:buClr>
                <a:schemeClr val="dk1"/>
              </a:buClr>
              <a:buSzPts val="1100"/>
              <a:buFont typeface="Arial"/>
              <a:buNone/>
            </a:pPr>
            <a:r>
              <a:rPr lang="en"/>
              <a:t>In Human-in-the-Loop Writing, AI assists by providing essay feedback, aiding in the creation of educational materials, offering tools for language acquisition, and guiding thesis work. This collaborative approach leverages AI to enhance human creativity and precision, ensuring that writers receive valuable support while maintaining control over their work.</a:t>
            </a:r>
            <a:endParaRPr/>
          </a:p>
          <a:p>
            <a:pPr indent="0" lvl="0" marL="0" rtl="0" algn="l">
              <a:lnSpc>
                <a:spcPct val="115000"/>
              </a:lnSpc>
              <a:spcBef>
                <a:spcPts val="1200"/>
              </a:spcBef>
              <a:spcAft>
                <a:spcPts val="0"/>
              </a:spcAft>
              <a:buClr>
                <a:schemeClr val="dk1"/>
              </a:buClr>
              <a:buSzPts val="1100"/>
              <a:buFont typeface="Arial"/>
              <a:buNone/>
            </a:pPr>
            <a:r>
              <a:rPr lang="en"/>
              <a:t>Machine-in-the-Loop Writing involves AI taking on more autonomous roles, such as giving feedback on low-stakes assignments, generating early drafts, enhancing peer reviews, and providing prompts for discussions. This dimension allows for efficient handling of repetitive tasks, freeing up human writers to focus on more complex aspects of their work.</a:t>
            </a:r>
            <a:endParaRPr/>
          </a:p>
          <a:p>
            <a:pPr indent="0" lvl="0" marL="0" rtl="0" algn="l">
              <a:lnSpc>
                <a:spcPct val="115000"/>
              </a:lnSpc>
              <a:spcBef>
                <a:spcPts val="1200"/>
              </a:spcBef>
              <a:spcAft>
                <a:spcPts val="0"/>
              </a:spcAft>
              <a:buClr>
                <a:schemeClr val="dk1"/>
              </a:buClr>
              <a:buSzPts val="1100"/>
              <a:buFont typeface="Arial"/>
              <a:buNone/>
            </a:pPr>
            <a:r>
              <a:rPr lang="en"/>
              <a:t>Finally, Synthetic Writing showcases AI’s capabilities in generating analysis reports, formatting citations, and summarizing articles. These tasks, often time-consuming for humans, are efficiently managed by AI, ensuring accuracy and consistency while allowing writers to concentrate on content creation and critical thinking. </a:t>
            </a:r>
            <a:br>
              <a:rPr lang="en"/>
            </a:br>
            <a:br>
              <a:rPr lang="en"/>
            </a:br>
            <a:r>
              <a:rPr lang="en"/>
              <a:t>Together, these dimensions illustrate the multifaceted role of AI in the writing process, enhancing productivity and creativity across various stages of writing.</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904fd917d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8904fd917d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https://www.freepik.com/icon/upload_15423209#fromView=search&amp;page=1&amp;position=0&amp;uuid=6337ce6c-9400-4e68-a14d-ae390dc4c0bc</a:t>
            </a:r>
            <a:endParaRPr/>
          </a:p>
          <a:p>
            <a:pPr indent="0" lvl="0" marL="0" rtl="0" algn="l">
              <a:lnSpc>
                <a:spcPct val="100000"/>
              </a:lnSpc>
              <a:spcBef>
                <a:spcPts val="0"/>
              </a:spcBef>
              <a:spcAft>
                <a:spcPts val="0"/>
              </a:spcAft>
              <a:buSzPts val="1100"/>
              <a:buNone/>
            </a:pPr>
            <a:r>
              <a:rPr lang="en" u="sng">
                <a:solidFill>
                  <a:schemeClr val="hlink"/>
                </a:solidFill>
                <a:hlinkClick r:id="rId3"/>
              </a:rPr>
              <a:t>https://www.freepik.com/icon/download_8163379#fromView=resource_detail&amp;position=10</a:t>
            </a:r>
            <a:r>
              <a:rPr lang="en"/>
              <a:t> </a:t>
            </a:r>
            <a:br>
              <a:rPr lang="en"/>
            </a:br>
            <a:br>
              <a:rPr lang="en"/>
            </a:br>
            <a:r>
              <a:rPr lang="en"/>
              <a:t>The dimensions of AI in the writing process encompass various roles and contributions, each enhancing the writing experience in unique ways. </a:t>
            </a:r>
            <a:br>
              <a:rPr lang="en"/>
            </a:br>
            <a:br>
              <a:rPr lang="en"/>
            </a:br>
            <a:r>
              <a:rPr lang="en"/>
              <a:t>Human writing remains at the core where you might focus on individual perspective pieces, cultural analysis, subject-specific evaluation, and philosophical discussion. These elements highlight the irreplaceable human touch in crafting nuanced and deeply personal content.</a:t>
            </a:r>
            <a:endParaRPr/>
          </a:p>
          <a:p>
            <a:pPr indent="0" lvl="0" marL="0" rtl="0" algn="l">
              <a:lnSpc>
                <a:spcPct val="115000"/>
              </a:lnSpc>
              <a:spcBef>
                <a:spcPts val="1200"/>
              </a:spcBef>
              <a:spcAft>
                <a:spcPts val="0"/>
              </a:spcAft>
              <a:buClr>
                <a:schemeClr val="dk1"/>
              </a:buClr>
              <a:buSzPts val="1100"/>
              <a:buFont typeface="Arial"/>
              <a:buNone/>
            </a:pPr>
            <a:r>
              <a:rPr lang="en"/>
              <a:t>In Human-in-the-Loop Writing, AI assists by providing essay feedback, aiding in the creation of educational materials, offering tools for language acquisition, and guiding thesis work. This collaborative approach leverages AI to enhance human creativity and precision, ensuring that writers receive valuable support while maintaining control over their work.</a:t>
            </a:r>
            <a:endParaRPr/>
          </a:p>
          <a:p>
            <a:pPr indent="0" lvl="0" marL="0" rtl="0" algn="l">
              <a:lnSpc>
                <a:spcPct val="115000"/>
              </a:lnSpc>
              <a:spcBef>
                <a:spcPts val="1200"/>
              </a:spcBef>
              <a:spcAft>
                <a:spcPts val="0"/>
              </a:spcAft>
              <a:buClr>
                <a:schemeClr val="dk1"/>
              </a:buClr>
              <a:buSzPts val="1100"/>
              <a:buFont typeface="Arial"/>
              <a:buNone/>
            </a:pPr>
            <a:r>
              <a:rPr lang="en"/>
              <a:t>Machine-in-the-Loop Writing involves AI taking on more autonomous roles, such as giving feedback on low-stakes assignments, generating early drafts, enhancing peer reviews, and providing prompts for discussions. This dimension allows for efficient handling of repetitive tasks, freeing up human writers to focus on more complex aspects of their work.</a:t>
            </a:r>
            <a:endParaRPr/>
          </a:p>
          <a:p>
            <a:pPr indent="0" lvl="0" marL="0" rtl="0" algn="l">
              <a:lnSpc>
                <a:spcPct val="115000"/>
              </a:lnSpc>
              <a:spcBef>
                <a:spcPts val="1200"/>
              </a:spcBef>
              <a:spcAft>
                <a:spcPts val="0"/>
              </a:spcAft>
              <a:buClr>
                <a:schemeClr val="dk1"/>
              </a:buClr>
              <a:buSzPts val="1100"/>
              <a:buFont typeface="Arial"/>
              <a:buNone/>
            </a:pPr>
            <a:r>
              <a:rPr lang="en"/>
              <a:t>Finally, Synthetic Writing showcases AI’s capabilities in generating analysis reports, formatting citations, and summarizing articles. These tasks, often time-consuming for humans, are efficiently managed by AI, ensuring accuracy and consistency while allowing writers to concentrate on content creation and critical thinking. </a:t>
            </a:r>
            <a:br>
              <a:rPr lang="en"/>
            </a:br>
            <a:br>
              <a:rPr lang="en"/>
            </a:br>
            <a:r>
              <a:rPr lang="en"/>
              <a:t>Together, these dimensions illustrate the multifaceted role of AI in the writing process, enhancing productivity and creativity across various stages of writing.</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06351b6c07_0_4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06351b6c07_0_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https://www.freepik.com/icon/upload_15423209#fromView=search&amp;page=1&amp;position=0&amp;uuid=6337ce6c-9400-4e68-a14d-ae390dc4c0bc</a:t>
            </a:r>
            <a:endParaRPr/>
          </a:p>
          <a:p>
            <a:pPr indent="0" lvl="0" marL="0" rtl="0" algn="l">
              <a:lnSpc>
                <a:spcPct val="100000"/>
              </a:lnSpc>
              <a:spcBef>
                <a:spcPts val="0"/>
              </a:spcBef>
              <a:spcAft>
                <a:spcPts val="0"/>
              </a:spcAft>
              <a:buSzPts val="1100"/>
              <a:buNone/>
            </a:pPr>
            <a:r>
              <a:rPr lang="en" u="sng">
                <a:solidFill>
                  <a:schemeClr val="hlink"/>
                </a:solidFill>
                <a:hlinkClick r:id="rId3"/>
              </a:rPr>
              <a:t>https://www.freepik.com/icon/download_8163379#fromView=resource_detail&amp;position=10</a:t>
            </a:r>
            <a:r>
              <a:rPr lang="en"/>
              <a:t> </a:t>
            </a:r>
            <a:br>
              <a:rPr lang="en"/>
            </a:br>
            <a:br>
              <a:rPr lang="en"/>
            </a:br>
            <a:r>
              <a:rPr lang="en"/>
              <a:t>The dimensions of AI in the writing process encompass various roles and contributions, each enhancing the writing experience in unique ways. </a:t>
            </a:r>
            <a:br>
              <a:rPr lang="en"/>
            </a:br>
            <a:br>
              <a:rPr lang="en"/>
            </a:br>
            <a:r>
              <a:rPr lang="en"/>
              <a:t>Human writing remains at the core where you might focus on individual perspective pieces, cultural analysis, subject-specific evaluation, and philosophical discussion. These elements highlight the irreplaceable human touch in crafting nuanced and deeply personal content.</a:t>
            </a:r>
            <a:endParaRPr/>
          </a:p>
          <a:p>
            <a:pPr indent="0" lvl="0" marL="0" rtl="0" algn="l">
              <a:lnSpc>
                <a:spcPct val="115000"/>
              </a:lnSpc>
              <a:spcBef>
                <a:spcPts val="1200"/>
              </a:spcBef>
              <a:spcAft>
                <a:spcPts val="0"/>
              </a:spcAft>
              <a:buClr>
                <a:schemeClr val="dk1"/>
              </a:buClr>
              <a:buSzPts val="1100"/>
              <a:buFont typeface="Arial"/>
              <a:buNone/>
            </a:pPr>
            <a:r>
              <a:rPr lang="en"/>
              <a:t>In Human-in-the-Loop Writing, AI assists by providing essay feedback, aiding in the creation of educational materials, offering tools for language acquisition, and guiding thesis work. This collaborative approach leverages AI to enhance human creativity and precision, ensuring that writers receive valuable support while maintaining control over their work.</a:t>
            </a:r>
            <a:endParaRPr/>
          </a:p>
          <a:p>
            <a:pPr indent="0" lvl="0" marL="0" rtl="0" algn="l">
              <a:lnSpc>
                <a:spcPct val="115000"/>
              </a:lnSpc>
              <a:spcBef>
                <a:spcPts val="1200"/>
              </a:spcBef>
              <a:spcAft>
                <a:spcPts val="0"/>
              </a:spcAft>
              <a:buClr>
                <a:schemeClr val="dk1"/>
              </a:buClr>
              <a:buSzPts val="1100"/>
              <a:buFont typeface="Arial"/>
              <a:buNone/>
            </a:pPr>
            <a:r>
              <a:rPr lang="en"/>
              <a:t>Machine-in-the-Loop Writing involves AI taking on more autonomous roles, such as giving feedback on low-stakes assignments, generating early drafts, enhancing peer reviews, and providing prompts for discussions. This dimension allows for efficient handling of repetitive tasks, freeing up human writers to focus on more complex aspects of their work.</a:t>
            </a:r>
            <a:endParaRPr/>
          </a:p>
          <a:p>
            <a:pPr indent="0" lvl="0" marL="0" rtl="0" algn="l">
              <a:lnSpc>
                <a:spcPct val="115000"/>
              </a:lnSpc>
              <a:spcBef>
                <a:spcPts val="1200"/>
              </a:spcBef>
              <a:spcAft>
                <a:spcPts val="0"/>
              </a:spcAft>
              <a:buClr>
                <a:schemeClr val="dk1"/>
              </a:buClr>
              <a:buSzPts val="1100"/>
              <a:buFont typeface="Arial"/>
              <a:buNone/>
            </a:pPr>
            <a:r>
              <a:rPr lang="en"/>
              <a:t>Finally, Synthetic Writing showcases AI’s capabilities in generating analysis reports, formatting citations, and summarizing articles. These tasks, often time-consuming for humans, are efficiently managed by AI, ensuring accuracy and consistency while allowing writers to concentrate on content creation and critical thinking. </a:t>
            </a:r>
            <a:br>
              <a:rPr lang="en"/>
            </a:br>
            <a:br>
              <a:rPr lang="en"/>
            </a:br>
            <a:r>
              <a:rPr lang="en"/>
              <a:t>Together, these dimensions illustrate the multifaceted role of AI in the writing process, enhancing productivity and creativity across various stages of writing.</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3a4442f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83a4442f4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rgbClr val="11223D"/>
                </a:solidFill>
              </a:rPr>
              <a:t>Now, let’s dive in where AI tools can help us in the whole writing process.</a:t>
            </a:r>
            <a:br>
              <a:rPr lang="en">
                <a:solidFill>
                  <a:srgbClr val="11223D"/>
                </a:solidFill>
              </a:rPr>
            </a:br>
            <a:br>
              <a:rPr lang="en">
                <a:solidFill>
                  <a:srgbClr val="11223D"/>
                </a:solidFill>
              </a:rPr>
            </a:br>
            <a:r>
              <a:rPr lang="en">
                <a:solidFill>
                  <a:srgbClr val="11223D"/>
                </a:solidFill>
              </a:rPr>
              <a:t>AI-assisted literature discovery and analysis involves a structured approach to efficiently navigate and synthesize vast amounts of information. The first step is to develop a search strategy, which involves defining the scope and keywords for your research. This ensures that your search is focused and relevant. Next, explore the various flavors of literature search tools available, each offering unique features to help you screen and triangulate your results. This step is crucial for filtering out irrelevant information and honing in on the most pertinent studies.</a:t>
            </a:r>
            <a:endParaRPr>
              <a:solidFill>
                <a:srgbClr val="11223D"/>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1223D"/>
                </a:solidFill>
              </a:rPr>
              <a:t>Once you have a curated list of literature, organize the selected works into a matrix. This helps in systematically analyzing the content to identify patterns and gaps in the existing research. By visualizing the data in this way, you can more easily spot trends and areas that require further investigation.</a:t>
            </a:r>
            <a:endParaRPr>
              <a:solidFill>
                <a:srgbClr val="11223D"/>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1223D"/>
                </a:solidFill>
              </a:rPr>
              <a:t>The final steps involve synthesizing and writing your findings, followed by a thorough revision. Synthesis involves integrating the insights from your analysis into a coherent narrative, while revision ensures that your work is polished and free of errors. This comprehensive approach leverages AI to streamline the literature review process, making it more efficient and effective.</a:t>
            </a:r>
            <a:endParaRPr>
              <a:solidFill>
                <a:srgbClr val="11223D"/>
              </a:solidFill>
            </a:endParaRPr>
          </a:p>
          <a:p>
            <a:pPr indent="0" lvl="0" marL="0" rtl="0" algn="l">
              <a:lnSpc>
                <a:spcPct val="100000"/>
              </a:lnSpc>
              <a:spcBef>
                <a:spcPts val="1200"/>
              </a:spcBef>
              <a:spcAft>
                <a:spcPts val="0"/>
              </a:spcAft>
              <a:buSzPts val="1100"/>
              <a:buNone/>
            </a:pPr>
            <a:r>
              <a:t/>
            </a:r>
            <a:endParaRPr>
              <a:solidFill>
                <a:srgbClr val="11223D"/>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Still, it’s not all doom and gloom!  Let me suggest a more successful way to think about using Copilot: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Start with questions at the beginning of your research journey like:</a:t>
            </a:r>
            <a:endParaRPr/>
          </a:p>
          <a:p>
            <a:pPr indent="-298450" lvl="0" marL="457200" rtl="0" algn="l">
              <a:lnSpc>
                <a:spcPct val="100000"/>
              </a:lnSpc>
              <a:spcBef>
                <a:spcPts val="0"/>
              </a:spcBef>
              <a:spcAft>
                <a:spcPts val="0"/>
              </a:spcAft>
              <a:buSzPts val="1100"/>
              <a:buChar char="●"/>
            </a:pPr>
            <a:r>
              <a:rPr lang="en" sz="1400">
                <a:solidFill>
                  <a:schemeClr val="lt1"/>
                </a:solidFill>
              </a:rPr>
              <a:t>What are the key trends in the development of sustainable </a:t>
            </a:r>
            <a:br>
              <a:rPr lang="en" sz="1400">
                <a:solidFill>
                  <a:schemeClr val="lt1"/>
                </a:solidFill>
              </a:rPr>
            </a:br>
            <a:r>
              <a:rPr lang="en" sz="1400">
                <a:solidFill>
                  <a:schemeClr val="lt1"/>
                </a:solidFill>
              </a:rPr>
              <a:t>flow cytometry devices</a:t>
            </a:r>
            <a:r>
              <a:rPr lang="en"/>
              <a:t>?</a:t>
            </a:r>
            <a:endParaRPr/>
          </a:p>
          <a:p>
            <a:pPr indent="-298450" lvl="1" marL="914400" rtl="0" algn="l">
              <a:lnSpc>
                <a:spcPct val="100000"/>
              </a:lnSpc>
              <a:spcBef>
                <a:spcPts val="0"/>
              </a:spcBef>
              <a:spcAft>
                <a:spcPts val="0"/>
              </a:spcAft>
              <a:buSzPts val="1100"/>
              <a:buChar char="○"/>
            </a:pPr>
            <a:r>
              <a:rPr lang="en"/>
              <a:t>Note: asking these tools for the absolute latest trends doesn’t work well because their content has a time lag (they don’t have the latest content from the internet)</a:t>
            </a:r>
            <a:endParaRPr/>
          </a:p>
          <a:p>
            <a:pPr indent="-298450" lvl="0" marL="457200" rtl="0" algn="ctr">
              <a:lnSpc>
                <a:spcPct val="100000"/>
              </a:lnSpc>
              <a:spcBef>
                <a:spcPts val="0"/>
              </a:spcBef>
              <a:spcAft>
                <a:spcPts val="0"/>
              </a:spcAft>
              <a:buSzPts val="1100"/>
              <a:buChar char="●"/>
            </a:pPr>
            <a:r>
              <a:rPr lang="en" sz="1400">
                <a:solidFill>
                  <a:schemeClr val="lt1"/>
                </a:solidFill>
              </a:rPr>
              <a:t>As someone new to Digital Education, I believe these tools and methods could be beneficial. Could you provide an overview?</a:t>
            </a:r>
            <a:endParaRPr/>
          </a:p>
          <a:p>
            <a:pPr indent="-298450" lvl="0" marL="457200" rtl="0" algn="ctr">
              <a:lnSpc>
                <a:spcPct val="100000"/>
              </a:lnSpc>
              <a:spcBef>
                <a:spcPts val="0"/>
              </a:spcBef>
              <a:spcAft>
                <a:spcPts val="0"/>
              </a:spcAft>
              <a:buSzPts val="1100"/>
              <a:buChar char="●"/>
            </a:pPr>
            <a:r>
              <a:rPr lang="en" sz="1400">
                <a:solidFill>
                  <a:schemeClr val="lt1"/>
                </a:solidFill>
              </a:rPr>
              <a:t>Which stakeholders should be engaged in establishing an eco-team at a research-performing organisation? </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With this approach, you can get some information and ideas on topics you aren’t yet very familiar with. After getting some initial responses from the tools, THEN you can head over to other platforms that are </a:t>
            </a:r>
            <a:r>
              <a:rPr b="1" lang="en"/>
              <a:t>reliable</a:t>
            </a:r>
            <a:r>
              <a:rPr lang="en"/>
              <a:t> and </a:t>
            </a:r>
            <a:r>
              <a:rPr b="1" lang="en"/>
              <a:t>relevant (tried and true)</a:t>
            </a:r>
            <a:r>
              <a:rPr lang="en"/>
              <a:t> for your next steps: platforms like the library catalog, library databases, even google scholar. </a:t>
            </a:r>
            <a:r>
              <a:rPr lang="en">
                <a:solidFill>
                  <a:schemeClr val="dk1"/>
                </a:solidFill>
              </a:rPr>
              <a:t> When approached in this way, these tools can be helpful when you are doing interdisciplinary research or are new to a sub-field.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Illustration: </a:t>
            </a:r>
            <a:r>
              <a:rPr lang="en" u="sng">
                <a:solidFill>
                  <a:schemeClr val="hlink"/>
                </a:solidFill>
                <a:hlinkClick r:id="rId2"/>
              </a:rPr>
              <a:t>https://www.freepik.com/free-vector/hand-drawn-new-idea-concept-with-hand-holding-light-bulb-sketch_9711851.htm#fromView=search&amp;page=3&amp;position=1&amp;uuid=1634f497-2259-42a6-8105-a4deceb77e11&amp;new_detail=true</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solidFill>
                  <a:schemeClr val="dk1"/>
                </a:solidFill>
              </a:rPr>
              <a:t>Let me suggest a more successful way to think about using Copilot:</a:t>
            </a:r>
            <a:endParaRPr sz="1000">
              <a:solidFill>
                <a:schemeClr val="dk1"/>
              </a:solidFill>
            </a:endParaRPr>
          </a:p>
          <a:p>
            <a:pPr indent="0" lvl="0" marL="0" rtl="0" algn="l">
              <a:lnSpc>
                <a:spcPct val="100000"/>
              </a:lnSpc>
              <a:spcBef>
                <a:spcPts val="0"/>
              </a:spcBef>
              <a:spcAft>
                <a:spcPts val="0"/>
              </a:spcAft>
              <a:buSzPts val="1100"/>
              <a:buNone/>
            </a:pPr>
            <a:r>
              <a:t/>
            </a:r>
            <a:endParaRPr sz="1000">
              <a:solidFill>
                <a:schemeClr val="dk1"/>
              </a:solidFill>
            </a:endParaRPr>
          </a:p>
          <a:p>
            <a:pPr indent="0" lvl="0" marL="0" rtl="0" algn="l">
              <a:lnSpc>
                <a:spcPct val="100000"/>
              </a:lnSpc>
              <a:spcBef>
                <a:spcPts val="0"/>
              </a:spcBef>
              <a:spcAft>
                <a:spcPts val="0"/>
              </a:spcAft>
              <a:buSzPts val="1100"/>
              <a:buNone/>
            </a:pPr>
            <a:r>
              <a:rPr b="1" lang="en" sz="1000">
                <a:solidFill>
                  <a:schemeClr val="dk1"/>
                </a:solidFill>
              </a:rPr>
              <a:t>Zoom in to a specific question and focus on generating keywords, search strings, with subsequent topic scoping:</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As a sociologist researching collaboration among scientists in biology labs, provide me with 10 keywords for an academic literature search.</a:t>
            </a:r>
            <a:endParaRPr sz="1000">
              <a:solidFill>
                <a:schemeClr val="dk1"/>
              </a:solidFill>
            </a:endParaRPr>
          </a:p>
          <a:p>
            <a:pPr indent="-292100" lvl="1" marL="914400" rtl="0" algn="l">
              <a:lnSpc>
                <a:spcPct val="100000"/>
              </a:lnSpc>
              <a:spcBef>
                <a:spcPts val="0"/>
              </a:spcBef>
              <a:spcAft>
                <a:spcPts val="0"/>
              </a:spcAft>
              <a:buClr>
                <a:schemeClr val="dk1"/>
              </a:buClr>
              <a:buSzPts val="1000"/>
              <a:buChar char="○"/>
            </a:pPr>
            <a:r>
              <a:rPr lang="en" sz="1000">
                <a:solidFill>
                  <a:schemeClr val="dk1"/>
                </a:solidFill>
              </a:rPr>
              <a:t>Note: asking these tools for the absolute latest trends doesn’t work well because their content has a time lag (they don’t have the latest content from the internet)</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What search string could I use in PubMed or a library database to find relevant literature? Give an example for each of the options.</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Identify 5 specific topics in this area for further exploration.</a:t>
            </a:r>
            <a:br>
              <a:rPr lang="en" sz="1000">
                <a:solidFill>
                  <a:schemeClr val="dk1"/>
                </a:solidFill>
              </a:rPr>
            </a:br>
            <a:r>
              <a:rPr lang="en" sz="1000">
                <a:solidFill>
                  <a:schemeClr val="dk1"/>
                </a:solidFill>
              </a:rPr>
              <a:t>Create an additional search string for PubMed. </a:t>
            </a:r>
            <a:endParaRPr sz="1000">
              <a:solidFill>
                <a:schemeClr val="dk1"/>
              </a:solidFill>
            </a:endParaRPr>
          </a:p>
          <a:p>
            <a:pPr indent="0" lvl="0" marL="0" rtl="0" algn="l">
              <a:lnSpc>
                <a:spcPct val="100000"/>
              </a:lnSpc>
              <a:spcBef>
                <a:spcPts val="0"/>
              </a:spcBef>
              <a:spcAft>
                <a:spcPts val="0"/>
              </a:spcAft>
              <a:buSzPts val="1100"/>
              <a:buNone/>
            </a:pPr>
            <a:r>
              <a:t/>
            </a:r>
            <a:endParaRPr sz="1000">
              <a:solidFill>
                <a:schemeClr val="dk1"/>
              </a:solidFill>
            </a:endParaRPr>
          </a:p>
          <a:p>
            <a:pPr indent="0" lvl="0" marL="0" rtl="0" algn="l">
              <a:lnSpc>
                <a:spcPct val="100000"/>
              </a:lnSpc>
              <a:spcBef>
                <a:spcPts val="0"/>
              </a:spcBef>
              <a:spcAft>
                <a:spcPts val="0"/>
              </a:spcAft>
              <a:buSzPts val="1100"/>
              <a:buNone/>
            </a:pPr>
            <a:r>
              <a:rPr lang="en" sz="1000">
                <a:solidFill>
                  <a:schemeClr val="dk1"/>
                </a:solidFill>
              </a:rPr>
              <a:t>Let’s go an activity. </a:t>
            </a:r>
            <a:endParaRPr sz="1000">
              <a:solidFill>
                <a:schemeClr val="dk1"/>
              </a:solidFill>
            </a:endParaRPr>
          </a:p>
          <a:p>
            <a:pPr indent="0" lvl="0" marL="0" rtl="0" algn="l">
              <a:lnSpc>
                <a:spcPct val="100000"/>
              </a:lnSpc>
              <a:spcBef>
                <a:spcPts val="0"/>
              </a:spcBef>
              <a:spcAft>
                <a:spcPts val="0"/>
              </a:spcAft>
              <a:buSzPts val="1100"/>
              <a:buNone/>
            </a:pPr>
            <a:r>
              <a:t/>
            </a:r>
            <a:endParaRPr sz="10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f2a62ed5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7f2a62ed5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solidFill>
                  <a:schemeClr val="dk1"/>
                </a:solidFill>
              </a:rPr>
              <a:t>Open your browser and surf to </a:t>
            </a:r>
            <a:r>
              <a:rPr lang="en" sz="1000" u="sng">
                <a:solidFill>
                  <a:schemeClr val="hlink"/>
                </a:solidFill>
                <a:hlinkClick r:id="rId2"/>
              </a:rPr>
              <a:t>https://copilot.microsoft.com</a:t>
            </a:r>
            <a:br>
              <a:rPr lang="en" sz="1000">
                <a:solidFill>
                  <a:schemeClr val="dk1"/>
                </a:solidFill>
              </a:rPr>
            </a:br>
            <a:endParaRPr sz="1000">
              <a:solidFill>
                <a:schemeClr val="dk1"/>
              </a:solidFill>
            </a:endParaRPr>
          </a:p>
          <a:p>
            <a:pPr indent="0" lvl="0" marL="0" rtl="0" algn="l">
              <a:lnSpc>
                <a:spcPct val="140000"/>
              </a:lnSpc>
              <a:spcBef>
                <a:spcPts val="0"/>
              </a:spcBef>
              <a:spcAft>
                <a:spcPts val="0"/>
              </a:spcAft>
              <a:buSzPts val="1400"/>
              <a:buNone/>
            </a:pPr>
            <a:r>
              <a:rPr lang="en" sz="1400">
                <a:solidFill>
                  <a:schemeClr val="dk1"/>
                </a:solidFill>
                <a:latin typeface="Open Sans"/>
                <a:ea typeface="Open Sans"/>
                <a:cs typeface="Open Sans"/>
                <a:sym typeface="Open Sans"/>
              </a:rPr>
              <a:t>“use for proprietary, confidential, and personal information allowed”</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000">
                <a:solidFill>
                  <a:schemeClr val="dk1"/>
                </a:solidFill>
              </a:rPr>
              <a:t>Zoom in to a specific question and focus on generating keywords, search strings, with subsequent topic scoping:</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As a sociologist researching collaboration among scientists in biology labs, provide me with 10 keywords for an academic literature search.</a:t>
            </a:r>
            <a:br>
              <a:rPr lang="en" sz="1000">
                <a:solidFill>
                  <a:schemeClr val="dk1"/>
                </a:solidFill>
              </a:rPr>
            </a:br>
            <a:endParaRPr sz="1000">
              <a:solidFill>
                <a:schemeClr val="dk1"/>
              </a:solidFill>
            </a:endParaRPr>
          </a:p>
          <a:p>
            <a:pPr indent="-292100" lvl="0" marL="457200" rtl="0" algn="ctr">
              <a:lnSpc>
                <a:spcPct val="100000"/>
              </a:lnSpc>
              <a:spcBef>
                <a:spcPts val="0"/>
              </a:spcBef>
              <a:spcAft>
                <a:spcPts val="0"/>
              </a:spcAft>
              <a:buClr>
                <a:schemeClr val="dk1"/>
              </a:buClr>
              <a:buSzPts val="1000"/>
              <a:buChar char="●"/>
            </a:pPr>
            <a:r>
              <a:rPr lang="en" sz="1400">
                <a:solidFill>
                  <a:schemeClr val="dk1"/>
                </a:solidFill>
              </a:rPr>
              <a:t>What search string could I use in Google Scholar to find relevant literature?</a:t>
            </a:r>
            <a:endParaRPr sz="1400">
              <a:solidFill>
                <a:schemeClr val="dk1"/>
              </a:solidFill>
            </a:endParaRPr>
          </a:p>
          <a:p>
            <a:pPr indent="0" lvl="0" marL="0" rtl="0" algn="l">
              <a:lnSpc>
                <a:spcPct val="100000"/>
              </a:lnSpc>
              <a:spcBef>
                <a:spcPts val="0"/>
              </a:spcBef>
              <a:spcAft>
                <a:spcPts val="0"/>
              </a:spcAft>
              <a:buSzPts val="1100"/>
              <a:buNone/>
            </a:pPr>
            <a:br>
              <a:rPr lang="en" sz="1000">
                <a:solidFill>
                  <a:schemeClr val="dk1"/>
                </a:solidFill>
              </a:rPr>
            </a:br>
            <a:br>
              <a:rPr lang="en" sz="1000">
                <a:solidFill>
                  <a:schemeClr val="dk1"/>
                </a:solidFill>
              </a:rPr>
            </a:br>
            <a:r>
              <a:rPr lang="en" sz="1000">
                <a:solidFill>
                  <a:schemeClr val="dk1"/>
                </a:solidFill>
              </a:rPr>
              <a:t>Answer:</a:t>
            </a:r>
            <a:br>
              <a:rPr lang="en" sz="1000">
                <a:solidFill>
                  <a:schemeClr val="dk1"/>
                </a:solidFill>
              </a:rPr>
            </a:br>
            <a:r>
              <a:rPr lang="en" sz="1000">
                <a:solidFill>
                  <a:schemeClr val="dk1"/>
                </a:solidFill>
              </a:rPr>
              <a:t>("scientific collaboration" OR "interdisciplinary research" OR "team science" OR "coauthorship" OR "research networks" OR "lab dynamics" OR "collaborative innovation" OR "knowledge sharing" OR "academic partnerships" OR "collaborative research practices") AND "biology labs"</a:t>
            </a:r>
            <a:endParaRPr sz="1000">
              <a:solidFill>
                <a:schemeClr val="dk1"/>
              </a:solidFill>
            </a:endParaRPr>
          </a:p>
          <a:p>
            <a:pPr indent="0" lvl="0" marL="457200" rtl="0" algn="l">
              <a:lnSpc>
                <a:spcPct val="100000"/>
              </a:lnSpc>
              <a:spcBef>
                <a:spcPts val="0"/>
              </a:spcBef>
              <a:spcAft>
                <a:spcPts val="0"/>
              </a:spcAft>
              <a:buSzPts val="1100"/>
              <a:buNone/>
            </a:pPr>
            <a:r>
              <a:t/>
            </a:r>
            <a:endParaRPr sz="1000">
              <a:solidFill>
                <a:schemeClr val="dk1"/>
              </a:solidFill>
            </a:endParaRPr>
          </a:p>
          <a:p>
            <a:pPr indent="-292100" lvl="0" marL="457200" rtl="0" algn="ctr">
              <a:lnSpc>
                <a:spcPct val="100000"/>
              </a:lnSpc>
              <a:spcBef>
                <a:spcPts val="0"/>
              </a:spcBef>
              <a:spcAft>
                <a:spcPts val="0"/>
              </a:spcAft>
              <a:buClr>
                <a:schemeClr val="dk1"/>
              </a:buClr>
              <a:buSzPts val="1000"/>
              <a:buChar char="●"/>
            </a:pPr>
            <a:r>
              <a:rPr lang="en" sz="1400">
                <a:solidFill>
                  <a:schemeClr val="dk1"/>
                </a:solidFill>
              </a:rPr>
              <a:t>Use the suggested search string in Google scholar and evaluate the results.</a:t>
            </a:r>
            <a:endParaRPr sz="1400">
              <a:solidFill>
                <a:schemeClr val="dk1"/>
              </a:solidFill>
            </a:endParaRPr>
          </a:p>
          <a:p>
            <a:pPr indent="0" lvl="0" marL="457200" rtl="0" algn="l">
              <a:lnSpc>
                <a:spcPct val="100000"/>
              </a:lnSpc>
              <a:spcBef>
                <a:spcPts val="0"/>
              </a:spcBef>
              <a:spcAft>
                <a:spcPts val="0"/>
              </a:spcAft>
              <a:buSzPts val="1100"/>
              <a:buNone/>
            </a:pPr>
            <a:r>
              <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Identify 5 specific topics in this area for further exploration.</a:t>
            </a:r>
            <a:br>
              <a:rPr lang="en" sz="1000">
                <a:solidFill>
                  <a:schemeClr val="dk1"/>
                </a:solidFill>
              </a:rPr>
            </a:br>
            <a:br>
              <a:rPr lang="en" sz="1000">
                <a:solidFill>
                  <a:schemeClr val="dk1"/>
                </a:solidFill>
              </a:rPr>
            </a:br>
            <a:r>
              <a:rPr lang="en" sz="1000">
                <a:solidFill>
                  <a:schemeClr val="dk1"/>
                </a:solidFill>
              </a:rPr>
              <a:t>Answer:</a:t>
            </a:r>
            <a:br>
              <a:rPr lang="en" sz="1000">
                <a:solidFill>
                  <a:schemeClr val="dk1"/>
                </a:solidFill>
              </a:rPr>
            </a:br>
            <a:r>
              <a:rPr lang="en">
                <a:solidFill>
                  <a:schemeClr val="dk1"/>
                </a:solidFill>
              </a:rPr>
              <a:t>Here are five specific topics related to collaboration among scientists in biology labs that you might find interesting for further exploration: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Impact of Interdisciplinary Collaboration on Scientific Innovation</a:t>
            </a:r>
            <a:r>
              <a:rPr lang="en">
                <a:solidFill>
                  <a:schemeClr val="dk1"/>
                </a:solidFill>
              </a:rPr>
              <a:t>: Investigate how collaboration across different scientific disciplines within biology labs influences innovation and the development of new research methodologies.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Role of Technology in Facilitating Collaboration</a:t>
            </a:r>
            <a:r>
              <a:rPr lang="en">
                <a:solidFill>
                  <a:schemeClr val="dk1"/>
                </a:solidFill>
              </a:rPr>
              <a:t>: Explore how digital tools and platforms are used to enhance communication, data sharing, and collaborative efforts among scientists in biology labs.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Challenges and Solutions in International Research Collaborations</a:t>
            </a:r>
            <a:r>
              <a:rPr lang="en">
                <a:solidFill>
                  <a:schemeClr val="dk1"/>
                </a:solidFill>
              </a:rPr>
              <a:t>: Examine the specific challenges faced by international research teams, such as cultural differences, language barriers, and time zone issues, and how they overcome these obstacles.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Gender Dynamics in Scientific Collaboration</a:t>
            </a:r>
            <a:r>
              <a:rPr lang="en">
                <a:solidFill>
                  <a:schemeClr val="dk1"/>
                </a:solidFill>
              </a:rPr>
              <a:t>: Analyze how gender influences collaboration patterns, leadership roles, and the distribution of credit in collaborative research projects within biology labs.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Effects of Institutional Policies on Collaborative Research</a:t>
            </a:r>
            <a:r>
              <a:rPr lang="en">
                <a:solidFill>
                  <a:schemeClr val="dk1"/>
                </a:solidFill>
              </a:rPr>
              <a:t>: Study how different institutional policies and funding mechanisms impact the nature and success of collaborative research efforts in biology labs.</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Create an additional search string for PubMed. </a:t>
            </a:r>
            <a:endParaRPr sz="1000">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e178917ef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3ce178917ef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solidFill>
                  <a:schemeClr val="dk1"/>
                </a:solidFill>
              </a:rPr>
              <a:t>Let me suggest a more successful way to think about using Copilot:</a:t>
            </a:r>
            <a:endParaRPr sz="1000">
              <a:solidFill>
                <a:schemeClr val="dk1"/>
              </a:solidFill>
            </a:endParaRPr>
          </a:p>
          <a:p>
            <a:pPr indent="0" lvl="0" marL="0" rtl="0" algn="l">
              <a:lnSpc>
                <a:spcPct val="100000"/>
              </a:lnSpc>
              <a:spcBef>
                <a:spcPts val="0"/>
              </a:spcBef>
              <a:spcAft>
                <a:spcPts val="0"/>
              </a:spcAft>
              <a:buSzPts val="1100"/>
              <a:buNone/>
            </a:pPr>
            <a:r>
              <a:t/>
            </a:r>
            <a:endParaRPr sz="1000">
              <a:solidFill>
                <a:schemeClr val="dk1"/>
              </a:solidFill>
            </a:endParaRPr>
          </a:p>
          <a:p>
            <a:pPr indent="0" lvl="0" marL="0" rtl="0" algn="l">
              <a:lnSpc>
                <a:spcPct val="100000"/>
              </a:lnSpc>
              <a:spcBef>
                <a:spcPts val="0"/>
              </a:spcBef>
              <a:spcAft>
                <a:spcPts val="0"/>
              </a:spcAft>
              <a:buSzPts val="1100"/>
              <a:buNone/>
            </a:pPr>
            <a:r>
              <a:rPr b="1" lang="en" sz="1000">
                <a:solidFill>
                  <a:schemeClr val="dk1"/>
                </a:solidFill>
              </a:rPr>
              <a:t>Zoom in to a specific question and focus on generating keywords, search strings, with subsequent topic scoping:</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As a sociologist researching collaboration among scientists in biology labs, provide me with 10 keywords for an academic literature search.</a:t>
            </a:r>
            <a:endParaRPr sz="1000">
              <a:solidFill>
                <a:schemeClr val="dk1"/>
              </a:solidFill>
            </a:endParaRPr>
          </a:p>
          <a:p>
            <a:pPr indent="-292100" lvl="1" marL="914400" rtl="0" algn="l">
              <a:lnSpc>
                <a:spcPct val="100000"/>
              </a:lnSpc>
              <a:spcBef>
                <a:spcPts val="0"/>
              </a:spcBef>
              <a:spcAft>
                <a:spcPts val="0"/>
              </a:spcAft>
              <a:buClr>
                <a:schemeClr val="dk1"/>
              </a:buClr>
              <a:buSzPts val="1000"/>
              <a:buChar char="○"/>
            </a:pPr>
            <a:r>
              <a:rPr lang="en" sz="1000">
                <a:solidFill>
                  <a:schemeClr val="dk1"/>
                </a:solidFill>
              </a:rPr>
              <a:t>Note: asking these tools for the absolute latest trends doesn’t work well because their content has a time lag (they don’t have the latest content from the internet)</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What search string could I use in PubMed or a library database to find relevant literature? Give an example for each of the options.</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Identify 5 specific topics in this area for further exploration.</a:t>
            </a:r>
            <a:br>
              <a:rPr lang="en" sz="1000">
                <a:solidFill>
                  <a:schemeClr val="dk1"/>
                </a:solidFill>
              </a:rPr>
            </a:br>
            <a:r>
              <a:rPr lang="en" sz="1000">
                <a:solidFill>
                  <a:schemeClr val="dk1"/>
                </a:solidFill>
              </a:rPr>
              <a:t>Create an additional search string for PubMed. </a:t>
            </a:r>
            <a:endParaRPr sz="1000">
              <a:solidFill>
                <a:schemeClr val="dk1"/>
              </a:solidFill>
            </a:endParaRPr>
          </a:p>
          <a:p>
            <a:pPr indent="0" lvl="0" marL="0" rtl="0" algn="l">
              <a:lnSpc>
                <a:spcPct val="100000"/>
              </a:lnSpc>
              <a:spcBef>
                <a:spcPts val="0"/>
              </a:spcBef>
              <a:spcAft>
                <a:spcPts val="0"/>
              </a:spcAft>
              <a:buSzPts val="1100"/>
              <a:buNone/>
            </a:pPr>
            <a:r>
              <a:t/>
            </a:r>
            <a:endParaRPr sz="1000">
              <a:solidFill>
                <a:schemeClr val="dk1"/>
              </a:solidFill>
            </a:endParaRPr>
          </a:p>
          <a:p>
            <a:pPr indent="0" lvl="0" marL="0" rtl="0" algn="l">
              <a:lnSpc>
                <a:spcPct val="100000"/>
              </a:lnSpc>
              <a:spcBef>
                <a:spcPts val="0"/>
              </a:spcBef>
              <a:spcAft>
                <a:spcPts val="0"/>
              </a:spcAft>
              <a:buSzPts val="1100"/>
              <a:buNone/>
            </a:pPr>
            <a:r>
              <a:rPr lang="en" sz="1000">
                <a:solidFill>
                  <a:schemeClr val="dk1"/>
                </a:solidFill>
              </a:rPr>
              <a:t>Let’s go an activity. </a:t>
            </a:r>
            <a:endParaRPr sz="1000">
              <a:solidFill>
                <a:schemeClr val="dk1"/>
              </a:solidFill>
            </a:endParaRPr>
          </a:p>
          <a:p>
            <a:pPr indent="0" lvl="0" marL="0" rtl="0" algn="l">
              <a:lnSpc>
                <a:spcPct val="100000"/>
              </a:lnSpc>
              <a:spcBef>
                <a:spcPts val="0"/>
              </a:spcBef>
              <a:spcAft>
                <a:spcPts val="0"/>
              </a:spcAft>
              <a:buSzPts val="1100"/>
              <a:buNone/>
            </a:pPr>
            <a:r>
              <a:t/>
            </a:r>
            <a:endParaRPr sz="10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06351b6c07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06351b6c07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solidFill>
                  <a:schemeClr val="dk1"/>
                </a:solidFill>
              </a:rPr>
              <a:t>Open your browser and surf to </a:t>
            </a:r>
            <a:r>
              <a:rPr lang="en" sz="1000" u="sng">
                <a:solidFill>
                  <a:schemeClr val="hlink"/>
                </a:solidFill>
                <a:hlinkClick r:id="rId2"/>
              </a:rPr>
              <a:t>https://copilot.microsoft.com</a:t>
            </a:r>
            <a:br>
              <a:rPr lang="en" sz="1000">
                <a:solidFill>
                  <a:schemeClr val="dk1"/>
                </a:solidFill>
              </a:rPr>
            </a:br>
            <a:endParaRPr sz="1000">
              <a:solidFill>
                <a:schemeClr val="dk1"/>
              </a:solidFill>
            </a:endParaRPr>
          </a:p>
          <a:p>
            <a:pPr indent="0" lvl="0" marL="0" rtl="0" algn="l">
              <a:lnSpc>
                <a:spcPct val="140000"/>
              </a:lnSpc>
              <a:spcBef>
                <a:spcPts val="0"/>
              </a:spcBef>
              <a:spcAft>
                <a:spcPts val="0"/>
              </a:spcAft>
              <a:buSzPts val="1400"/>
              <a:buNone/>
            </a:pPr>
            <a:r>
              <a:rPr lang="en" sz="1400">
                <a:solidFill>
                  <a:schemeClr val="dk1"/>
                </a:solidFill>
                <a:latin typeface="Open Sans"/>
                <a:ea typeface="Open Sans"/>
                <a:cs typeface="Open Sans"/>
                <a:sym typeface="Open Sans"/>
              </a:rPr>
              <a:t>“use for proprietary, confidential, and personal information allowed”</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000">
                <a:solidFill>
                  <a:schemeClr val="dk1"/>
                </a:solidFill>
              </a:rPr>
              <a:t>Zoom in to a specific question and focus on generating keywords, search strings, with subsequent topic scoping:</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As a sociologist researching collaboration among scientists in biology labs, provide me with 10 keywords for an academic literature search.</a:t>
            </a:r>
            <a:br>
              <a:rPr lang="en" sz="1000">
                <a:solidFill>
                  <a:schemeClr val="dk1"/>
                </a:solidFill>
              </a:rPr>
            </a:br>
            <a:endParaRPr sz="1000">
              <a:solidFill>
                <a:schemeClr val="dk1"/>
              </a:solidFill>
            </a:endParaRPr>
          </a:p>
          <a:p>
            <a:pPr indent="-292100" lvl="0" marL="457200" rtl="0" algn="ctr">
              <a:lnSpc>
                <a:spcPct val="100000"/>
              </a:lnSpc>
              <a:spcBef>
                <a:spcPts val="0"/>
              </a:spcBef>
              <a:spcAft>
                <a:spcPts val="0"/>
              </a:spcAft>
              <a:buClr>
                <a:schemeClr val="dk1"/>
              </a:buClr>
              <a:buSzPts val="1000"/>
              <a:buChar char="●"/>
            </a:pPr>
            <a:r>
              <a:rPr lang="en" sz="1400">
                <a:solidFill>
                  <a:schemeClr val="dk1"/>
                </a:solidFill>
              </a:rPr>
              <a:t>What search string could I use in Google Scholar to find relevant literature?</a:t>
            </a:r>
            <a:endParaRPr sz="1400">
              <a:solidFill>
                <a:schemeClr val="dk1"/>
              </a:solidFill>
            </a:endParaRPr>
          </a:p>
          <a:p>
            <a:pPr indent="0" lvl="0" marL="0" rtl="0" algn="l">
              <a:lnSpc>
                <a:spcPct val="100000"/>
              </a:lnSpc>
              <a:spcBef>
                <a:spcPts val="0"/>
              </a:spcBef>
              <a:spcAft>
                <a:spcPts val="0"/>
              </a:spcAft>
              <a:buSzPts val="1100"/>
              <a:buNone/>
            </a:pPr>
            <a:br>
              <a:rPr lang="en" sz="1000">
                <a:solidFill>
                  <a:schemeClr val="dk1"/>
                </a:solidFill>
              </a:rPr>
            </a:br>
            <a:br>
              <a:rPr lang="en" sz="1000">
                <a:solidFill>
                  <a:schemeClr val="dk1"/>
                </a:solidFill>
              </a:rPr>
            </a:br>
            <a:r>
              <a:rPr lang="en" sz="1000">
                <a:solidFill>
                  <a:schemeClr val="dk1"/>
                </a:solidFill>
              </a:rPr>
              <a:t>Answer:</a:t>
            </a:r>
            <a:br>
              <a:rPr lang="en" sz="1000">
                <a:solidFill>
                  <a:schemeClr val="dk1"/>
                </a:solidFill>
              </a:rPr>
            </a:br>
            <a:r>
              <a:rPr lang="en" sz="1000">
                <a:solidFill>
                  <a:schemeClr val="dk1"/>
                </a:solidFill>
              </a:rPr>
              <a:t>("scientific collaboration" OR "interdisciplinary research" OR "team science" OR "coauthorship" OR "research networks" OR "lab dynamics" OR "collaborative innovation" OR "knowledge sharing" OR "academic partnerships" OR "collaborative research practices") AND "biology labs"</a:t>
            </a:r>
            <a:endParaRPr sz="1000">
              <a:solidFill>
                <a:schemeClr val="dk1"/>
              </a:solidFill>
            </a:endParaRPr>
          </a:p>
          <a:p>
            <a:pPr indent="0" lvl="0" marL="457200" rtl="0" algn="l">
              <a:lnSpc>
                <a:spcPct val="100000"/>
              </a:lnSpc>
              <a:spcBef>
                <a:spcPts val="0"/>
              </a:spcBef>
              <a:spcAft>
                <a:spcPts val="0"/>
              </a:spcAft>
              <a:buSzPts val="1100"/>
              <a:buNone/>
            </a:pPr>
            <a:r>
              <a:t/>
            </a:r>
            <a:endParaRPr sz="1000">
              <a:solidFill>
                <a:schemeClr val="dk1"/>
              </a:solidFill>
            </a:endParaRPr>
          </a:p>
          <a:p>
            <a:pPr indent="-292100" lvl="0" marL="457200" rtl="0" algn="ctr">
              <a:lnSpc>
                <a:spcPct val="100000"/>
              </a:lnSpc>
              <a:spcBef>
                <a:spcPts val="0"/>
              </a:spcBef>
              <a:spcAft>
                <a:spcPts val="0"/>
              </a:spcAft>
              <a:buClr>
                <a:schemeClr val="dk1"/>
              </a:buClr>
              <a:buSzPts val="1000"/>
              <a:buChar char="●"/>
            </a:pPr>
            <a:r>
              <a:rPr lang="en" sz="1400">
                <a:solidFill>
                  <a:schemeClr val="dk1"/>
                </a:solidFill>
              </a:rPr>
              <a:t>Use the suggested search string in Google scholar and evaluate the results.</a:t>
            </a:r>
            <a:endParaRPr sz="1400">
              <a:solidFill>
                <a:schemeClr val="dk1"/>
              </a:solidFill>
            </a:endParaRPr>
          </a:p>
          <a:p>
            <a:pPr indent="0" lvl="0" marL="457200" rtl="0" algn="l">
              <a:lnSpc>
                <a:spcPct val="100000"/>
              </a:lnSpc>
              <a:spcBef>
                <a:spcPts val="0"/>
              </a:spcBef>
              <a:spcAft>
                <a:spcPts val="0"/>
              </a:spcAft>
              <a:buSzPts val="1100"/>
              <a:buNone/>
            </a:pPr>
            <a:r>
              <a:t/>
            </a: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Identify 5 specific topics in this area for further exploration.</a:t>
            </a:r>
            <a:br>
              <a:rPr lang="en" sz="1000">
                <a:solidFill>
                  <a:schemeClr val="dk1"/>
                </a:solidFill>
              </a:rPr>
            </a:br>
            <a:br>
              <a:rPr lang="en" sz="1000">
                <a:solidFill>
                  <a:schemeClr val="dk1"/>
                </a:solidFill>
              </a:rPr>
            </a:br>
            <a:r>
              <a:rPr lang="en" sz="1000">
                <a:solidFill>
                  <a:schemeClr val="dk1"/>
                </a:solidFill>
              </a:rPr>
              <a:t>Answer:</a:t>
            </a:r>
            <a:br>
              <a:rPr lang="en" sz="1000">
                <a:solidFill>
                  <a:schemeClr val="dk1"/>
                </a:solidFill>
              </a:rPr>
            </a:br>
            <a:r>
              <a:rPr lang="en">
                <a:solidFill>
                  <a:schemeClr val="dk1"/>
                </a:solidFill>
              </a:rPr>
              <a:t>Here are five specific topics related to collaboration among scientists in biology labs that you might find interesting for further exploration: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Impact of Interdisciplinary Collaboration on Scientific Innovation</a:t>
            </a:r>
            <a:r>
              <a:rPr lang="en">
                <a:solidFill>
                  <a:schemeClr val="dk1"/>
                </a:solidFill>
              </a:rPr>
              <a:t>: Investigate how collaboration across different scientific disciplines within biology labs influences innovation and the development of new research methodologies.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Role of Technology in Facilitating Collaboration</a:t>
            </a:r>
            <a:r>
              <a:rPr lang="en">
                <a:solidFill>
                  <a:schemeClr val="dk1"/>
                </a:solidFill>
              </a:rPr>
              <a:t>: Explore how digital tools and platforms are used to enhance communication, data sharing, and collaborative efforts among scientists in biology labs.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Challenges and Solutions in International Research Collaborations</a:t>
            </a:r>
            <a:r>
              <a:rPr lang="en">
                <a:solidFill>
                  <a:schemeClr val="dk1"/>
                </a:solidFill>
              </a:rPr>
              <a:t>: Examine the specific challenges faced by international research teams, such as cultural differences, language barriers, and time zone issues, and how they overcome these obstacles.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Gender Dynamics in Scientific Collaboration</a:t>
            </a:r>
            <a:r>
              <a:rPr lang="en">
                <a:solidFill>
                  <a:schemeClr val="dk1"/>
                </a:solidFill>
              </a:rPr>
              <a:t>: Analyze how gender influences collaboration patterns, leadership roles, and the distribution of credit in collaborative research projects within biology labs.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Effects of Institutional Policies on Collaborative Research</a:t>
            </a:r>
            <a:r>
              <a:rPr lang="en">
                <a:solidFill>
                  <a:schemeClr val="dk1"/>
                </a:solidFill>
              </a:rPr>
              <a:t>: Study how different institutional policies and funding mechanisms impact the nature and success of collaborative research efforts in biology labs.</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Create an additional search string for PubMed. </a:t>
            </a:r>
            <a:endParaRPr sz="1000">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40b7833a0_0_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840b7833a0_0_2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rgbClr val="11223D"/>
                </a:solidFill>
              </a:rPr>
              <a:t>Now, let’s dive in where AI tools can help us in the whole writing process.</a:t>
            </a:r>
            <a:br>
              <a:rPr lang="en">
                <a:solidFill>
                  <a:srgbClr val="11223D"/>
                </a:solidFill>
              </a:rPr>
            </a:br>
            <a:br>
              <a:rPr lang="en">
                <a:solidFill>
                  <a:srgbClr val="11223D"/>
                </a:solidFill>
              </a:rPr>
            </a:br>
            <a:r>
              <a:rPr lang="en">
                <a:solidFill>
                  <a:srgbClr val="11223D"/>
                </a:solidFill>
              </a:rPr>
              <a:t>AI-assisted literature discovery and analysis involves a structured approach to efficiently navigate and synthesize vast amounts of information. The first step is to develop a search strategy, which involves defining the scope and keywords for your research. This ensures that your search is focused and relevant. Next, explore the various flavors of literature search tools available, each offering unique features to help you screen and triangulate your results. This step is crucial for filtering out irrelevant information and honing in on the most pertinent studies.</a:t>
            </a:r>
            <a:endParaRPr>
              <a:solidFill>
                <a:srgbClr val="11223D"/>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1223D"/>
                </a:solidFill>
              </a:rPr>
              <a:t>Once you have a curated list of literature, organize the selected works into a matrix. This helps in systematically analyzing the content to identify patterns and gaps in the existing research. By visualizing the data in this way, you can more easily spot trends and areas that require further investigation.</a:t>
            </a:r>
            <a:endParaRPr>
              <a:solidFill>
                <a:srgbClr val="11223D"/>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1223D"/>
                </a:solidFill>
              </a:rPr>
              <a:t>The final steps involve synthesizing and writing your findings, followed by a thorough revision. Synthesis involves integrating the insights from your analysis into a coherent narrative, while revision ensures that your work is polished and free of errors. This comprehensive approach leverages AI to streamline the literature review process, making it more efficient and effective.</a:t>
            </a:r>
            <a:endParaRPr>
              <a:solidFill>
                <a:srgbClr val="11223D"/>
              </a:solidFill>
            </a:endParaRPr>
          </a:p>
          <a:p>
            <a:pPr indent="0" lvl="0" marL="0" rtl="0" algn="l">
              <a:lnSpc>
                <a:spcPct val="100000"/>
              </a:lnSpc>
              <a:spcBef>
                <a:spcPts val="1200"/>
              </a:spcBef>
              <a:spcAft>
                <a:spcPts val="0"/>
              </a:spcAft>
              <a:buSzPts val="1100"/>
              <a:buNone/>
            </a:pPr>
            <a:r>
              <a:t/>
            </a:r>
            <a:endParaRPr>
              <a:solidFill>
                <a:srgbClr val="11223D"/>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904fd917d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8904fd917d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https://www.freepik.com/free-vector/robot-doing-repeatable-tasks-with-lot-folders-magnifier-robotic-process-automation-service-robots-profit-automated-processing-concept_11668590.htm#fromView=search&amp;page=1&amp;position=41&amp;uuid=11d7abbf-83e8-4909-be81-65f14a520648</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the quest to mitigate gaps in the literature discovery process, leveraging AI Research Assistants, literature databases like PubMed or library databases, and Google Scholar plays a pivotal role. </a:t>
            </a:r>
            <a:br>
              <a:rPr lang="en"/>
            </a:br>
            <a:br>
              <a:rPr lang="en"/>
            </a:br>
            <a:r>
              <a:rPr lang="en"/>
              <a:t>AI Research Assistants, with their advanced algorithms, can swiftly analyze vast amounts of data, identify relevant studies, and even suggest new research directions, significantly reducing the time researchers spend on manual searches. </a:t>
            </a:r>
            <a:br>
              <a:rPr lang="en"/>
            </a:br>
            <a:br>
              <a:rPr lang="en"/>
            </a:br>
            <a:r>
              <a:rPr lang="en"/>
              <a:t>Literature databases such as PubMed and various library databases offer comprehensive and curated collections of peer-reviewed articles, ensuring that researchers have access to high-quality and reliable sources.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Meanwhile, Google Scholar provides a broad and accessible platform for discovering scholarly articles across disciplines, making it easier for researchers to find pertinent literature and stay updated with the latest advancements in their fields. </a:t>
            </a:r>
            <a:br>
              <a:rPr lang="en"/>
            </a:br>
            <a:br>
              <a:rPr lang="en"/>
            </a:br>
            <a:r>
              <a:rPr lang="en"/>
              <a:t>Together, these tools create a robust framework that enhances the efficiency and effectiveness of the literature discovery process, bridging gaps and fostering a more connected and informed research community.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AI assistance in library tools is revolutionizing the way researchers access and analyze information, with the JSTOR AI extension currently in beta testing serving as a prime example. This innovative tool integrates generative AI to enhance the research experience, allowing users to delve deeper into JSTOR’s extensive corpus.</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By employing natural language processing, the extension enables more intuitive searches, providing relevant results that go beyond traditional keyword matching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Once a search is conducted, the AI tool assists in evaluating and exploring content by highlighting key points and arguments, making it easier to assess the relevance of the material.</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This feature is particularly useful for skimming through large volumes of text to find pertinent information quickly</a:t>
            </a:r>
            <a:r>
              <a:rPr baseline="30000" lang="en" u="sng">
                <a:solidFill>
                  <a:schemeClr val="hlink"/>
                </a:solidFill>
                <a:hlinkClick r:id="rId6"/>
              </a:rPr>
              <a:t>1</a:t>
            </a:r>
            <a:r>
              <a:rPr lang="en">
                <a:solidFill>
                  <a:schemeClr val="dk1"/>
                </a:solidFill>
              </a:rPr>
              <a:t>.</a:t>
            </a:r>
            <a:r>
              <a:rPr lang="en">
                <a:solidFill>
                  <a:schemeClr val="dk1"/>
                </a:solidFill>
                <a:uFill>
                  <a:noFill/>
                </a:uFill>
                <a:hlinkClick r:id="rId7">
                  <a:extLst>
                    <a:ext uri="{A12FA001-AC4F-418D-AE19-62706E023703}">
                      <ahyp:hlinkClr val="tx"/>
                    </a:ext>
                  </a:extLst>
                </a:hlinkClick>
              </a:rPr>
              <a:t> </a:t>
            </a:r>
            <a:r>
              <a:rPr lang="en" u="sng">
                <a:solidFill>
                  <a:schemeClr val="hlink"/>
                </a:solidFill>
                <a:hlinkClick r:id="rId8"/>
              </a:rPr>
              <a:t>Additionally, the tool supports users in discovering related topics and enriching their research with similar content from JSTOR’s vast database</a:t>
            </a:r>
            <a:r>
              <a:rPr baseline="30000" lang="en" u="sng">
                <a:solidFill>
                  <a:schemeClr val="hlink"/>
                </a:solidFill>
                <a:hlinkClick r:id="rId9"/>
              </a:rPr>
              <a:t>2</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interactive nature of the JSTOR AI extension also allows for a conversational approach to research.</a:t>
            </a:r>
            <a:r>
              <a:rPr lang="en">
                <a:solidFill>
                  <a:schemeClr val="dk1"/>
                </a:solidFill>
                <a:uFill>
                  <a:noFill/>
                </a:uFill>
                <a:hlinkClick r:id="rId10">
                  <a:extLst>
                    <a:ext uri="{A12FA001-AC4F-418D-AE19-62706E023703}">
                      <ahyp:hlinkClr val="tx"/>
                    </a:ext>
                  </a:extLst>
                </a:hlinkClick>
              </a:rPr>
              <a:t> </a:t>
            </a:r>
            <a:r>
              <a:rPr lang="en" u="sng">
                <a:solidFill>
                  <a:schemeClr val="hlink"/>
                </a:solidFill>
                <a:hlinkClick r:id="rId11"/>
              </a:rPr>
              <a:t>Users can ask questions in natural language and receive quick, accurate answers, facilitating a more dynamic and engaging research process</a:t>
            </a:r>
            <a:r>
              <a:rPr baseline="30000" lang="en" u="sng">
                <a:solidFill>
                  <a:schemeClr val="hlink"/>
                </a:solidFill>
                <a:hlinkClick r:id="rId12"/>
              </a:rPr>
              <a:t>2</a:t>
            </a:r>
            <a:r>
              <a:rPr lang="en">
                <a:solidFill>
                  <a:schemeClr val="dk1"/>
                </a:solidFill>
              </a:rPr>
              <a:t>. This beta tool exemplifies how AI can streamline literature discovery and analysis, making academic research more efficient and effective.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96692e05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96692e05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 sz="1100" u="none" strike="noStrike">
                <a:solidFill>
                  <a:srgbClr val="000000"/>
                </a:solidFill>
                <a:latin typeface="Arial"/>
                <a:ea typeface="Arial"/>
                <a:cs typeface="Arial"/>
                <a:sym typeface="Arial"/>
              </a:rPr>
              <a:t>Now that we’ve talked about models and corpora - we wanted to shine a </a:t>
            </a:r>
            <a:r>
              <a:rPr b="1" i="1" lang="en" sz="1100" u="none" strike="noStrike">
                <a:solidFill>
                  <a:srgbClr val="000000"/>
                </a:solidFill>
                <a:latin typeface="Arial"/>
                <a:ea typeface="Arial"/>
                <a:cs typeface="Arial"/>
                <a:sym typeface="Arial"/>
              </a:rPr>
              <a:t>spotlight on</a:t>
            </a:r>
            <a:r>
              <a:rPr b="0" i="0" lang="en" sz="1100" u="none" strike="noStrike">
                <a:solidFill>
                  <a:srgbClr val="000000"/>
                </a:solidFill>
                <a:latin typeface="Arial"/>
                <a:ea typeface="Arial"/>
                <a:cs typeface="Arial"/>
                <a:sym typeface="Arial"/>
              </a:rPr>
              <a:t> </a:t>
            </a:r>
            <a:r>
              <a:rPr b="1" i="0" lang="en" sz="1100" u="none" strike="noStrike">
                <a:solidFill>
                  <a:srgbClr val="000000"/>
                </a:solidFill>
                <a:latin typeface="Arial"/>
                <a:ea typeface="Arial"/>
                <a:cs typeface="Arial"/>
                <a:sym typeface="Arial"/>
              </a:rPr>
              <a:t>Semantic Scholar, </a:t>
            </a:r>
            <a:r>
              <a:rPr b="0" i="0" lang="en" sz="1100" u="none" strike="noStrike">
                <a:solidFill>
                  <a:srgbClr val="000000"/>
                </a:solidFill>
                <a:latin typeface="Arial"/>
                <a:ea typeface="Arial"/>
                <a:cs typeface="Arial"/>
                <a:sym typeface="Arial"/>
              </a:rPr>
              <a:t>a corpus that underpins </a:t>
            </a:r>
            <a:r>
              <a:rPr b="0" i="0" lang="en" sz="1100" u="sng">
                <a:solidFill>
                  <a:srgbClr val="000000"/>
                </a:solidFill>
                <a:latin typeface="Arial"/>
                <a:ea typeface="Arial"/>
                <a:cs typeface="Arial"/>
                <a:sym typeface="Arial"/>
              </a:rPr>
              <a:t>many</a:t>
            </a:r>
            <a:r>
              <a:rPr b="0" i="0" lang="en" sz="1100" u="none" strike="noStrike">
                <a:solidFill>
                  <a:srgbClr val="000000"/>
                </a:solidFill>
                <a:latin typeface="Arial"/>
                <a:ea typeface="Arial"/>
                <a:cs typeface="Arial"/>
                <a:sym typeface="Arial"/>
              </a:rPr>
              <a:t> AI tools designed for and  marketed to academics - so it’s useful to know a bit about this entity:</a:t>
            </a:r>
            <a:endParaRPr/>
          </a:p>
          <a:p>
            <a:pPr indent="-298450" lvl="0" marL="457200" rtl="0" algn="l">
              <a:lnSpc>
                <a:spcPct val="100000"/>
              </a:lnSpc>
              <a:spcBef>
                <a:spcPts val="0"/>
              </a:spcBef>
              <a:spcAft>
                <a:spcPts val="0"/>
              </a:spcAft>
              <a:buSzPts val="1100"/>
              <a:buFont typeface="Arial"/>
              <a:buChar char="•"/>
            </a:pPr>
            <a:br>
              <a:rPr lang="en"/>
            </a:br>
            <a:r>
              <a:rPr b="0" i="0" lang="en" sz="1100" u="none" strike="noStrike">
                <a:solidFill>
                  <a:srgbClr val="000000"/>
                </a:solidFill>
                <a:latin typeface="Arial"/>
                <a:ea typeface="Arial"/>
                <a:cs typeface="Arial"/>
                <a:sym typeface="Arial"/>
              </a:rPr>
              <a:t>Semantic Scholar was established in 2015 and it is run by the nonprofit Allen Institute for AI based in Seattle.</a:t>
            </a:r>
            <a:endParaRPr/>
          </a:p>
          <a:p>
            <a:pPr indent="-298450" lvl="0" marL="457200" rtl="0" algn="l">
              <a:lnSpc>
                <a:spcPct val="100000"/>
              </a:lnSpc>
              <a:spcBef>
                <a:spcPts val="0"/>
              </a:spcBef>
              <a:spcAft>
                <a:spcPts val="0"/>
              </a:spcAft>
              <a:buSzPts val="1100"/>
              <a:buFont typeface="Arial"/>
              <a:buChar char="•"/>
            </a:pPr>
            <a:r>
              <a:rPr b="0" i="0" lang="en" sz="1100" u="none" strike="noStrike">
                <a:solidFill>
                  <a:srgbClr val="000000"/>
                </a:solidFill>
                <a:latin typeface="Arial"/>
                <a:ea typeface="Arial"/>
                <a:cs typeface="Arial"/>
                <a:sym typeface="Arial"/>
              </a:rPr>
              <a:t>According to </a:t>
            </a:r>
            <a:r>
              <a:rPr b="0" i="1" lang="en" sz="1100" u="sng" strike="noStrike">
                <a:solidFill>
                  <a:srgbClr val="000000"/>
                </a:solidFill>
                <a:latin typeface="Arial"/>
                <a:ea typeface="Arial"/>
                <a:cs typeface="Arial"/>
                <a:sym typeface="Arial"/>
              </a:rPr>
              <a:t>them</a:t>
            </a:r>
            <a:r>
              <a:rPr b="0" i="0" lang="en" sz="1100" u="none" strike="noStrike">
                <a:solidFill>
                  <a:srgbClr val="000000"/>
                </a:solidFill>
                <a:latin typeface="Arial"/>
                <a:ea typeface="Arial"/>
                <a:cs typeface="Arial"/>
                <a:sym typeface="Arial"/>
              </a:rPr>
              <a:t>, “</a:t>
            </a:r>
            <a:r>
              <a:rPr b="0" i="0" lang="en" sz="1100" u="none" strike="noStrike">
                <a:solidFill>
                  <a:srgbClr val="11223D"/>
                </a:solidFill>
                <a:latin typeface="Arial"/>
                <a:ea typeface="Arial"/>
                <a:cs typeface="Arial"/>
                <a:sym typeface="Arial"/>
              </a:rPr>
              <a:t>Semantic Scholar provides </a:t>
            </a:r>
            <a:r>
              <a:rPr b="1" i="0" lang="en" sz="1100" u="none" strike="noStrike">
                <a:solidFill>
                  <a:srgbClr val="11223D"/>
                </a:solidFill>
                <a:latin typeface="Arial"/>
                <a:ea typeface="Arial"/>
                <a:cs typeface="Arial"/>
                <a:sym typeface="Arial"/>
              </a:rPr>
              <a:t>free</a:t>
            </a:r>
            <a:r>
              <a:rPr b="0" i="0" lang="en" sz="1100" u="none" strike="noStrike">
                <a:solidFill>
                  <a:srgbClr val="11223D"/>
                </a:solidFill>
                <a:latin typeface="Arial"/>
                <a:ea typeface="Arial"/>
                <a:cs typeface="Arial"/>
                <a:sym typeface="Arial"/>
              </a:rPr>
              <a:t>, AI-driven search and discovery tools, and open resources for the global research community.”</a:t>
            </a:r>
            <a:endParaRPr b="0" i="0" sz="1100" u="none" strike="noStrike">
              <a:solidFill>
                <a:srgbClr val="000000"/>
              </a:solidFill>
              <a:latin typeface="Roboto"/>
              <a:ea typeface="Roboto"/>
              <a:cs typeface="Roboto"/>
              <a:sym typeface="Roboto"/>
            </a:endParaRPr>
          </a:p>
          <a:p>
            <a:pPr indent="-298450" lvl="0" marL="457200" rtl="0" algn="l">
              <a:lnSpc>
                <a:spcPct val="100000"/>
              </a:lnSpc>
              <a:spcBef>
                <a:spcPts val="0"/>
              </a:spcBef>
              <a:spcAft>
                <a:spcPts val="0"/>
              </a:spcAft>
              <a:buSzPts val="1100"/>
              <a:buFont typeface="Arial"/>
              <a:buChar char="•"/>
            </a:pPr>
            <a:r>
              <a:rPr b="0" i="0" lang="en" sz="1100" u="none" strike="noStrike">
                <a:solidFill>
                  <a:srgbClr val="11223D"/>
                </a:solidFill>
                <a:latin typeface="Arial"/>
                <a:ea typeface="Arial"/>
                <a:cs typeface="Arial"/>
                <a:sym typeface="Arial"/>
              </a:rPr>
              <a:t>They index over 200 million academic papers sourced from </a:t>
            </a:r>
            <a:r>
              <a:rPr b="0" i="0" lang="en" sz="1100" u="sng" strike="noStrike">
                <a:solidFill>
                  <a:srgbClr val="2200CC"/>
                </a:solidFill>
                <a:latin typeface="Arial"/>
                <a:ea typeface="Arial"/>
                <a:cs typeface="Arial"/>
                <a:sym typeface="Arial"/>
                <a:hlinkClick r:id="rId2">
                  <a:extLst>
                    <a:ext uri="{A12FA001-AC4F-418D-AE19-62706E023703}">
                      <ahyp:hlinkClr val="tx"/>
                    </a:ext>
                  </a:extLst>
                </a:hlinkClick>
              </a:rPr>
              <a:t>publisher partnerships</a:t>
            </a:r>
            <a:r>
              <a:rPr b="0" i="0" lang="en" sz="1100" u="none" strike="noStrike">
                <a:solidFill>
                  <a:srgbClr val="11223D"/>
                </a:solidFill>
                <a:latin typeface="Arial"/>
                <a:ea typeface="Arial"/>
                <a:cs typeface="Arial"/>
                <a:sym typeface="Arial"/>
              </a:rPr>
              <a:t>, data providers, and web crawls.</a:t>
            </a:r>
            <a:endParaRPr b="0" i="0" sz="1100" u="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b="0" i="0" lang="en" sz="1100" u="none" strike="noStrike">
                <a:solidFill>
                  <a:srgbClr val="11223D"/>
                </a:solidFill>
                <a:latin typeface="Arial"/>
                <a:ea typeface="Arial"/>
                <a:cs typeface="Arial"/>
                <a:sym typeface="Arial"/>
              </a:rPr>
              <a:t>When thinking about the </a:t>
            </a:r>
            <a:r>
              <a:rPr b="1" i="0" lang="en" sz="1100" u="none" strike="noStrike">
                <a:solidFill>
                  <a:srgbClr val="11223D"/>
                </a:solidFill>
                <a:latin typeface="Arial"/>
                <a:ea typeface="Arial"/>
                <a:cs typeface="Arial"/>
                <a:sym typeface="Arial"/>
              </a:rPr>
              <a:t>bias</a:t>
            </a:r>
            <a:r>
              <a:rPr b="0" i="0" lang="en" sz="1100" u="none" strike="noStrike">
                <a:solidFill>
                  <a:srgbClr val="11223D"/>
                </a:solidFill>
                <a:latin typeface="Arial"/>
                <a:ea typeface="Arial"/>
                <a:cs typeface="Arial"/>
                <a:sym typeface="Arial"/>
              </a:rPr>
              <a:t> AI tools may introduce into your research endeavors, because many AI tools designed for and marketed towards an academic audience use the semantic scholar corpus as their data, consider that they focus on:</a:t>
            </a:r>
            <a:endParaRPr b="0" i="0" sz="1100" u="none" strike="noStrike">
              <a:solidFill>
                <a:srgbClr val="11223D"/>
              </a:solidFill>
              <a:latin typeface="Arial"/>
              <a:ea typeface="Arial"/>
              <a:cs typeface="Arial"/>
              <a:sym typeface="Arial"/>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11223D"/>
                </a:solidFill>
                <a:latin typeface="Arial"/>
                <a:ea typeface="Arial"/>
                <a:cs typeface="Arial"/>
                <a:sym typeface="Arial"/>
              </a:rPr>
              <a:t>academic journal </a:t>
            </a:r>
            <a:r>
              <a:rPr b="1" i="0" lang="en" sz="1100" u="none" strike="noStrike">
                <a:solidFill>
                  <a:srgbClr val="11223D"/>
                </a:solidFill>
                <a:latin typeface="Arial"/>
                <a:ea typeface="Arial"/>
                <a:cs typeface="Arial"/>
                <a:sym typeface="Arial"/>
              </a:rPr>
              <a:t>articles and preprints </a:t>
            </a:r>
            <a:r>
              <a:rPr b="0" i="0" lang="en" sz="1100" u="none" strike="noStrike">
                <a:solidFill>
                  <a:srgbClr val="11223D"/>
                </a:solidFill>
                <a:latin typeface="Arial"/>
                <a:ea typeface="Arial"/>
                <a:cs typeface="Arial"/>
                <a:sym typeface="Arial"/>
              </a:rPr>
              <a:t>not books, datasets, patents, etc. </a:t>
            </a:r>
            <a:endParaRPr b="0" i="0" sz="1100" u="none" strike="noStrike">
              <a:solidFill>
                <a:srgbClr val="11223D"/>
              </a:solidFill>
              <a:latin typeface="Arial"/>
              <a:ea typeface="Arial"/>
              <a:cs typeface="Arial"/>
              <a:sym typeface="Arial"/>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11223D"/>
                </a:solidFill>
                <a:latin typeface="Arial"/>
                <a:ea typeface="Arial"/>
                <a:cs typeface="Arial"/>
                <a:sym typeface="Arial"/>
              </a:rPr>
              <a:t>Their corpus is primarily in </a:t>
            </a:r>
            <a:r>
              <a:rPr b="1" i="0" lang="en" sz="1100" u="none" strike="noStrike">
                <a:solidFill>
                  <a:srgbClr val="11223D"/>
                </a:solidFill>
                <a:latin typeface="Arial"/>
                <a:ea typeface="Arial"/>
                <a:cs typeface="Arial"/>
                <a:sym typeface="Arial"/>
              </a:rPr>
              <a:t>English</a:t>
            </a:r>
            <a:r>
              <a:rPr b="0" i="0" lang="en" sz="1100" u="none" strike="noStrike">
                <a:solidFill>
                  <a:srgbClr val="11223D"/>
                </a:solidFill>
                <a:latin typeface="Arial"/>
                <a:ea typeface="Arial"/>
                <a:cs typeface="Arial"/>
                <a:sym typeface="Arial"/>
              </a:rPr>
              <a:t>, though they would like to support other languages in the future</a:t>
            </a:r>
            <a:endParaRPr b="0" i="0" sz="1100" u="none" strike="noStrike">
              <a:solidFill>
                <a:srgbClr val="11223D"/>
              </a:solidFill>
              <a:latin typeface="Arial"/>
              <a:ea typeface="Arial"/>
              <a:cs typeface="Arial"/>
              <a:sym typeface="Arial"/>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11223D"/>
                </a:solidFill>
                <a:latin typeface="Arial"/>
                <a:ea typeface="Arial"/>
                <a:cs typeface="Arial"/>
                <a:sym typeface="Arial"/>
              </a:rPr>
              <a:t>And finally they are very clear in their FAQs that they started with a focus on all fields of </a:t>
            </a:r>
            <a:r>
              <a:rPr b="1" i="1" lang="en" sz="1100" u="none" strike="noStrike">
                <a:solidFill>
                  <a:srgbClr val="11223D"/>
                </a:solidFill>
                <a:latin typeface="Arial"/>
                <a:ea typeface="Arial"/>
                <a:cs typeface="Arial"/>
                <a:sym typeface="Arial"/>
              </a:rPr>
              <a:t>science</a:t>
            </a:r>
            <a:r>
              <a:rPr b="1" i="0" lang="en" sz="1100" u="none" strike="noStrike">
                <a:solidFill>
                  <a:srgbClr val="11223D"/>
                </a:solidFill>
                <a:latin typeface="Arial"/>
                <a:ea typeface="Arial"/>
                <a:cs typeface="Arial"/>
                <a:sym typeface="Arial"/>
              </a:rPr>
              <a:t> so science materials are heavily represented, </a:t>
            </a:r>
            <a:r>
              <a:rPr b="0" i="0" lang="en" sz="1100" u="none" strike="noStrike">
                <a:solidFill>
                  <a:srgbClr val="11223D"/>
                </a:solidFill>
                <a:latin typeface="Arial"/>
                <a:ea typeface="Arial"/>
                <a:cs typeface="Arial"/>
                <a:sym typeface="Arial"/>
              </a:rPr>
              <a:t>and social sciences and humanities are comparatively underrepresented.  </a:t>
            </a:r>
            <a:endParaRPr b="0" i="0" sz="1100" u="none" strike="noStrike">
              <a:solidFill>
                <a:srgbClr val="11223D"/>
              </a:solidFill>
              <a:latin typeface="Arial"/>
              <a:ea typeface="Arial"/>
              <a:cs typeface="Arial"/>
              <a:sym typeface="Aria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8904fd917d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38904fd917d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40b7833a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3840b7833a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 sz="1100" u="none" strike="noStrike">
                <a:solidFill>
                  <a:srgbClr val="000000"/>
                </a:solidFill>
                <a:latin typeface="Roboto"/>
                <a:ea typeface="Roboto"/>
                <a:cs typeface="Roboto"/>
                <a:sym typeface="Roboto"/>
              </a:rPr>
              <a:t>So when you encounter a new AI tool for literature discovery that has chatbot functionality, interrogate it!  Ask: </a:t>
            </a:r>
            <a:endParaRPr/>
          </a:p>
          <a:p>
            <a:pPr indent="-298450" lvl="0" marL="45720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What can you do for free and what can you do with paid accounts?</a:t>
            </a:r>
            <a:endParaRPr/>
          </a:p>
          <a:p>
            <a:pPr indent="-298450" lvl="0" marL="45720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What are the data sources the tools are using? </a:t>
            </a:r>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Many of these tools use the semantic scholar corpus, but others may use this and other data sources (scholarly and non); usually it’s not very clear what the corpus is</a:t>
            </a:r>
            <a:endParaRPr/>
          </a:p>
          <a:p>
            <a:pPr indent="-298450" lvl="0" marL="45720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Some of you might be interested in specifically what models are they relying on</a:t>
            </a:r>
            <a:endParaRPr/>
          </a:p>
          <a:p>
            <a:pPr indent="-298450" lvl="0" marL="45720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And also what other things will this tool do? </a:t>
            </a:r>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Summarize research? </a:t>
            </a:r>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Set up alerts?</a:t>
            </a:r>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Add collaborators to collections or folders?</a:t>
            </a:r>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Cite easily by connecting to zotero </a:t>
            </a:r>
            <a:r>
              <a:rPr b="1" i="0" lang="en" sz="1100" u="none" strike="noStrike">
                <a:solidFill>
                  <a:srgbClr val="000000"/>
                </a:solidFill>
                <a:latin typeface="Roboto"/>
                <a:ea typeface="Roboto"/>
                <a:cs typeface="Roboto"/>
                <a:sym typeface="Roboto"/>
              </a:rPr>
              <a:t>or another reference manager?</a:t>
            </a:r>
            <a:endParaRPr b="0" i="0" sz="1100" u="none" strike="noStrike">
              <a:solidFill>
                <a:srgbClr val="000000"/>
              </a:solidFill>
              <a:latin typeface="Roboto"/>
              <a:ea typeface="Roboto"/>
              <a:cs typeface="Roboto"/>
              <a:sym typeface="Roboto"/>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View citation information in different styles (bibtex, major citation formats)?</a:t>
            </a:r>
            <a:endParaRPr/>
          </a:p>
          <a:p>
            <a:pPr indent="-285750" lvl="1" marL="742950" rtl="0" algn="l">
              <a:lnSpc>
                <a:spcPct val="100000"/>
              </a:lnSpc>
              <a:spcBef>
                <a:spcPts val="0"/>
              </a:spcBef>
              <a:spcAft>
                <a:spcPts val="0"/>
              </a:spcAft>
              <a:buSzPts val="1100"/>
              <a:buFont typeface="Arial"/>
              <a:buChar char="•"/>
            </a:pPr>
            <a:r>
              <a:rPr b="0" i="0" lang="en" sz="1100" u="none" strike="noStrike">
                <a:solidFill>
                  <a:srgbClr val="000000"/>
                </a:solidFill>
                <a:latin typeface="Roboto"/>
                <a:ea typeface="Roboto"/>
                <a:cs typeface="Roboto"/>
                <a:sym typeface="Roboto"/>
              </a:rPr>
              <a:t>And keep in mind these tools add and tweak functionality regularly</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96692e0569_2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g396692e0569_2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Finally, there are tools that live outside of library databases that are </a:t>
            </a:r>
            <a:r>
              <a:rPr b="1" lang="en" u="sng">
                <a:solidFill>
                  <a:schemeClr val="dk1"/>
                </a:solidFill>
                <a:latin typeface="Roboto"/>
                <a:ea typeface="Roboto"/>
                <a:cs typeface="Roboto"/>
                <a:sym typeface="Roboto"/>
              </a:rPr>
              <a:t>solely</a:t>
            </a:r>
            <a:r>
              <a:rPr b="1" lang="en">
                <a:solidFill>
                  <a:schemeClr val="dk1"/>
                </a:solidFill>
                <a:latin typeface="Roboto"/>
                <a:ea typeface="Roboto"/>
                <a:cs typeface="Roboto"/>
                <a:sym typeface="Roboto"/>
              </a:rPr>
              <a:t> for literature discovery (they aren’t chatbots).  </a:t>
            </a:r>
            <a:r>
              <a:rPr lang="en">
                <a:solidFill>
                  <a:schemeClr val="dk1"/>
                </a:solidFill>
                <a:latin typeface="Roboto"/>
                <a:ea typeface="Roboto"/>
                <a:cs typeface="Roboto"/>
                <a:sym typeface="Roboto"/>
              </a:rPr>
              <a:t>Several tools do this kind of work: Research Rabbit / Litmaps / ConnectedPapers.  I want to be clear:  these tools are not necessarily better than just using library databases, but they are new AI tools!  They may be fun and engaging!</a:t>
            </a:r>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Alright - so you come to a tool like this that you want to use for lit discovery:  Consider, the same questions again:</a:t>
            </a:r>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What can you do for free?  What can you do with paid accounts?</a:t>
            </a:r>
            <a:endParaRPr/>
          </a:p>
          <a:p>
            <a:pPr indent="-298450" lvl="1" marL="9144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Litmaps and ConnectedPapers are both cool but they are really limited unless you have a PAID account</a:t>
            </a:r>
            <a:endParaRPr/>
          </a:p>
          <a:p>
            <a:pPr indent="-298450" lvl="1" marL="914400" rtl="0" algn="l">
              <a:lnSpc>
                <a:spcPct val="115000"/>
              </a:lnSpc>
              <a:spcBef>
                <a:spcPts val="0"/>
              </a:spcBef>
              <a:spcAft>
                <a:spcPts val="0"/>
              </a:spcAft>
              <a:buClr>
                <a:schemeClr val="dk1"/>
              </a:buClr>
              <a:buSzPts val="1100"/>
              <a:buFont typeface="Roboto"/>
              <a:buChar char="○"/>
            </a:pPr>
            <a:r>
              <a:rPr b="1" lang="en">
                <a:solidFill>
                  <a:schemeClr val="dk1"/>
                </a:solidFill>
                <a:latin typeface="Roboto"/>
                <a:ea typeface="Roboto"/>
                <a:cs typeface="Roboto"/>
                <a:sym typeface="Roboto"/>
              </a:rPr>
              <a:t>Research Rabbit is FREE so I will focus on that in a moment</a:t>
            </a:r>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What are the data sources the tools are using? </a:t>
            </a:r>
            <a:endParaRPr/>
          </a:p>
          <a:p>
            <a:pPr indent="-298450" lvl="1" marL="9144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Many of these tools use the semantic scholar corpus, but others may use this and other data sources (scholarly and non)</a:t>
            </a:r>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What other things will this tool do?</a:t>
            </a:r>
            <a:endParaRPr/>
          </a:p>
          <a:p>
            <a:pPr indent="-298450" lvl="1" marL="9144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Set up alerts?</a:t>
            </a:r>
            <a:endParaRPr/>
          </a:p>
          <a:p>
            <a:pPr indent="-298450" lvl="1" marL="9144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Add collaborators to collections or folders?</a:t>
            </a:r>
            <a:endParaRPr/>
          </a:p>
          <a:p>
            <a:pPr indent="-298450" lvl="1" marL="9144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Cite easily by connecting to zotero or another citation manager?</a:t>
            </a:r>
            <a:endParaRPr/>
          </a:p>
          <a:p>
            <a:pPr indent="-298450" lvl="1" marL="9144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View citation information in different styles (bibtex, major citation formats)?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Now it’s time for a deep dive on ResearchRabbit in particular.</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298450" lvl="0" marL="457200" rtl="0" algn="l">
              <a:lnSpc>
                <a:spcPct val="100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RR is a </a:t>
            </a:r>
            <a:r>
              <a:rPr b="1" lang="en">
                <a:solidFill>
                  <a:schemeClr val="dk1"/>
                </a:solidFill>
                <a:latin typeface="Roboto"/>
                <a:ea typeface="Roboto"/>
                <a:cs typeface="Roboto"/>
                <a:sym typeface="Roboto"/>
              </a:rPr>
              <a:t>free tool</a:t>
            </a:r>
            <a:r>
              <a:rPr lang="en">
                <a:solidFill>
                  <a:schemeClr val="dk1"/>
                </a:solidFill>
                <a:latin typeface="Roboto"/>
                <a:ea typeface="Roboto"/>
                <a:cs typeface="Roboto"/>
                <a:sym typeface="Roboto"/>
              </a:rPr>
              <a:t> that lets you </a:t>
            </a:r>
            <a:r>
              <a:rPr b="1" lang="en">
                <a:solidFill>
                  <a:schemeClr val="dk1"/>
                </a:solidFill>
                <a:latin typeface="Roboto"/>
                <a:ea typeface="Roboto"/>
                <a:cs typeface="Roboto"/>
                <a:sym typeface="Roboto"/>
              </a:rPr>
              <a:t>discover</a:t>
            </a:r>
            <a:r>
              <a:rPr lang="en">
                <a:solidFill>
                  <a:schemeClr val="dk1"/>
                </a:solidFill>
                <a:latin typeface="Roboto"/>
                <a:ea typeface="Roboto"/>
                <a:cs typeface="Roboto"/>
                <a:sym typeface="Roboto"/>
              </a:rPr>
              <a:t> AND </a:t>
            </a:r>
            <a:r>
              <a:rPr b="1" lang="en">
                <a:solidFill>
                  <a:schemeClr val="dk1"/>
                </a:solidFill>
                <a:latin typeface="Roboto"/>
                <a:ea typeface="Roboto"/>
                <a:cs typeface="Roboto"/>
                <a:sym typeface="Roboto"/>
              </a:rPr>
              <a:t>visualize</a:t>
            </a:r>
            <a:r>
              <a:rPr lang="en">
                <a:solidFill>
                  <a:schemeClr val="dk1"/>
                </a:solidFill>
                <a:latin typeface="Roboto"/>
                <a:ea typeface="Roboto"/>
                <a:cs typeface="Roboto"/>
                <a:sym typeface="Roboto"/>
              </a:rPr>
              <a:t> literature AND people - they claim it’s like Spotify for research</a:t>
            </a:r>
            <a:endParaRPr>
              <a:solidFill>
                <a:schemeClr val="dk1"/>
              </a:solidFill>
              <a:latin typeface="Roboto"/>
              <a:ea typeface="Roboto"/>
              <a:cs typeface="Roboto"/>
              <a:sym typeface="Roboto"/>
            </a:endParaRPr>
          </a:p>
          <a:p>
            <a:pPr indent="-298450" lvl="0" marL="457200" rtl="0" algn="l">
              <a:lnSpc>
                <a:spcPct val="100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It lets you create alerts for content</a:t>
            </a:r>
            <a:endParaRPr>
              <a:solidFill>
                <a:schemeClr val="dk1"/>
              </a:solidFill>
              <a:latin typeface="Roboto"/>
              <a:ea typeface="Roboto"/>
              <a:cs typeface="Roboto"/>
              <a:sym typeface="Roboto"/>
            </a:endParaRPr>
          </a:p>
          <a:p>
            <a:pPr indent="-298450" lvl="0" marL="457200" rtl="0" algn="l">
              <a:lnSpc>
                <a:spcPct val="100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It lets you share collections with collaborators</a:t>
            </a:r>
            <a:endParaRPr>
              <a:solidFill>
                <a:schemeClr val="dk1"/>
              </a:solidFill>
              <a:latin typeface="Roboto"/>
              <a:ea typeface="Roboto"/>
              <a:cs typeface="Roboto"/>
              <a:sym typeface="Roboto"/>
            </a:endParaRPr>
          </a:p>
          <a:p>
            <a:pPr indent="-298450" lvl="0" marL="457200" rtl="0" algn="l">
              <a:lnSpc>
                <a:spcPct val="100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It integrates with zotero (a free, open source reference manager)</a:t>
            </a:r>
            <a:endParaRPr>
              <a:solidFill>
                <a:schemeClr val="dk1"/>
              </a:solidFill>
              <a:latin typeface="Roboto"/>
              <a:ea typeface="Roboto"/>
              <a:cs typeface="Roboto"/>
              <a:sym typeface="Roboto"/>
            </a:endParaRPr>
          </a:p>
          <a:p>
            <a:pPr indent="-298450" lvl="0" marL="457200" rtl="0" algn="l">
              <a:lnSpc>
                <a:spcPct val="100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WHAT IS THE CORPUS - not clear. I emailed the RR team and have yet to hear back (but others in library land have also pointed out that it is not clear what the corpus is).  It feels like the tool skews to journal articles rather than books and English language content.  But it’s unclear what the other elements of the corpus are because they haven’t shared that with us!</a:t>
            </a:r>
            <a:endParaRPr b="1">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
                <a:solidFill>
                  <a:schemeClr val="dk1"/>
                </a:solidFill>
                <a:latin typeface="Roboto"/>
                <a:ea typeface="Roboto"/>
                <a:cs typeface="Roboto"/>
                <a:sym typeface="Roboto"/>
              </a:rPr>
              <a:t>The handout has links to step-by-step instructions to get you started with ResearchRabbit, but we will do a hands on demo in a few minutes.</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solidFill>
                  <a:schemeClr val="dk1"/>
                </a:solidFill>
              </a:rPr>
              <a:t>Here’s what ResearchRabbit looks like when you get into exploring the tool.  </a:t>
            </a:r>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ResearchRabbit uses vertical panels that appear to the right as you click things that expand them.</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 the left, you have a dashboard where you can organize research into categories (bold) &amp; collections (with the red dot)</a:t>
            </a:r>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Here I have a collection called Social Work inside a category called</a:t>
            </a:r>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Collections are like folders that can exist within your categories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solidFill>
                  <a:schemeClr val="dk1"/>
                </a:solidFill>
              </a:rPr>
              <a:t>Here’s what ResearchRabbit looks like when you get into exploring the tool.  </a:t>
            </a:r>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ResearchRabbit uses vertical panels that appear to the right as you click things that expand them.</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 the left, you have a dashboard where you can organize research into categories (bold) &amp; collections (with the red dot)</a:t>
            </a:r>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Here I have a collection called Social Work inside a category called</a:t>
            </a:r>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Collections are like folders that can exist within your categories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1" marL="914400" rtl="0" algn="l">
              <a:lnSpc>
                <a:spcPct val="115000"/>
              </a:lnSpc>
              <a:spcBef>
                <a:spcPts val="0"/>
              </a:spcBef>
              <a:spcAft>
                <a:spcPts val="0"/>
              </a:spcAft>
              <a:buClr>
                <a:schemeClr val="dk1"/>
              </a:buClr>
              <a:buSzPts val="1100"/>
              <a:buChar char="○"/>
            </a:pPr>
            <a:r>
              <a:t/>
            </a:r>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Once you add several thematically linked papers to a collection, you ask it to find more content (in the context of what else is in the collection) </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You can then click on an author or paper and it will find more like whatever you clicked on (based on it and what else is in its network).</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Panels just keep opening up as you click on similar work, related authors, particular authors, particular titles etc.  </a:t>
            </a:r>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can definitely be a rabbit hole!</a:t>
            </a:r>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Okay so let’s dive into Research Rabbit for real!  I will demo these steps and you can follow along on your own computers OR just watch my demo.  I’ll stick around after this session if anything didn’t work or was weird or if you just want to talk more about RR. </a:t>
            </a:r>
            <a:endParaRPr/>
          </a:p>
          <a:p>
            <a:pPr indent="0" lvl="0" marL="0" rtl="0" algn="l">
              <a:lnSpc>
                <a:spcPct val="100000"/>
              </a:lnSpc>
              <a:spcBef>
                <a:spcPts val="0"/>
              </a:spcBef>
              <a:spcAft>
                <a:spcPts val="0"/>
              </a:spcAft>
              <a:buSzPts val="1100"/>
              <a:buNone/>
            </a:pPr>
            <a:r>
              <a:t/>
            </a:r>
            <a:endParaRPr>
              <a:solidFill>
                <a:srgbClr val="212B36"/>
              </a:solidFill>
              <a:latin typeface="Arial"/>
              <a:ea typeface="Arial"/>
              <a:cs typeface="Arial"/>
              <a:sym typeface="Arial"/>
            </a:endParaRPr>
          </a:p>
          <a:p>
            <a:pPr indent="0" lvl="0" marL="0" rtl="0" algn="l">
              <a:lnSpc>
                <a:spcPct val="100000"/>
              </a:lnSpc>
              <a:spcBef>
                <a:spcPts val="0"/>
              </a:spcBef>
              <a:spcAft>
                <a:spcPts val="0"/>
              </a:spcAft>
              <a:buSzPts val="1100"/>
              <a:buNone/>
            </a:pPr>
            <a:r>
              <a:rPr lang="en">
                <a:solidFill>
                  <a:srgbClr val="212B36"/>
                </a:solidFill>
                <a:latin typeface="Arial"/>
                <a:ea typeface="Arial"/>
                <a:cs typeface="Arial"/>
                <a:sym typeface="Arial"/>
              </a:rPr>
              <a:t>Demo:</a:t>
            </a:r>
            <a:endParaRPr>
              <a:solidFill>
                <a:srgbClr val="212B36"/>
              </a:solidFill>
              <a:latin typeface="Arial"/>
              <a:ea typeface="Arial"/>
              <a:cs typeface="Arial"/>
              <a:sym typeface="Arial"/>
            </a:endParaRPr>
          </a:p>
          <a:p>
            <a:pPr indent="-298450" lvl="0" marL="457200" rtl="0" algn="l">
              <a:lnSpc>
                <a:spcPct val="100000"/>
              </a:lnSpc>
              <a:spcBef>
                <a:spcPts val="0"/>
              </a:spcBef>
              <a:spcAft>
                <a:spcPts val="0"/>
              </a:spcAft>
              <a:buClr>
                <a:srgbClr val="212B36"/>
              </a:buClr>
              <a:buSzPts val="1100"/>
              <a:buFont typeface="Arial"/>
              <a:buAutoNum type="arabicPeriod"/>
            </a:pPr>
            <a:r>
              <a:rPr lang="en">
                <a:solidFill>
                  <a:srgbClr val="212B36"/>
                </a:solidFill>
                <a:latin typeface="Arial"/>
                <a:ea typeface="Arial"/>
                <a:cs typeface="Arial"/>
                <a:sym typeface="Arial"/>
              </a:rPr>
              <a:t>Get a log on</a:t>
            </a:r>
            <a:endParaRPr>
              <a:solidFill>
                <a:srgbClr val="212B36"/>
              </a:solidFill>
              <a:latin typeface="Arial"/>
              <a:ea typeface="Arial"/>
              <a:cs typeface="Arial"/>
              <a:sym typeface="Arial"/>
            </a:endParaRPr>
          </a:p>
          <a:p>
            <a:pPr indent="-298450" lvl="0" marL="457200" rtl="0" algn="l">
              <a:lnSpc>
                <a:spcPct val="100000"/>
              </a:lnSpc>
              <a:spcBef>
                <a:spcPts val="0"/>
              </a:spcBef>
              <a:spcAft>
                <a:spcPts val="0"/>
              </a:spcAft>
              <a:buClr>
                <a:srgbClr val="212B36"/>
              </a:buClr>
              <a:buSzPts val="1100"/>
              <a:buFont typeface="Arial"/>
              <a:buAutoNum type="arabicPeriod"/>
            </a:pPr>
            <a:r>
              <a:rPr lang="en">
                <a:solidFill>
                  <a:srgbClr val="212B36"/>
                </a:solidFill>
                <a:latin typeface="Arial"/>
                <a:ea typeface="Arial"/>
                <a:cs typeface="Arial"/>
                <a:sym typeface="Arial"/>
              </a:rPr>
              <a:t>Create a category</a:t>
            </a:r>
            <a:endParaRPr>
              <a:solidFill>
                <a:srgbClr val="212B36"/>
              </a:solidFill>
              <a:latin typeface="Arial"/>
              <a:ea typeface="Arial"/>
              <a:cs typeface="Arial"/>
              <a:sym typeface="Arial"/>
            </a:endParaRPr>
          </a:p>
          <a:p>
            <a:pPr indent="-298450" lvl="0" marL="457200" rtl="0" algn="l">
              <a:lnSpc>
                <a:spcPct val="100000"/>
              </a:lnSpc>
              <a:spcBef>
                <a:spcPts val="0"/>
              </a:spcBef>
              <a:spcAft>
                <a:spcPts val="0"/>
              </a:spcAft>
              <a:buClr>
                <a:srgbClr val="212B36"/>
              </a:buClr>
              <a:buSzPts val="1100"/>
              <a:buFont typeface="Arial"/>
              <a:buAutoNum type="arabicPeriod"/>
            </a:pPr>
            <a:r>
              <a:rPr lang="en">
                <a:solidFill>
                  <a:srgbClr val="212B36"/>
                </a:solidFill>
                <a:latin typeface="Arial"/>
                <a:ea typeface="Arial"/>
                <a:cs typeface="Arial"/>
                <a:sym typeface="Arial"/>
              </a:rPr>
              <a:t>Create a collection</a:t>
            </a:r>
            <a:endParaRPr>
              <a:solidFill>
                <a:srgbClr val="212B36"/>
              </a:solidFill>
              <a:latin typeface="Arial"/>
              <a:ea typeface="Arial"/>
              <a:cs typeface="Arial"/>
              <a:sym typeface="Arial"/>
            </a:endParaRPr>
          </a:p>
          <a:p>
            <a:pPr indent="-298450" lvl="0" marL="457200" rtl="0" algn="l">
              <a:lnSpc>
                <a:spcPct val="100000"/>
              </a:lnSpc>
              <a:spcBef>
                <a:spcPts val="0"/>
              </a:spcBef>
              <a:spcAft>
                <a:spcPts val="0"/>
              </a:spcAft>
              <a:buClr>
                <a:srgbClr val="212B36"/>
              </a:buClr>
              <a:buSzPts val="1100"/>
              <a:buFont typeface="Arial"/>
              <a:buAutoNum type="arabicPeriod"/>
            </a:pPr>
            <a:r>
              <a:rPr lang="en">
                <a:solidFill>
                  <a:srgbClr val="212B36"/>
                </a:solidFill>
                <a:latin typeface="Arial"/>
                <a:ea typeface="Arial"/>
                <a:cs typeface="Arial"/>
                <a:sym typeface="Arial"/>
              </a:rPr>
              <a:t>Add 5 papers</a:t>
            </a:r>
            <a:endParaRPr>
              <a:solidFill>
                <a:srgbClr val="212B36"/>
              </a:solidFill>
              <a:latin typeface="Arial"/>
              <a:ea typeface="Arial"/>
              <a:cs typeface="Arial"/>
              <a:sym typeface="Arial"/>
            </a:endParaRPr>
          </a:p>
          <a:p>
            <a:pPr indent="-317500" lvl="1" marL="914400" rtl="0" algn="l">
              <a:lnSpc>
                <a:spcPct val="100000"/>
              </a:lnSpc>
              <a:spcBef>
                <a:spcPts val="0"/>
              </a:spcBef>
              <a:spcAft>
                <a:spcPts val="0"/>
              </a:spcAft>
              <a:buClr>
                <a:srgbClr val="212B36"/>
              </a:buClr>
              <a:buSzPts val="1400"/>
              <a:buFont typeface="Arial"/>
              <a:buAutoNum type="alphaLcPeriod"/>
            </a:pPr>
            <a:r>
              <a:rPr lang="en">
                <a:solidFill>
                  <a:srgbClr val="212B36"/>
                </a:solidFill>
                <a:latin typeface="Arial"/>
                <a:ea typeface="Arial"/>
                <a:cs typeface="Arial"/>
                <a:sym typeface="Arial"/>
              </a:rPr>
              <a:t>Lncrna &amp; cancer</a:t>
            </a:r>
            <a:endParaRPr>
              <a:solidFill>
                <a:srgbClr val="212B36"/>
              </a:solidFill>
              <a:latin typeface="Arial"/>
              <a:ea typeface="Arial"/>
              <a:cs typeface="Arial"/>
              <a:sym typeface="Arial"/>
            </a:endParaRPr>
          </a:p>
          <a:p>
            <a:pPr indent="-298450" lvl="0" marL="457200" rtl="0" algn="l">
              <a:lnSpc>
                <a:spcPct val="100000"/>
              </a:lnSpc>
              <a:spcBef>
                <a:spcPts val="0"/>
              </a:spcBef>
              <a:spcAft>
                <a:spcPts val="0"/>
              </a:spcAft>
              <a:buClr>
                <a:srgbClr val="212B36"/>
              </a:buClr>
              <a:buSzPts val="1100"/>
              <a:buFont typeface="Arial"/>
              <a:buAutoNum type="arabicPeriod"/>
            </a:pPr>
            <a:r>
              <a:rPr lang="en">
                <a:solidFill>
                  <a:srgbClr val="212B36"/>
                </a:solidFill>
                <a:latin typeface="Arial"/>
                <a:ea typeface="Arial"/>
                <a:cs typeface="Arial"/>
                <a:sym typeface="Arial"/>
              </a:rPr>
              <a:t>Show them zotero connection test!</a:t>
            </a:r>
            <a:endParaRPr>
              <a:solidFill>
                <a:srgbClr val="212B36"/>
              </a:solidFill>
              <a:latin typeface="Arial"/>
              <a:ea typeface="Arial"/>
              <a:cs typeface="Arial"/>
              <a:sym typeface="Arial"/>
            </a:endParaRPr>
          </a:p>
          <a:p>
            <a:pPr indent="-298450" lvl="0" marL="457200" rtl="0" algn="l">
              <a:lnSpc>
                <a:spcPct val="100000"/>
              </a:lnSpc>
              <a:spcBef>
                <a:spcPts val="0"/>
              </a:spcBef>
              <a:spcAft>
                <a:spcPts val="0"/>
              </a:spcAft>
              <a:buClr>
                <a:srgbClr val="212B36"/>
              </a:buClr>
              <a:buSzPts val="1100"/>
              <a:buFont typeface="Arial"/>
              <a:buAutoNum type="arabicPeriod"/>
            </a:pPr>
            <a:r>
              <a:rPr lang="en">
                <a:solidFill>
                  <a:srgbClr val="212B36"/>
                </a:solidFill>
                <a:latin typeface="Arial"/>
                <a:ea typeface="Arial"/>
                <a:cs typeface="Arial"/>
                <a:sym typeface="Arial"/>
              </a:rPr>
              <a:t>EXPLORE!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There are many cool things, in my opinion, about RR:</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Free, ostensibly always will be</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They have wonderful FAQs</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They are very open about letting you book 1:1 sessions with them, especially if you are having trouble connecting your account to zotero {see FAQs} - though recently I went to test this and the calendly link is down… not sure if that’s long term or just a glitch</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 issues, so far, with outright hallucinations</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 uploading content (like PDFs or secret materials)</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doesn’t generate content that is problematic - no issues there</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You CAN upload a </a:t>
            </a:r>
            <a:r>
              <a:rPr lang="en" u="sng">
                <a:solidFill>
                  <a:schemeClr val="hlink"/>
                </a:solidFill>
                <a:hlinkClick r:id="rId2"/>
              </a:rPr>
              <a:t>Zotero</a:t>
            </a:r>
            <a:r>
              <a:rPr lang="en">
                <a:solidFill>
                  <a:schemeClr val="dk1"/>
                </a:solidFill>
              </a:rPr>
              <a:t> folder of citations and download a research rabbit collection into a zotero folder</a:t>
            </a:r>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You can also export or import .bib or .ris files </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You can share individual collections with collaborators</a:t>
            </a:r>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Wrapping up - I will remind you that there </a:t>
            </a:r>
            <a:r>
              <a:rPr b="1" lang="en">
                <a:solidFill>
                  <a:schemeClr val="dk1"/>
                </a:solidFill>
              </a:rPr>
              <a:t>are</a:t>
            </a:r>
            <a:r>
              <a:rPr lang="en">
                <a:solidFill>
                  <a:schemeClr val="dk1"/>
                </a:solidFill>
              </a:rPr>
              <a:t> other tools in this space - </a:t>
            </a:r>
            <a:r>
              <a:rPr lang="en" u="sng">
                <a:solidFill>
                  <a:schemeClr val="hlink"/>
                </a:solidFill>
                <a:hlinkClick r:id="rId3"/>
              </a:rPr>
              <a:t>litmaps</a:t>
            </a:r>
            <a:r>
              <a:rPr lang="en">
                <a:solidFill>
                  <a:schemeClr val="dk1"/>
                </a:solidFill>
              </a:rPr>
              <a:t> is one of them, </a:t>
            </a:r>
            <a:r>
              <a:rPr lang="en" u="sng">
                <a:solidFill>
                  <a:schemeClr val="hlink"/>
                </a:solidFill>
                <a:hlinkClick r:id="rId4"/>
              </a:rPr>
              <a:t>connected papers</a:t>
            </a:r>
            <a:r>
              <a:rPr lang="en">
                <a:solidFill>
                  <a:schemeClr val="dk1"/>
                </a:solidFill>
              </a:rPr>
              <a:t> is another.  But none that I know of are fully free.  Still, litmaps, connected papers, and RR and others work roughly the same way, so once you learn RR you could easily hop to other tools and have success navigating those.</a:t>
            </a:r>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68bcb40ff2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g368bcb40ff2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840b7833a0_0_2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g3840b7833a0_0_2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rgbClr val="11223D"/>
                </a:solidFill>
              </a:rPr>
              <a:t>Now, let’s dive in where AI tools can help us in the whole writing process.</a:t>
            </a:r>
            <a:br>
              <a:rPr lang="en">
                <a:solidFill>
                  <a:srgbClr val="11223D"/>
                </a:solidFill>
              </a:rPr>
            </a:br>
            <a:br>
              <a:rPr lang="en">
                <a:solidFill>
                  <a:srgbClr val="11223D"/>
                </a:solidFill>
              </a:rPr>
            </a:br>
            <a:r>
              <a:rPr lang="en">
                <a:solidFill>
                  <a:srgbClr val="11223D"/>
                </a:solidFill>
              </a:rPr>
              <a:t>AI-assisted literature discovery and analysis involves a structured approach to efficiently navigate and synthesize vast amounts of information. The first step is to develop a search strategy, which involves defining the scope and keywords for your research. This ensures that your search is focused and relevant. Next, explore the various flavors of literature search tools available, each offering unique features to help you screen and triangulate your results. This step is crucial for filtering out irrelevant information and honing in on the most pertinent studies.</a:t>
            </a:r>
            <a:endParaRPr>
              <a:solidFill>
                <a:srgbClr val="11223D"/>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1223D"/>
                </a:solidFill>
              </a:rPr>
              <a:t>Once you have a curated list of literature, organize the selected works into a matrix. This helps in systematically analyzing the content to identify patterns and gaps in the existing research. By visualizing the data in this way, you can more easily spot trends and areas that require further investigation.</a:t>
            </a:r>
            <a:endParaRPr>
              <a:solidFill>
                <a:srgbClr val="11223D"/>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1223D"/>
                </a:solidFill>
              </a:rPr>
              <a:t>The final steps involve synthesizing and writing your findings, followed by a thorough revision. Synthesis involves integrating the insights from your analysis into a coherent narrative, while revision ensures that your work is polished and free of errors. This comprehensive approach leverages AI to streamline the literature review process, making it more efficient and effective.</a:t>
            </a:r>
            <a:endParaRPr>
              <a:solidFill>
                <a:srgbClr val="11223D"/>
              </a:solidFill>
            </a:endParaRPr>
          </a:p>
          <a:p>
            <a:pPr indent="0" lvl="0" marL="0" rtl="0" algn="l">
              <a:lnSpc>
                <a:spcPct val="100000"/>
              </a:lnSpc>
              <a:spcBef>
                <a:spcPts val="1200"/>
              </a:spcBef>
              <a:spcAft>
                <a:spcPts val="0"/>
              </a:spcAft>
              <a:buSzPts val="1100"/>
              <a:buNone/>
            </a:pPr>
            <a:r>
              <a:t/>
            </a:r>
            <a:endParaRPr>
              <a:solidFill>
                <a:srgbClr val="11223D"/>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Many tools are suggested as literature summarising tools. Here is a long list of most relevant tools.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400"/>
              <a:buFont typeface="Arial"/>
              <a:buNone/>
            </a:pPr>
            <a:r>
              <a:rPr lang="en" sz="1400" u="sng">
                <a:solidFill>
                  <a:srgbClr val="0097A7"/>
                </a:solidFill>
                <a:hlinkClick r:id="rId2">
                  <a:extLst>
                    <a:ext uri="{A12FA001-AC4F-418D-AE19-62706E023703}">
                      <ahyp:hlinkClr val="tx"/>
                    </a:ext>
                  </a:extLst>
                </a:hlinkClick>
              </a:rPr>
              <a:t>https://www.linkedin.com/posts/nacke_phd-literaturesearch-ai-activity-7376223311413792768-OZSJ?utm_source=share&amp;utm_medium=member_desktop&amp;rcm=ACoAAABqGrYBTtGP9GGkyU9wUUDVqgt9cz9jvZg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840b7833a0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g3840b7833a0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t>SciSpace </a:t>
            </a:r>
            <a:r>
              <a:rPr b="0" i="0" lang="en" sz="1800" u="none" strike="noStrike">
                <a:solidFill>
                  <a:srgbClr val="000000"/>
                </a:solidFill>
                <a:latin typeface="Arial"/>
                <a:ea typeface="Arial"/>
                <a:cs typeface="Arial"/>
                <a:sym typeface="Arial"/>
              </a:rPr>
              <a:t>and </a:t>
            </a:r>
            <a:r>
              <a:rPr lang="en" sz="1800"/>
              <a:t>N</a:t>
            </a:r>
            <a:r>
              <a:rPr b="0" i="0" lang="en" sz="1800" u="none" strike="noStrike">
                <a:solidFill>
                  <a:srgbClr val="000000"/>
                </a:solidFill>
                <a:latin typeface="Arial"/>
                <a:ea typeface="Arial"/>
                <a:cs typeface="Arial"/>
                <a:sym typeface="Arial"/>
              </a:rPr>
              <a:t>otebookLM are worth to be featured</a:t>
            </a:r>
            <a:r>
              <a:rPr lang="en" sz="1800"/>
              <a:t> in the course.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68bcb40ff2_0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2" name="Google Shape;512;g368bcb40ff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https://www.freepik.com/icon/upload_15844566#fromView=resource_detail&amp;position=8</a:t>
            </a:r>
            <a:r>
              <a:rPr lang="en"/>
              <a:t> </a:t>
            </a:r>
            <a:endParaRPr/>
          </a:p>
          <a:p>
            <a:pPr indent="0" lvl="0" marL="0" rtl="0" algn="l">
              <a:lnSpc>
                <a:spcPct val="100000"/>
              </a:lnSpc>
              <a:spcBef>
                <a:spcPts val="0"/>
              </a:spcBef>
              <a:spcAft>
                <a:spcPts val="0"/>
              </a:spcAft>
              <a:buSzPts val="1100"/>
              <a:buNone/>
            </a:pPr>
            <a:r>
              <a:rPr lang="en" u="sng">
                <a:solidFill>
                  <a:schemeClr val="hlink"/>
                </a:solidFill>
                <a:hlinkClick r:id="rId3"/>
              </a:rPr>
              <a:t>https://www.freepik.com/icon/cloud_15844574#fromView=resource_detail&amp;position=6</a:t>
            </a:r>
            <a:r>
              <a:rPr lang="en"/>
              <a:t> </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Let’s get into some specifics.  Here are some examples of things you COULD upload but may want to pause before doing so:</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As VIB students, faculty, and staff, you have access to lots of scholarly literature. At the moment, simply uploading, for example, a Nature paper that isn’t open access may or may not be considered “fair use” from a copyright perspective, </a:t>
            </a:r>
            <a:r>
              <a:rPr i="1" lang="en">
                <a:solidFill>
                  <a:schemeClr val="dk1"/>
                </a:solidFill>
              </a:rPr>
              <a:t>and also</a:t>
            </a:r>
            <a:r>
              <a:rPr lang="en">
                <a:solidFill>
                  <a:schemeClr val="dk1"/>
                </a:solidFill>
              </a:rPr>
              <a:t> my guess is we will see MUCH more about this question from the legal arena in the coming months and possibly years.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However, some publishers - who hold the copyright on content - are starting to say “</a:t>
            </a:r>
            <a:r>
              <a:rPr b="1" lang="en">
                <a:solidFill>
                  <a:schemeClr val="dk1"/>
                </a:solidFill>
              </a:rPr>
              <a:t>do not upload our content to AI tools</a:t>
            </a:r>
            <a:r>
              <a:rPr lang="en">
                <a:solidFill>
                  <a:schemeClr val="dk1"/>
                </a:solidFill>
              </a:rPr>
              <a:t>” as part of </a:t>
            </a:r>
            <a:r>
              <a:rPr b="1" lang="en">
                <a:solidFill>
                  <a:schemeClr val="dk1"/>
                </a:solidFill>
              </a:rPr>
              <a:t>their terms of service.</a:t>
            </a:r>
            <a:r>
              <a:rPr lang="en">
                <a:solidFill>
                  <a:schemeClr val="dk1"/>
                </a:solidFill>
              </a:rPr>
              <a:t>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Here’s a specific example:  ASTM Compass is a database that contains engineering standards among some other types of resources.  Engineering librarians use this fairly frequently.  They have a specific AI Policy that states: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“ASTM International prohibits the entry of ASTM standards and related ASTM intellectual property (“ASTM IP”) into any form of Artificial Intelligence (AI) tools, such as ChatGPT. … In the case of such use, ASTM will suspend a licensee’s access to ASTM IP, and further legal action will be considered.”</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rgbClr val="1B232C"/>
                </a:solidFill>
              </a:rPr>
              <a:t>What they are saying pretty clearly is: do not upload their standards to chatGPT. If they realize you have done this, they can revoke U-M’s access to this database (and I’ll note that our electronic resources from this site have a digital watermark so if it ever did get back to the publisher, they’d be able to tell where the PDFs came from)!</a:t>
            </a:r>
            <a:endParaRPr>
              <a:solidFill>
                <a:srgbClr val="1B232C"/>
              </a:solidFill>
            </a:endParaRPr>
          </a:p>
          <a:p>
            <a:pPr indent="-298450" lvl="1" marL="914400" rtl="0" algn="l">
              <a:lnSpc>
                <a:spcPct val="115000"/>
              </a:lnSpc>
              <a:spcBef>
                <a:spcPts val="0"/>
              </a:spcBef>
              <a:spcAft>
                <a:spcPts val="0"/>
              </a:spcAft>
              <a:buClr>
                <a:srgbClr val="1B232C"/>
              </a:buClr>
              <a:buSzPts val="1100"/>
              <a:buChar char="○"/>
            </a:pPr>
            <a:r>
              <a:rPr lang="en">
                <a:solidFill>
                  <a:srgbClr val="1B232C"/>
                </a:solidFill>
              </a:rPr>
              <a:t>Many many publishers are developing policies and terms of service around this - and we’ll circle back on this topic in Tyler’s section - but for now, just know that uploading content could violate these kinds of policies and terms and there’s some level of risk involved with that. </a:t>
            </a:r>
            <a:endParaRPr>
              <a:solidFill>
                <a:srgbClr val="1B232C"/>
              </a:solidFill>
            </a:endParaRPr>
          </a:p>
          <a:p>
            <a:pPr indent="0" lvl="0" marL="0" rtl="0" algn="l">
              <a:lnSpc>
                <a:spcPct val="115000"/>
              </a:lnSpc>
              <a:spcBef>
                <a:spcPts val="0"/>
              </a:spcBef>
              <a:spcAft>
                <a:spcPts val="0"/>
              </a:spcAft>
              <a:buClr>
                <a:schemeClr val="dk1"/>
              </a:buClr>
              <a:buSzPts val="1100"/>
              <a:buFont typeface="Arial"/>
              <a:buNone/>
            </a:pPr>
            <a:r>
              <a:t/>
            </a:r>
            <a:endParaRPr b="1">
              <a:solidFill>
                <a:srgbClr val="1B232C"/>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Maybe you are working on a project with materials subject to a non-disclosure agreement or maybe you are working with classified documents.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Again, it’s probably not great to upload this kind of content to these AI companies via their platforms because doing so would probably violate the terms of the agreement (though, read the fine print I guess?).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say you have access to something unpublished: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Maybe a post-doc in your research group wrote a paper and asked you to give comments on it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While there may not be a copyright-related reason why you shouldn’t upload this work to something like ChatGPT, there may be ethical and community norms around that kind of practice.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models can use this text in their answers to others which can possibly jeopardize the original authors’ publication process! </a:t>
            </a: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
                <a:solidFill>
                  <a:schemeClr val="dk1"/>
                </a:solidFill>
              </a:rPr>
              <a:t>However, we just saw </a:t>
            </a:r>
            <a:r>
              <a:rPr lang="en" u="sng">
                <a:solidFill>
                  <a:schemeClr val="hlink"/>
                </a:solidFill>
                <a:hlinkClick r:id="rId4"/>
              </a:rPr>
              <a:t>a post in the Nature Careers Community</a:t>
            </a:r>
            <a:r>
              <a:rPr lang="en">
                <a:solidFill>
                  <a:schemeClr val="dk1"/>
                </a:solidFill>
              </a:rPr>
              <a:t> from a researcher talking about how he specifically DOES use ChatGPT to help him craft his peer review responses - so the ethical and community norms have yet to be settled here.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Maybe you are thinking “oh but I would never ever do any of these things!”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Wonderful!  Great news.  HOWEVER someone in your research group might - so again, we point back to our recommendation that you should have a conversation with your collaborators and stakeholders because these are real issues with real consequences and the norms and rules are evolving.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89929be8a3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g389929be8a3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https://www.freepik.com/icon/upload_15844566#fromView=resource_detail&amp;position=8</a:t>
            </a:r>
            <a:r>
              <a:rPr lang="en"/>
              <a:t> </a:t>
            </a:r>
            <a:endParaRPr/>
          </a:p>
          <a:p>
            <a:pPr indent="0" lvl="0" marL="0" rtl="0" algn="l">
              <a:lnSpc>
                <a:spcPct val="100000"/>
              </a:lnSpc>
              <a:spcBef>
                <a:spcPts val="0"/>
              </a:spcBef>
              <a:spcAft>
                <a:spcPts val="0"/>
              </a:spcAft>
              <a:buSzPts val="1100"/>
              <a:buNone/>
            </a:pPr>
            <a:r>
              <a:rPr lang="en" u="sng">
                <a:solidFill>
                  <a:schemeClr val="hlink"/>
                </a:solidFill>
                <a:hlinkClick r:id="rId3"/>
              </a:rPr>
              <a:t>https://www.freepik.com/icon/cloud_15844574#fromView=resource_detail&amp;position=6</a:t>
            </a:r>
            <a:r>
              <a:rPr lang="en"/>
              <a:t> </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Let’s get into some specifics.  Here are some examples of things you COULD upload but may want to pause before doing so:</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As VIB students, faculty, and staff, you have access to lots of scholarly literature. At the moment, simply uploading, for example, a Nature paper that isn’t open access may or may not be considered “fair use” from a copyright perspective, </a:t>
            </a:r>
            <a:r>
              <a:rPr i="1" lang="en">
                <a:solidFill>
                  <a:schemeClr val="dk1"/>
                </a:solidFill>
              </a:rPr>
              <a:t>and also</a:t>
            </a:r>
            <a:r>
              <a:rPr lang="en">
                <a:solidFill>
                  <a:schemeClr val="dk1"/>
                </a:solidFill>
              </a:rPr>
              <a:t> my guess is we will see MUCH more about this question from the legal arena in the coming months and possibly years.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However, some publishers - who hold the copyright on content - are starting to say “</a:t>
            </a:r>
            <a:r>
              <a:rPr b="1" lang="en">
                <a:solidFill>
                  <a:schemeClr val="dk1"/>
                </a:solidFill>
              </a:rPr>
              <a:t>do not upload our content to AI tools</a:t>
            </a:r>
            <a:r>
              <a:rPr lang="en">
                <a:solidFill>
                  <a:schemeClr val="dk1"/>
                </a:solidFill>
              </a:rPr>
              <a:t>” as part of </a:t>
            </a:r>
            <a:r>
              <a:rPr b="1" lang="en">
                <a:solidFill>
                  <a:schemeClr val="dk1"/>
                </a:solidFill>
              </a:rPr>
              <a:t>their terms of service.</a:t>
            </a:r>
            <a:r>
              <a:rPr lang="en">
                <a:solidFill>
                  <a:schemeClr val="dk1"/>
                </a:solidFill>
              </a:rPr>
              <a:t>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Here’s a specific example:  ASTM Compass is a database that contains engineering standards among some other types of resources.  Engineering librarians use this fairly frequently.  They have a specific AI Policy that states: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“ASTM International prohibits the entry of ASTM standards and related ASTM intellectual property (“ASTM IP”) into any form of Artificial Intelligence (AI) tools, such as ChatGPT. … In the case of such use, ASTM will suspend a licensee’s access to ASTM IP, and further legal action will be considered.”</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rgbClr val="1B232C"/>
                </a:solidFill>
              </a:rPr>
              <a:t>What they are saying pretty clearly is: do not upload their standards to chatGPT. If they realize you have done this, they can revoke U-M’s access to this database (and I’ll note that our electronic resources from this site have a digital watermark so if it ever did get back to the publisher, they’d be able to tell where the PDFs came from)!</a:t>
            </a:r>
            <a:endParaRPr>
              <a:solidFill>
                <a:srgbClr val="1B232C"/>
              </a:solidFill>
            </a:endParaRPr>
          </a:p>
          <a:p>
            <a:pPr indent="-298450" lvl="1" marL="914400" rtl="0" algn="l">
              <a:lnSpc>
                <a:spcPct val="115000"/>
              </a:lnSpc>
              <a:spcBef>
                <a:spcPts val="0"/>
              </a:spcBef>
              <a:spcAft>
                <a:spcPts val="0"/>
              </a:spcAft>
              <a:buClr>
                <a:srgbClr val="1B232C"/>
              </a:buClr>
              <a:buSzPts val="1100"/>
              <a:buChar char="○"/>
            </a:pPr>
            <a:r>
              <a:rPr lang="en">
                <a:solidFill>
                  <a:srgbClr val="1B232C"/>
                </a:solidFill>
              </a:rPr>
              <a:t>Many many publishers are developing policies and terms of service around this - and we’ll circle back on this topic in Tyler’s section - but for now, just know that uploading content could violate these kinds of policies and terms and there’s some level of risk involved with that. </a:t>
            </a:r>
            <a:endParaRPr>
              <a:solidFill>
                <a:srgbClr val="1B232C"/>
              </a:solidFill>
            </a:endParaRPr>
          </a:p>
          <a:p>
            <a:pPr indent="0" lvl="0" marL="0" rtl="0" algn="l">
              <a:lnSpc>
                <a:spcPct val="115000"/>
              </a:lnSpc>
              <a:spcBef>
                <a:spcPts val="0"/>
              </a:spcBef>
              <a:spcAft>
                <a:spcPts val="0"/>
              </a:spcAft>
              <a:buClr>
                <a:schemeClr val="dk1"/>
              </a:buClr>
              <a:buSzPts val="1100"/>
              <a:buFont typeface="Arial"/>
              <a:buNone/>
            </a:pPr>
            <a:r>
              <a:t/>
            </a:r>
            <a:endParaRPr b="1">
              <a:solidFill>
                <a:srgbClr val="1B232C"/>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Maybe you are working on a project with materials subject to a non-disclosure agreement or maybe you are working with classified documents.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Again, it’s probably not great to upload this kind of content to these AI companies via their platforms because doing so would probably violate the terms of the agreement (though, read the fine print I guess?).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say you have access to something unpublished: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Maybe a post-doc in your research group wrote a paper and asked you to give comments on it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While there may not be a copyright-related reason why you shouldn’t upload this work to something like ChatGPT, there may be ethical and community norms around that kind of practice.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models can use this text in their answers to others which can possibly jeopardize the original authors’ publication process! </a:t>
            </a: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
                <a:solidFill>
                  <a:schemeClr val="dk1"/>
                </a:solidFill>
              </a:rPr>
              <a:t>However, we just saw </a:t>
            </a:r>
            <a:r>
              <a:rPr lang="en" u="sng">
                <a:solidFill>
                  <a:schemeClr val="hlink"/>
                </a:solidFill>
                <a:hlinkClick r:id="rId4"/>
              </a:rPr>
              <a:t>a post in the Nature Careers Community</a:t>
            </a:r>
            <a:r>
              <a:rPr lang="en">
                <a:solidFill>
                  <a:schemeClr val="dk1"/>
                </a:solidFill>
              </a:rPr>
              <a:t> from a researcher talking about how he specifically DOES use ChatGPT to help him craft his peer review responses - so the ethical and community norms have yet to be settled here.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Maybe you are thinking “oh but I would never ever do any of these things!”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Wonderful!  Great news.  HOWEVER someone in your research group might - so again, we point back to our recommendation that you should have a conversation with your collaborators and stakeholders because these are real issues with real consequences and the norms and rules are evolving.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
              <a:t>Further reading:</a:t>
            </a:r>
            <a:br>
              <a:rPr lang="en"/>
            </a:br>
            <a:r>
              <a:rPr lang="en"/>
              <a:t>https://libereurope.eu/wp-content/uploads/2020/09/A-Basic-Guide-to-Limitations-and-Exceptions-in-EU-Copyright-Law-for-Libraries-Educational-and-Research-FINAL-ONLINE-1.pdf</a:t>
            </a:r>
            <a:endParaRPr/>
          </a:p>
          <a:p>
            <a:pPr indent="-298450" lvl="0" marL="457200" rtl="0" algn="l">
              <a:lnSpc>
                <a:spcPct val="115000"/>
              </a:lnSpc>
              <a:spcBef>
                <a:spcPts val="0"/>
              </a:spcBef>
              <a:spcAft>
                <a:spcPts val="0"/>
              </a:spcAft>
              <a:buSzPts val="1100"/>
              <a:buChar char="-"/>
            </a:pPr>
            <a:r>
              <a:rPr lang="en"/>
              <a:t>https://lirias.kuleuven.be/retrieve/684849</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7eb8bae26d_0_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1" name="Google Shape;561;g37eb8bae26d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
              <a:t>Further reading:</a:t>
            </a:r>
            <a:br>
              <a:rPr lang="en"/>
            </a:br>
            <a:r>
              <a:rPr lang="en"/>
              <a:t>https://libereurope.eu/wp-content/uploads/2020/09/A-Basic-Guide-to-Limitations-and-Exceptions-in-EU-Copyright-Law-for-Libraries-Educational-and-Research-FINAL-ONLINE-1.pdf</a:t>
            </a:r>
            <a:endParaRPr/>
          </a:p>
          <a:p>
            <a:pPr indent="-298450" lvl="0" marL="457200" rtl="0" algn="l">
              <a:lnSpc>
                <a:spcPct val="115000"/>
              </a:lnSpc>
              <a:spcBef>
                <a:spcPts val="0"/>
              </a:spcBef>
              <a:spcAft>
                <a:spcPts val="0"/>
              </a:spcAft>
              <a:buSzPts val="1100"/>
              <a:buChar char="-"/>
            </a:pPr>
            <a:r>
              <a:rPr lang="en"/>
              <a:t>https://lirias.kuleuven.be/retrieve/684849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ce24fdd3b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g3ce24fdd3b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cfdd9c33a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1" name="Google Shape;601;g3cfdd9c33a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cfdd9c33a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g3cfdd9c33af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2" name="Google Shape;61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Elicit is a AI Literature Discovery tool. It finds you research papers from after you ask it a question.</a:t>
            </a:r>
            <a:endParaRPr/>
          </a:p>
          <a:p>
            <a:pPr indent="0" lvl="0" marL="0" rtl="0" algn="l">
              <a:lnSpc>
                <a:spcPct val="100000"/>
              </a:lnSpc>
              <a:spcBef>
                <a:spcPts val="0"/>
              </a:spcBef>
              <a:spcAft>
                <a:spcPts val="0"/>
              </a:spcAft>
              <a:buSzPts val="1100"/>
              <a:buNone/>
            </a:pPr>
            <a:r>
              <a:rPr lang="en">
                <a:solidFill>
                  <a:schemeClr val="dk1"/>
                </a:solidFill>
              </a:rPr>
              <a:t>-It is one of the better literature discovery tools out there</a:t>
            </a:r>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Their privacy policy states that ANY PAPERS YOU UPLOAD TO ELICIT ARE PRIVATE TO YOUR ACCOUNT</a:t>
            </a:r>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─all the tools I feature today have policies that explicitly promise not to use your content, since there are some tools that do in fact reuse what you upload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-It’s Model is GPT-3 from ChatGPT fame</a:t>
            </a:r>
            <a:endParaRPr/>
          </a:p>
          <a:p>
            <a:pPr indent="0" lvl="0" marL="0" rtl="0" algn="l">
              <a:lnSpc>
                <a:spcPct val="100000"/>
              </a:lnSpc>
              <a:spcBef>
                <a:spcPts val="0"/>
              </a:spcBef>
              <a:spcAft>
                <a:spcPts val="0"/>
              </a:spcAft>
              <a:buSzPts val="1100"/>
              <a:buNone/>
            </a:pPr>
            <a:r>
              <a:rPr lang="en"/>
              <a:t>-It’s Corpus is Semantic Scholar, which means the papers it finds are real papers and not hallucinations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4" name="Google Shape;634;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-After signing up for an account (or authenticating with google) with Elicit, you will see this on the home screen. Elicit’s homescreen, like all other AI, has changed a bit in the last few months, so if you used Elicit last fall, it might look different. I can only guarantee  this is what it looked like last week</a:t>
            </a:r>
            <a:endParaRPr/>
          </a:p>
          <a:p>
            <a:pPr indent="0" lvl="0" marL="0" rtl="0" algn="l">
              <a:lnSpc>
                <a:spcPct val="100000"/>
              </a:lnSpc>
              <a:spcBef>
                <a:spcPts val="0"/>
              </a:spcBef>
              <a:spcAft>
                <a:spcPts val="0"/>
              </a:spcAft>
              <a:buSzPts val="1100"/>
              <a:buNone/>
            </a:pPr>
            <a:r>
              <a:rPr lang="en">
                <a:solidFill>
                  <a:schemeClr val="dk1"/>
                </a:solidFill>
              </a:rPr>
              <a:t>CLICK</a:t>
            </a:r>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So how do we get papers into Elicit to summarize? There are two methods, to ask it a question and get a list of papers it deems relevant</a:t>
            </a:r>
            <a:endParaRPr/>
          </a:p>
          <a:p>
            <a:pPr indent="0" lvl="0" marL="0" rtl="0" algn="l">
              <a:lnSpc>
                <a:spcPct val="100000"/>
              </a:lnSpc>
              <a:spcBef>
                <a:spcPts val="0"/>
              </a:spcBef>
              <a:spcAft>
                <a:spcPts val="0"/>
              </a:spcAft>
              <a:buSzPts val="1100"/>
              <a:buNone/>
            </a:pPr>
            <a:r>
              <a:rPr lang="en">
                <a:solidFill>
                  <a:schemeClr val="dk1"/>
                </a:solidFill>
              </a:rPr>
              <a:t>-Using the Find Papers box I can type in a research question. this will pull from the corpus SemanticScholar. The cute little coin icon on the right hand side of the search box displays how many credits it costs to run a search. Free accounts have 5,000 credits to use. And clicking around and doing things inside of Elicit costs credits.</a:t>
            </a:r>
            <a:endParaRPr/>
          </a:p>
          <a:p>
            <a:pPr indent="0" lvl="0" marL="0" rtl="0" algn="l">
              <a:lnSpc>
                <a:spcPct val="100000"/>
              </a:lnSpc>
              <a:spcBef>
                <a:spcPts val="0"/>
              </a:spcBef>
              <a:spcAft>
                <a:spcPts val="0"/>
              </a:spcAft>
              <a:buSzPts val="1100"/>
              <a:buNone/>
            </a:pPr>
            <a:r>
              <a:rPr lang="en">
                <a:solidFill>
                  <a:schemeClr val="dk1"/>
                </a:solidFill>
              </a:rPr>
              <a:t>CLICK</a:t>
            </a:r>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-The second option is to upload research articles from your computer, which doesn’t cost any credits until you actually try to summarize them. </a:t>
            </a:r>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-the third option is List of Concepts ─ I don’t recommend anyone with a free account attempt this, it can cost up to 2500 credits. This is the most expensive workflow because it often finds dozens of relevant papers, extracts lots of data from each of them, groups the data, and summarizes all of it.</a:t>
            </a:r>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06351b6c07_0_6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6" name="Google Shape;656;g306351b6c07_0_6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By using this shared notebook as demo during the course, the main features of Elicit are described.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06351b6c07_0_6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4" name="Google Shape;674;g306351b6c07_0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You will get a summary of the top 4 papers (8 in the paying version) as first panel of your answer.</a:t>
            </a:r>
            <a:br>
              <a:rPr lang="en">
                <a:solidFill>
                  <a:schemeClr val="dk1"/>
                </a:solidFill>
              </a:rPr>
            </a:br>
            <a:br>
              <a:rPr lang="en">
                <a:solidFill>
                  <a:schemeClr val="dk1"/>
                </a:solidFill>
              </a:rPr>
            </a:br>
            <a:r>
              <a:rPr lang="en">
                <a:solidFill>
                  <a:schemeClr val="dk1"/>
                </a:solidFill>
              </a:rPr>
              <a:t>For our example the summary is:</a:t>
            </a:r>
            <a:br>
              <a:rPr lang="en">
                <a:solidFill>
                  <a:schemeClr val="dk1"/>
                </a:solidFill>
              </a:rPr>
            </a:br>
            <a:r>
              <a:rPr lang="en">
                <a:solidFill>
                  <a:schemeClr val="dk1"/>
                </a:solidFill>
              </a:rPr>
              <a:t>The papers discuss strategies to make bioinformatics and Open Science training materials more FAIR (Findable, Accessible, Interoperable, Reusable). TeSS, the ELIXIR Training Portal, aggregates training resources using Bioschemas specifications, enhancing discoverability (Bacall et al., 2023). The EMBL-EBI Training website applies FAIR principles to course listings and digital learning materials, improving accessibility and user experience (Swan et al., 2024). Ten simple rules for making training materials FAIR have been proposed to address the challenge of finding and repurposing existing materials (García-Castro et al., 2020). The TRIPLE project developed an Open Science training series and a Training Toolkit to support SSH researchers and trainers in implementing FAIR practices (Provost et al., 2023). These initiatives aim to increase the visibility, accessibility, and reusability of training resources, ultimately improving the training landscape in bioinformatics and related fields.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a:t>
            </a:r>
            <a:br>
              <a:rPr lang="en">
                <a:solidFill>
                  <a:schemeClr val="dk1"/>
                </a:solidFill>
              </a:rPr>
            </a:br>
            <a:br>
              <a:rPr lang="en">
                <a:solidFill>
                  <a:schemeClr val="dk1"/>
                </a:solidFill>
              </a:rPr>
            </a:br>
            <a:r>
              <a:rPr lang="en">
                <a:solidFill>
                  <a:schemeClr val="dk1"/>
                </a:solidFill>
              </a:rPr>
              <a:t>How do we set up our table? How do we identify the columns?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I use the Column options on the right hand side of my screen to set up my table. The Citation information and Abstract of the article will alway be visible, and the rest I can customize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-clicking the plus button will add the column to your table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-here I have added Summary and Main Finding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06351b6c07_0_6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2" name="Google Shape;692;g306351b6c07_0_6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This is the overview of the many parameters Elicit provides to add to the standard fields (parameters) Summary and ‘Main Finding’. As such, each paper can be screened regarding many dimensions and a comprehensive matrix of the selected articles can be created.  </a:t>
            </a:r>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06351b6c07_0_6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0" name="Google Shape;710;g306351b6c07_0_6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03200" lvl="0" marL="457200" rtl="0" algn="l">
              <a:lnSpc>
                <a:spcPct val="140000"/>
              </a:lnSpc>
              <a:spcBef>
                <a:spcPts val="0"/>
              </a:spcBef>
              <a:spcAft>
                <a:spcPts val="0"/>
              </a:spcAft>
              <a:buClr>
                <a:srgbClr val="52A1B9"/>
              </a:buClr>
              <a:buSzPts val="1400"/>
              <a:buFont typeface="JetBrains Mono"/>
              <a:buChar char="⇢"/>
            </a:pPr>
            <a:r>
              <a:rPr b="1" lang="en" sz="1400">
                <a:solidFill>
                  <a:schemeClr val="dk1"/>
                </a:solidFill>
                <a:latin typeface="JetBrains Mono"/>
                <a:ea typeface="JetBrains Mono"/>
                <a:cs typeface="JetBrains Mono"/>
                <a:sym typeface="JetBrains Mono"/>
              </a:rPr>
              <a:t>Incredibly flexible</a:t>
            </a:r>
            <a:r>
              <a:rPr lang="en" sz="1400">
                <a:solidFill>
                  <a:schemeClr val="dk1"/>
                </a:solidFill>
                <a:latin typeface="JetBrains Mono Light"/>
                <a:ea typeface="JetBrains Mono Light"/>
                <a:cs typeface="JetBrains Mono Light"/>
                <a:sym typeface="JetBrains Mono Light"/>
              </a:rPr>
              <a:t> + customizable tool</a:t>
            </a:r>
            <a:endParaRPr sz="1400">
              <a:solidFill>
                <a:schemeClr val="dk1"/>
              </a:solidFill>
              <a:latin typeface="JetBrains Mono Light"/>
              <a:ea typeface="JetBrains Mono Light"/>
              <a:cs typeface="JetBrains Mono Light"/>
              <a:sym typeface="JetBrains Mono Light"/>
            </a:endParaRPr>
          </a:p>
          <a:p>
            <a:pPr indent="-203200" lvl="0" marL="457200" rtl="0" algn="l">
              <a:lnSpc>
                <a:spcPct val="140000"/>
              </a:lnSpc>
              <a:spcBef>
                <a:spcPts val="0"/>
              </a:spcBef>
              <a:spcAft>
                <a:spcPts val="0"/>
              </a:spcAft>
              <a:buClr>
                <a:srgbClr val="52A1B9"/>
              </a:buClr>
              <a:buSzPts val="1400"/>
              <a:buFont typeface="JetBrains Mono"/>
              <a:buChar char="⇢"/>
            </a:pPr>
            <a:r>
              <a:rPr lang="en" sz="1400">
                <a:solidFill>
                  <a:schemeClr val="dk1"/>
                </a:solidFill>
                <a:latin typeface="JetBrains Mono Light"/>
                <a:ea typeface="JetBrains Mono Light"/>
                <a:cs typeface="JetBrains Mono Light"/>
                <a:sym typeface="JetBrains Mono Light"/>
              </a:rPr>
              <a:t>Built on the Semantic Scholar corpus</a:t>
            </a:r>
            <a:endParaRPr sz="1400">
              <a:solidFill>
                <a:schemeClr val="dk1"/>
              </a:solidFill>
              <a:latin typeface="JetBrains Mono Light"/>
              <a:ea typeface="JetBrains Mono Light"/>
              <a:cs typeface="JetBrains Mono Light"/>
              <a:sym typeface="JetBrains Mono Light"/>
            </a:endParaRPr>
          </a:p>
          <a:p>
            <a:pPr indent="-203200" lvl="0" marL="457200" rtl="0" algn="l">
              <a:lnSpc>
                <a:spcPct val="115000"/>
              </a:lnSpc>
              <a:spcBef>
                <a:spcPts val="0"/>
              </a:spcBef>
              <a:spcAft>
                <a:spcPts val="0"/>
              </a:spcAft>
              <a:buClr>
                <a:srgbClr val="52A1B9"/>
              </a:buClr>
              <a:buSzPts val="1400"/>
              <a:buFont typeface="JetBrains Mono Light"/>
              <a:buChar char="⇢"/>
            </a:pPr>
            <a:r>
              <a:rPr lang="en" sz="1400">
                <a:solidFill>
                  <a:schemeClr val="dk1"/>
                </a:solidFill>
                <a:latin typeface="JetBrains Mono Light"/>
                <a:ea typeface="JetBrains Mono Light"/>
                <a:cs typeface="JetBrains Mono Light"/>
                <a:sym typeface="JetBrains Mono Light"/>
              </a:rPr>
              <a:t>Free version: one-time 5,000 credit allotment </a:t>
            </a:r>
            <a:r>
              <a:rPr lang="en" sz="1400">
                <a:solidFill>
                  <a:srgbClr val="474747"/>
                </a:solidFill>
                <a:latin typeface="JetBrains Mono Light"/>
                <a:ea typeface="JetBrains Mono Light"/>
                <a:cs typeface="JetBrains Mono Light"/>
                <a:sym typeface="JetBrains Mono Light"/>
              </a:rPr>
              <a:t>(</a:t>
            </a:r>
            <a:r>
              <a:rPr b="1" lang="en" sz="1400">
                <a:solidFill>
                  <a:schemeClr val="dk1"/>
                </a:solidFill>
                <a:latin typeface="JetBrains Mono"/>
                <a:ea typeface="JetBrains Mono"/>
                <a:cs typeface="JetBrains Mono"/>
                <a:sym typeface="JetBrains Mono"/>
              </a:rPr>
              <a:t>~380 summaries</a:t>
            </a:r>
            <a:r>
              <a:rPr lang="en" sz="1400">
                <a:solidFill>
                  <a:srgbClr val="474747"/>
                </a:solidFill>
                <a:latin typeface="JetBrains Mono Light"/>
                <a:ea typeface="JetBrains Mono Light"/>
                <a:cs typeface="JetBrains Mono Light"/>
                <a:sym typeface="JetBrains Mono Light"/>
              </a:rPr>
              <a:t>)</a:t>
            </a:r>
            <a:endParaRPr sz="1400">
              <a:solidFill>
                <a:srgbClr val="474747"/>
              </a:solidFill>
              <a:latin typeface="JetBrains Mono Light"/>
              <a:ea typeface="JetBrains Mono Light"/>
              <a:cs typeface="JetBrains Mono Light"/>
              <a:sym typeface="JetBrains Mono Light"/>
            </a:endParaRPr>
          </a:p>
          <a:p>
            <a:pPr indent="-203200" lvl="0" marL="457200" rtl="0" algn="l">
              <a:lnSpc>
                <a:spcPct val="115000"/>
              </a:lnSpc>
              <a:spcBef>
                <a:spcPts val="400"/>
              </a:spcBef>
              <a:spcAft>
                <a:spcPts val="0"/>
              </a:spcAft>
              <a:buClr>
                <a:srgbClr val="52A1B9"/>
              </a:buClr>
              <a:buSzPts val="1400"/>
              <a:buFont typeface="JetBrains Mono Light"/>
              <a:buChar char="⇢"/>
            </a:pPr>
            <a:r>
              <a:rPr lang="en" sz="1400">
                <a:solidFill>
                  <a:schemeClr val="dk1"/>
                </a:solidFill>
                <a:latin typeface="JetBrains Mono Light"/>
                <a:ea typeface="JetBrains Mono Light"/>
                <a:cs typeface="JetBrains Mono Light"/>
                <a:sym typeface="JetBrains Mono Light"/>
              </a:rPr>
              <a:t>Paid version is affordable if you go for a monthly subscription and cancel</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8af389b1bb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1" name="Google Shape;731;g38af389b1bb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Petal is a document analysis tool.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Model - GPT 3</a:t>
            </a:r>
            <a:endParaRPr/>
          </a:p>
          <a:p>
            <a:pPr indent="0" lvl="0" marL="0" rtl="0" algn="l">
              <a:lnSpc>
                <a:spcPct val="100000"/>
              </a:lnSpc>
              <a:spcBef>
                <a:spcPts val="0"/>
              </a:spcBef>
              <a:spcAft>
                <a:spcPts val="0"/>
              </a:spcAft>
              <a:buSzPts val="1100"/>
              <a:buNone/>
            </a:pPr>
            <a:r>
              <a:rPr lang="en"/>
              <a:t>Corpus - whatever PDFs you upload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solidFill>
                  <a:schemeClr val="dk1"/>
                </a:solidFill>
              </a:rPr>
              <a:t>Professors et al</a:t>
            </a:r>
            <a:endParaRPr/>
          </a:p>
          <a:p>
            <a:pPr indent="0" lvl="0" marL="0" rtl="0" algn="l">
              <a:lnSpc>
                <a:spcPct val="100000"/>
              </a:lnSpc>
              <a:spcBef>
                <a:spcPts val="0"/>
              </a:spcBef>
              <a:spcAft>
                <a:spcPts val="0"/>
              </a:spcAft>
              <a:buSzPts val="1100"/>
              <a:buNone/>
            </a:pPr>
            <a:r>
              <a:rPr lang="en"/>
              <a:t>Et al = et alia = and others</a:t>
            </a:r>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8af389b1bb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5" name="Google Shape;755;g38af389b1b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signing up with an email and password (or authenticating through Google) Petal’s dashboard looks like this</a:t>
            </a:r>
            <a:endParaRPr/>
          </a:p>
          <a:p>
            <a:pPr indent="0" lvl="0" marL="0" rtl="0" algn="l">
              <a:lnSpc>
                <a:spcPct val="100000"/>
              </a:lnSpc>
              <a:spcBef>
                <a:spcPts val="0"/>
              </a:spcBef>
              <a:spcAft>
                <a:spcPts val="0"/>
              </a:spcAft>
              <a:buSzPts val="1100"/>
              <a:buNone/>
            </a:pPr>
            <a:r>
              <a:rPr lang="en"/>
              <a:t>-to summarize an article, use the Upload from Computer tile and choose your article</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
              <a:t>I don’t recommend using the Import via DOI box because the article metadata will come through but not the full text</a:t>
            </a:r>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8af389b1bb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2" name="Google Shape;772;g38af389b1bb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PDF you uploaded will display in a large window on the left</a:t>
            </a:r>
            <a:endParaRPr/>
          </a:p>
          <a:p>
            <a:pPr indent="0" lvl="0" marL="0" rtl="0" algn="l">
              <a:lnSpc>
                <a:spcPct val="100000"/>
              </a:lnSpc>
              <a:spcBef>
                <a:spcPts val="0"/>
              </a:spcBef>
              <a:spcAft>
                <a:spcPts val="0"/>
              </a:spcAft>
              <a:buSzPts val="1100"/>
              <a:buNone/>
            </a:pPr>
            <a:r>
              <a:rPr lang="en"/>
              <a:t>-you can chat with the PDF on the right hand side of the page, with the chat window at the bottom</a:t>
            </a:r>
            <a:endParaRPr/>
          </a:p>
          <a:p>
            <a:pPr indent="0" lvl="0" marL="0" rtl="0" algn="l">
              <a:lnSpc>
                <a:spcPct val="100000"/>
              </a:lnSpc>
              <a:spcBef>
                <a:spcPts val="0"/>
              </a:spcBef>
              <a:spcAft>
                <a:spcPts val="0"/>
              </a:spcAft>
              <a:buSzPts val="1100"/>
              <a:buNone/>
            </a:pPr>
            <a:r>
              <a:rPr lang="en"/>
              <a:t>-here we have asked Petal to summarize my document on training material.</a:t>
            </a:r>
            <a:br>
              <a:rPr lang="en"/>
            </a:br>
            <a:br>
              <a:rPr lang="en"/>
            </a:br>
            <a:r>
              <a:rPr lang="en"/>
              <a:t>Question: Can you summarise the paper for me, with main points and key takeaways?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-here is a close up view of the summary, it extends below this image</a:t>
            </a:r>
            <a:endParaRPr/>
          </a:p>
          <a:p>
            <a:pPr indent="0" lvl="0" marL="0" rtl="0" algn="l">
              <a:lnSpc>
                <a:spcPct val="100000"/>
              </a:lnSpc>
              <a:spcBef>
                <a:spcPts val="0"/>
              </a:spcBef>
              <a:spcAft>
                <a:spcPts val="0"/>
              </a:spcAft>
              <a:buSzPts val="1100"/>
              <a:buNone/>
            </a:pPr>
            <a:r>
              <a:rPr lang="en"/>
              <a:t>-there’s no way to set up the Petal dashboard differently that I can find, so there ends up being a lot of scrolling</a:t>
            </a:r>
            <a:endParaRPr/>
          </a:p>
          <a:p>
            <a:pPr indent="0" lvl="0" marL="0" rtl="0" algn="l">
              <a:lnSpc>
                <a:spcPct val="100000"/>
              </a:lnSpc>
              <a:spcBef>
                <a:spcPts val="0"/>
              </a:spcBef>
              <a:spcAft>
                <a:spcPts val="0"/>
              </a:spcAft>
              <a:buSzPts val="1100"/>
              <a:buNone/>
            </a:pPr>
            <a:r>
              <a:rPr lang="en"/>
              <a:t>-inside of the summaries or any questions Petal answers are citations to where in the article the information was found</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8af389b1bb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1" name="Google Shape;791;g38af389b1bb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Since the article is an article we have written, it is quite easy to evaluate the accuracy of the tool in summarising the points and the follow-up question. Highlighted in yellow, you see that the tool rightfully mentions that explicit metrics how to measure FAIRness are not mentioned in the article.</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cfdd9c33af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0" name="Google Shape;810;g3cfdd9c33af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8af389b1b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2" name="Google Shape;832;g38af389b1b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cfdd9c33af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0" name="Google Shape;840;g3cfdd9c33af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68bcb40ff2_0_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7" name="Google Shape;847;g368bcb40ff2_0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https://effortlessacademic.com/googles-notebooklm-updates-in-2025-for-literature-review-and-study/#Timeline_Identify_Developments_Prominent_Authors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840b7833a0_0_2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8" name="Google Shape;858;g3840b7833a0_0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rgbClr val="11223D"/>
                </a:solidFill>
              </a:rPr>
              <a:t>Now, let’s dive in where AI tools can help us in the whole writing process.</a:t>
            </a:r>
            <a:br>
              <a:rPr lang="en">
                <a:solidFill>
                  <a:srgbClr val="11223D"/>
                </a:solidFill>
              </a:rPr>
            </a:br>
            <a:br>
              <a:rPr lang="en">
                <a:solidFill>
                  <a:srgbClr val="11223D"/>
                </a:solidFill>
              </a:rPr>
            </a:br>
            <a:r>
              <a:rPr lang="en">
                <a:solidFill>
                  <a:srgbClr val="11223D"/>
                </a:solidFill>
              </a:rPr>
              <a:t>AI-assisted literature discovery and analysis involves a structured approach to efficiently navigate and synthesize vast amounts of information. The first step is to develop a search strategy, which involves defining the scope and keywords for your research. This ensures that your search is focused and relevant. Next, explore the various flavors of literature search tools available, each offering unique features to help you screen and triangulate your results. This step is crucial for filtering out irrelevant information and honing in on the most pertinent studies.</a:t>
            </a:r>
            <a:endParaRPr>
              <a:solidFill>
                <a:srgbClr val="11223D"/>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1223D"/>
                </a:solidFill>
              </a:rPr>
              <a:t>Once you have a curated list of literature, organize the selected works into a matrix. This helps in systematically analyzing the content to identify patterns and gaps in the existing research. By visualizing the data in this way, you can more easily spot trends and areas that require further investigation.</a:t>
            </a:r>
            <a:endParaRPr>
              <a:solidFill>
                <a:srgbClr val="11223D"/>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1223D"/>
                </a:solidFill>
              </a:rPr>
              <a:t>The final steps involve synthesizing and writing your findings, followed by a thorough revision. Synthesis involves integrating the insights from your analysis into a coherent narrative, while revision ensures that your work is polished and free of errors. This comprehensive approach leverages AI to streamline the literature review process, making it more efficient and effective.</a:t>
            </a:r>
            <a:endParaRPr>
              <a:solidFill>
                <a:srgbClr val="11223D"/>
              </a:solidFill>
            </a:endParaRPr>
          </a:p>
          <a:p>
            <a:pPr indent="0" lvl="0" marL="0" rtl="0" algn="l">
              <a:lnSpc>
                <a:spcPct val="100000"/>
              </a:lnSpc>
              <a:spcBef>
                <a:spcPts val="1200"/>
              </a:spcBef>
              <a:spcAft>
                <a:spcPts val="0"/>
              </a:spcAft>
              <a:buSzPts val="1100"/>
              <a:buNone/>
            </a:pPr>
            <a:r>
              <a:t/>
            </a:r>
            <a:endParaRPr>
              <a:solidFill>
                <a:srgbClr val="11223D"/>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840b7833a0_0_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5" name="Google Shape;865;g3840b7833a0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https://www.freepik.com/icon/upload_15423209#fromView=search&amp;page=1&amp;position=0&amp;uuid=6337ce6c-9400-4e68-a14d-ae390dc4c0bc</a:t>
            </a:r>
            <a:endParaRPr/>
          </a:p>
          <a:p>
            <a:pPr indent="0" lvl="0" marL="0" rtl="0" algn="l">
              <a:lnSpc>
                <a:spcPct val="100000"/>
              </a:lnSpc>
              <a:spcBef>
                <a:spcPts val="0"/>
              </a:spcBef>
              <a:spcAft>
                <a:spcPts val="0"/>
              </a:spcAft>
              <a:buSzPts val="1100"/>
              <a:buNone/>
            </a:pPr>
            <a:r>
              <a:rPr lang="en" u="sng">
                <a:solidFill>
                  <a:schemeClr val="hlink"/>
                </a:solidFill>
                <a:hlinkClick r:id="rId3"/>
              </a:rPr>
              <a:t>https://www.freepik.com/icon/download_8163379#fromView=resource_detail&amp;position=10</a:t>
            </a:r>
            <a:r>
              <a:rPr lang="en"/>
              <a:t> </a:t>
            </a:r>
            <a:br>
              <a:rPr lang="en"/>
            </a:br>
            <a:br>
              <a:rPr lang="en"/>
            </a:br>
            <a:r>
              <a:rPr lang="en"/>
              <a:t>PaperPal, jenni, avidnote</a:t>
            </a:r>
            <a:br>
              <a:rPr lang="en"/>
            </a:br>
            <a:br>
              <a:rPr lang="en"/>
            </a:br>
            <a:r>
              <a:rPr lang="en"/>
              <a:t>Writing a research paper involves several critical dimensions that contribute to its overall quality and effectiveness. </a:t>
            </a:r>
            <a:br>
              <a:rPr lang="en"/>
            </a:br>
            <a:r>
              <a:rPr lang="en"/>
              <a:t>Depth is essential, as it encompasses the thorough exploration of ideas, the integration of diverse sources, and detailed analysis. A variety and range of language are crucial to articulate complex concepts and present a well-rounded argument. </a:t>
            </a:r>
            <a:br>
              <a:rPr lang="en"/>
            </a:br>
            <a:r>
              <a:rPr lang="en"/>
              <a:t>Flow is another key dimension, ensuring that the paper exhibits smooth expression, clear connections between ideas, and overall fluency. This helps maintain the reader’s engagement and ensures that the argument progresses logically. </a:t>
            </a:r>
            <a:br>
              <a:rPr lang="en"/>
            </a:br>
            <a:r>
              <a:rPr lang="en"/>
              <a:t>Accuracy is equally important, as it involves precise spelling, grammar, punctuation, and proper citation formatting. Attention to these details not only enhances the professionalism of the paper but also upholds academic integrity by giving due credit to original sources. Together, these dimensions create a comprehensive and compelling research paper.</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7eb8bae26d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2" name="Google Shape;882;g37eb8bae26d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Human-in-the-loop writing, often visualized as an “AI sandwich,” integrates both artificial intelligence and human expertise to enhance the writing process. </a:t>
            </a:r>
            <a:br>
              <a:rPr lang="en"/>
            </a:br>
            <a:br>
              <a:rPr lang="en"/>
            </a:br>
            <a:r>
              <a:rPr lang="en"/>
              <a:t>This approach begins with AI exploration, where advanced tools assist in gathering information, generating ideas, and outlining initial concepts. </a:t>
            </a:r>
            <a:br>
              <a:rPr lang="en"/>
            </a:br>
            <a:br>
              <a:rPr lang="en"/>
            </a:br>
            <a:r>
              <a:rPr lang="en"/>
              <a:t>The main ingredient of the process is human drafting, where writers bring their creativity, critical thinking, and subject matter expertise to craft the core content. </a:t>
            </a:r>
            <a:br>
              <a:rPr lang="en"/>
            </a:br>
            <a:br>
              <a:rPr lang="en"/>
            </a:br>
            <a:r>
              <a:rPr lang="en"/>
              <a:t>Following this, AI-supported feedback provides valuable insights, suggesting improvements in structure, style, and coherence. </a:t>
            </a:r>
            <a:br>
              <a:rPr lang="en"/>
            </a:br>
            <a:br>
              <a:rPr lang="en"/>
            </a:br>
            <a:r>
              <a:rPr lang="en"/>
              <a:t>Finally, the process is completed with human quality control, where proofreading ensures the highest standards of accuracy, clarity, and overall quality. This collaborative method leverages the strengths of both AI and human capabilities, resulting in well-rounded, polished, and impactful written work.</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3" name="Google Shape;893;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https://www.linkedin.com/posts/bernardmarr_future-of-writing-and-ai-how-textjam-is-activity-7369741354135986177-dqwP?utm_source=share&amp;utm_medium=member_desktop&amp;rcm=ACoAAABqGrYBTtGP9GGkyU9wUUDVqgt9cz9jvZg</a:t>
            </a:r>
            <a:endParaRPr sz="14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7eb8bae26d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0" name="Google Shape;900;g37eb8bae26d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Human-in-the-loop writing, often visualized as an “AI sandwich,” integrates both artificial intelligence and human expertise to enhance the writing process. </a:t>
            </a:r>
            <a:br>
              <a:rPr lang="en"/>
            </a:br>
            <a:br>
              <a:rPr lang="en"/>
            </a:br>
            <a:r>
              <a:rPr lang="en"/>
              <a:t>This approach begins with AI exploration, where advanced tools assist in gathering information, generating ideas, and outlining initial concepts. </a:t>
            </a:r>
            <a:br>
              <a:rPr lang="en"/>
            </a:br>
            <a:br>
              <a:rPr lang="en"/>
            </a:br>
            <a:r>
              <a:rPr lang="en"/>
              <a:t>The main ingredient of the process is human drafting, where writers bring their creativity, critical thinking, and subject matter expertise to craft the core content. </a:t>
            </a:r>
            <a:br>
              <a:rPr lang="en"/>
            </a:br>
            <a:br>
              <a:rPr lang="en"/>
            </a:br>
            <a:r>
              <a:rPr lang="en"/>
              <a:t>Following this, AI-supported feedback provides valuable insights, suggesting improvements in structure, style, and coherence. </a:t>
            </a:r>
            <a:br>
              <a:rPr lang="en"/>
            </a:br>
            <a:br>
              <a:rPr lang="en"/>
            </a:br>
            <a:r>
              <a:rPr lang="en"/>
              <a:t>Finally, the process is completed with human quality control, where proofreading ensures the highest standards of accuracy, clarity, and overall quality. This collaborative method leverages the strengths of both AI and human capabilities, resulting in well-rounded, polished, and impactful written work.</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7" name="Google Shape;907;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Human-in-the-loop writing, often visualized as an “AI sandwich,” integrates both artificial intelligence and human expertise to enhance the writing process. </a:t>
            </a:r>
            <a:br>
              <a:rPr lang="en"/>
            </a:br>
            <a:br>
              <a:rPr lang="en"/>
            </a:br>
            <a:r>
              <a:rPr lang="en"/>
              <a:t>This approach begins with AI exploration, where advanced tools assist in gathering information, generating ideas, and outlining initial concepts. </a:t>
            </a:r>
            <a:br>
              <a:rPr lang="en"/>
            </a:br>
            <a:br>
              <a:rPr lang="en"/>
            </a:br>
            <a:r>
              <a:rPr lang="en"/>
              <a:t>The main ingredient of the process is human drafting, where writers bring their creativity, critical thinking, and subject matter expertise to craft the core content. </a:t>
            </a:r>
            <a:br>
              <a:rPr lang="en"/>
            </a:br>
            <a:br>
              <a:rPr lang="en"/>
            </a:br>
            <a:r>
              <a:rPr lang="en"/>
              <a:t>Following this, AI-supported feedback provides valuable insights, suggesting improvements in structure, style, and coherence. </a:t>
            </a:r>
            <a:br>
              <a:rPr lang="en"/>
            </a:br>
            <a:br>
              <a:rPr lang="en"/>
            </a:br>
            <a:r>
              <a:rPr lang="en"/>
              <a:t>Finally, the process is completed with human quality control, where proofreading ensures the highest standards of accuracy, clarity, and overall quality. This collaborative method leverages the strengths of both AI and human capabilities, resulting in well-rounded, polished, and impactful written work.</a:t>
            </a:r>
            <a:br>
              <a:rPr lang="en"/>
            </a:br>
            <a:br>
              <a:rPr lang="en"/>
            </a:br>
            <a:r>
              <a:rPr lang="en" sz="1400">
                <a:solidFill>
                  <a:schemeClr val="dk1"/>
                </a:solidFill>
              </a:rPr>
              <a:t>https://publications.coventry.ac.uk/index.php/joaw/article/view/1117/1142</a:t>
            </a:r>
            <a:endParaRPr sz="14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af92d0617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4" name="Google Shape;914;g3af92d0617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7eb8bae26d_0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g37eb8bae26d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			Publication &amp; AI		</a:t>
            </a:r>
            <a:endParaRPr b="1"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you have used Artificial Intelligence (AI) in the research process it is important to understand the legal and ethical considerations when publishing. We will explore what publishers are considering regarding the use of AI and if grant applications can have AI generated content. Then we’ll discuss the legal and copyright issues involved in publishing research that uses AI. The chapter on</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Presenting outputs created with AI</a:t>
            </a:r>
            <a:r>
              <a:rPr lang="en">
                <a:solidFill>
                  <a:schemeClr val="dk1"/>
                </a:solidFill>
              </a:rPr>
              <a:t> talks more about acknowledging the use of AI in research and providing appropriate attribution plus considers more on ethics.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u="sng">
                <a:solidFill>
                  <a:schemeClr val="hlink"/>
                </a:solidFill>
                <a:hlinkClick r:id="rId4"/>
              </a:rPr>
              <a:t>Using AI in articles for publication</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5"/>
              </a:rPr>
              <a:t>Using AI in grant applications</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6"/>
              </a:rPr>
              <a:t>Copyright</a:t>
            </a:r>
            <a:endParaRPr u="sng">
              <a:solidFill>
                <a:schemeClr val="hlink"/>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Using AI in articles for publication</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Major publishers have policies on the use of generative AI (GAI) in articles submitted for publication, as well reviewing and editing. If you intend to publish your work read the publisher’s information page for authors to check whether using GAI for article preparation is allowed. Currently no major publishers permit AI tools to be an author (</a:t>
            </a:r>
            <a:r>
              <a:rPr lang="en" u="sng">
                <a:solidFill>
                  <a:schemeClr val="hlink"/>
                </a:solidFill>
                <a:hlinkClick r:id="rId7"/>
              </a:rPr>
              <a:t>Ganjavi, et al., 2024</a:t>
            </a:r>
            <a:r>
              <a:rPr lang="en">
                <a:solidFill>
                  <a:schemeClr val="dk1"/>
                </a:solidFill>
              </a:rPr>
              <a:t>). AI tools cannot carry out the role of an author in making a substantial contribution, approving a final version or being accountable for accuracy, integrity and license agreements (</a:t>
            </a:r>
            <a:r>
              <a:rPr lang="en" u="sng">
                <a:solidFill>
                  <a:schemeClr val="hlink"/>
                </a:solidFill>
                <a:hlinkClick r:id="rId8"/>
              </a:rPr>
              <a:t>Committee on Publication Ethics, 2023</a:t>
            </a:r>
            <a:r>
              <a:rPr lang="en">
                <a:solidFill>
                  <a:schemeClr val="dk1"/>
                </a:solidFill>
              </a:rPr>
              <a:t>). These tasks require knowledge of the subject, critical thinking, analysis, and interpretation of data (</a:t>
            </a:r>
            <a:r>
              <a:rPr lang="en" u="sng">
                <a:solidFill>
                  <a:schemeClr val="hlink"/>
                </a:solidFill>
                <a:hlinkClick r:id="rId9"/>
              </a:rPr>
              <a:t>Kaebnick, et al., 2023</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AI is not considered capable of initiating an original piece of research without direction from human authors. AI also raises issues of plagiarism as there is no guarantee that content is original and not copied from existing sources. While some AI tools can assist in the literature review process, they cannot apply the judgement or evaluation added by the researcher.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allowable use of GAI and how it should be disclosed varies between publishers and journals.  Standardised guidelines have not yet been developed (</a:t>
            </a:r>
            <a:r>
              <a:rPr lang="en" u="sng">
                <a:solidFill>
                  <a:schemeClr val="hlink"/>
                </a:solidFill>
                <a:hlinkClick r:id="rId10"/>
              </a:rPr>
              <a:t>Ganjavi, et al., 2024</a:t>
            </a:r>
            <a:r>
              <a:rPr lang="en">
                <a:solidFill>
                  <a:schemeClr val="dk1"/>
                </a:solidFill>
              </a:rPr>
              <a:t>)  See the list below for some examples of publisher policies.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u="sng">
                <a:solidFill>
                  <a:schemeClr val="hlink"/>
                </a:solidFill>
                <a:hlinkClick r:id="rId11"/>
              </a:rPr>
              <a:t>Cambridge University Press</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2"/>
              </a:rPr>
              <a:t>Elsevier</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3"/>
              </a:rPr>
              <a:t>Emerald</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4"/>
              </a:rPr>
              <a:t>IEEE</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5"/>
              </a:rPr>
              <a:t>SAGE</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6"/>
              </a:rPr>
              <a:t>Science</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7"/>
              </a:rPr>
              <a:t>Springer Nature</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8"/>
              </a:rPr>
              <a:t>Taylor &amp; Francis</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9"/>
              </a:rPr>
              <a:t>Wiley</a:t>
            </a:r>
            <a:endParaRPr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Practices and policies around use of AI in education, research and publishing are rapidly evolving. Some current articles include: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Lin, Z. (2024). Towards an AI policy framework in scholarly publishing, </a:t>
            </a:r>
            <a:r>
              <a:rPr i="1" lang="en">
                <a:solidFill>
                  <a:schemeClr val="dk1"/>
                </a:solidFill>
              </a:rPr>
              <a:t>Trends in Cognitive Sciences,</a:t>
            </a:r>
            <a:r>
              <a:rPr lang="en">
                <a:solidFill>
                  <a:schemeClr val="dk1"/>
                </a:solidFill>
              </a:rPr>
              <a:t> </a:t>
            </a:r>
            <a:r>
              <a:rPr i="1" lang="en">
                <a:solidFill>
                  <a:schemeClr val="dk1"/>
                </a:solidFill>
              </a:rPr>
              <a:t>28</a:t>
            </a:r>
            <a:r>
              <a:rPr lang="en">
                <a:solidFill>
                  <a:schemeClr val="dk1"/>
                </a:solidFill>
              </a:rPr>
              <a:t>(2), 85-88.</a:t>
            </a:r>
            <a:r>
              <a:rPr lang="en">
                <a:solidFill>
                  <a:schemeClr val="dk1"/>
                </a:solidFill>
                <a:uFill>
                  <a:noFill/>
                </a:uFill>
                <a:hlinkClick r:id="rId20">
                  <a:extLst>
                    <a:ext uri="{A12FA001-AC4F-418D-AE19-62706E023703}">
                      <ahyp:hlinkClr val="tx"/>
                    </a:ext>
                  </a:extLst>
                </a:hlinkClick>
              </a:rPr>
              <a:t> </a:t>
            </a:r>
            <a:r>
              <a:rPr lang="en" u="sng">
                <a:solidFill>
                  <a:schemeClr val="hlink"/>
                </a:solidFill>
                <a:hlinkClick r:id="rId21"/>
              </a:rPr>
              <a:t>https://doi.org/10.1016/j.tics.2023.12.002</a:t>
            </a:r>
            <a:r>
              <a:rPr lang="en">
                <a:solidFill>
                  <a:schemeClr val="dk1"/>
                </a:solidFill>
              </a:rPr>
              <a:t> discusses the needs for coherent AI policy; reviews policy commonalities, inconsistencies and limitations, and summarises current AI policies for authors and reviewers, and offers some recommendations for policy development.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Pinzolits, R. (2023). AI in academia: An overview of selected tools and their areas of application, </a:t>
            </a:r>
            <a:r>
              <a:rPr i="1" lang="en">
                <a:solidFill>
                  <a:schemeClr val="dk1"/>
                </a:solidFill>
              </a:rPr>
              <a:t>MAP Education and Humanities</a:t>
            </a:r>
            <a:r>
              <a:rPr lang="en">
                <a:solidFill>
                  <a:schemeClr val="dk1"/>
                </a:solidFill>
              </a:rPr>
              <a:t>, 4, 37-50.</a:t>
            </a:r>
            <a:r>
              <a:rPr lang="en">
                <a:solidFill>
                  <a:schemeClr val="dk1"/>
                </a:solidFill>
                <a:uFill>
                  <a:noFill/>
                </a:uFill>
                <a:hlinkClick r:id="rId22">
                  <a:extLst>
                    <a:ext uri="{A12FA001-AC4F-418D-AE19-62706E023703}">
                      <ahyp:hlinkClr val="tx"/>
                    </a:ext>
                  </a:extLst>
                </a:hlinkClick>
              </a:rPr>
              <a:t> </a:t>
            </a:r>
            <a:r>
              <a:rPr lang="en" u="sng">
                <a:solidFill>
                  <a:schemeClr val="hlink"/>
                </a:solidFill>
                <a:hlinkClick r:id="rId23"/>
              </a:rPr>
              <a:t>https://doi.org/10.53880/2744-2373.2023.4.37</a:t>
            </a:r>
            <a:r>
              <a:rPr lang="en">
                <a:solidFill>
                  <a:schemeClr val="dk1"/>
                </a:solidFill>
              </a:rPr>
              <a:t> “provides a comprehensive overview of AI tools that can be used for academic purposes. The perspective of a university educator is taken to guide educators in higher education on emerging AI technologies. The paper covers a range of tools, including those for searching the literature, attributions to peer-reviewed articles, scientific writing, and academic writing and editing. The objective is to foster an informed approach to the integration of AI tools in academic settings, ensuring that educators are well-equipped to leverage these technologies to enhance the quality and output of academic work. The paper also discusses ethical considerations related to the use of AI in academia.”  (Summary generated by Perplexity</a:t>
            </a:r>
            <a:r>
              <a:rPr lang="en">
                <a:solidFill>
                  <a:schemeClr val="dk1"/>
                </a:solidFill>
                <a:uFill>
                  <a:noFill/>
                </a:uFill>
                <a:hlinkClick r:id="rId24">
                  <a:extLst>
                    <a:ext uri="{A12FA001-AC4F-418D-AE19-62706E023703}">
                      <ahyp:hlinkClr val="tx"/>
                    </a:ext>
                  </a:extLst>
                </a:hlinkClick>
              </a:rPr>
              <a:t> </a:t>
            </a:r>
            <a:r>
              <a:rPr lang="en" u="sng">
                <a:solidFill>
                  <a:schemeClr val="hlink"/>
                </a:solidFill>
                <a:hlinkClick r:id="rId25"/>
              </a:rPr>
              <a:t>https://www.perplexity.ai/</a:t>
            </a:r>
            <a:r>
              <a:rPr lang="en">
                <a:solidFill>
                  <a:schemeClr val="dk1"/>
                </a:solidFill>
              </a:rPr>
              <a:t> using the prompt “summarise this paper” 2024, February 16).</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1400">
                <a:solidFill>
                  <a:schemeClr val="dk1"/>
                </a:solidFill>
              </a:rPr>
              <a:t>Using AI in grant applications</a:t>
            </a:r>
            <a:endParaRPr b="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principles of integrity and accountability apply to all stages of research including grant applications. Also consider privacy and confidentiality and IP if uploading information into AI tools for funding applications.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u="sng">
                <a:solidFill>
                  <a:schemeClr val="hlink"/>
                </a:solidFill>
                <a:hlinkClick r:id="rId26"/>
              </a:rPr>
              <a:t>NHMRC Policy on Use of Generative Artificial Intelligence in Grant Applications and Peer Review</a:t>
            </a:r>
            <a:br>
              <a:rPr lang="en" u="sng">
                <a:solidFill>
                  <a:schemeClr val="hlink"/>
                </a:solidFill>
                <a:hlinkClick r:id="rId27"/>
              </a:rPr>
            </a:br>
            <a:br>
              <a:rPr lang="en" u="sng">
                <a:solidFill>
                  <a:schemeClr val="hlink"/>
                </a:solidFill>
                <a:hlinkClick r:id="rId28"/>
              </a:rPr>
            </a:br>
            <a:br>
              <a:rPr lang="en" u="sng">
                <a:solidFill>
                  <a:schemeClr val="hlink"/>
                </a:solidFill>
                <a:hlinkClick r:id="rId29"/>
              </a:rPr>
            </a:br>
            <a:r>
              <a:rPr lang="en">
                <a:solidFill>
                  <a:schemeClr val="dk1"/>
                </a:solidFill>
              </a:rPr>
              <a:t>  (29 June 2023)</a:t>
            </a:r>
            <a:br>
              <a:rPr lang="en">
                <a:solidFill>
                  <a:schemeClr val="dk1"/>
                </a:solidFill>
              </a:rPr>
            </a:br>
            <a:br>
              <a:rPr lang="en">
                <a:solidFill>
                  <a:schemeClr val="dk1"/>
                </a:solidFill>
              </a:rPr>
            </a:br>
            <a:r>
              <a:rPr lang="en">
                <a:solidFill>
                  <a:schemeClr val="dk1"/>
                </a:solidFill>
              </a:rPr>
              <a:t> “Applicants are to exercise caution when using generative AI tools in the preparation of grant applications, given it may not be possible to monitor or manage subsequent use of information entered into generative AI databases. “</a:t>
            </a:r>
            <a:br>
              <a:rPr lang="en">
                <a:solidFill>
                  <a:schemeClr val="dk1"/>
                </a:solidFill>
              </a:rPr>
            </a:br>
            <a:br>
              <a:rPr lang="en">
                <a:solidFill>
                  <a:schemeClr val="dk1"/>
                </a:solidFill>
              </a:rPr>
            </a:br>
            <a:r>
              <a:rPr lang="en">
                <a:solidFill>
                  <a:schemeClr val="dk1"/>
                </a:solidFill>
              </a:rPr>
              <a:t> “Applicants and their Administering Institutions must certify that all information provided in their applications is accurate and are accountable for any misinformation and factual errors more broadly, including those resulting from the use of generative AI in their applications.”</a:t>
            </a:r>
            <a:br>
              <a:rPr lang="en">
                <a:solidFill>
                  <a:schemeClr val="dk1"/>
                </a:solidFill>
              </a:rPr>
            </a:br>
            <a:br>
              <a:rPr lang="en">
                <a:solidFill>
                  <a:schemeClr val="dk1"/>
                </a:solidFill>
              </a:rPr>
            </a:b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30"/>
              </a:rPr>
              <a:t>ARC Policy on Use of Generative Artificial Intelligence in the ARC’s grants programs</a:t>
            </a:r>
            <a:br>
              <a:rPr lang="en" u="sng">
                <a:solidFill>
                  <a:schemeClr val="hlink"/>
                </a:solidFill>
                <a:hlinkClick r:id="rId31"/>
              </a:rPr>
            </a:br>
            <a:br>
              <a:rPr lang="en" u="sng">
                <a:solidFill>
                  <a:schemeClr val="hlink"/>
                </a:solidFill>
                <a:hlinkClick r:id="rId32"/>
              </a:rPr>
            </a:br>
            <a:r>
              <a:rPr lang="en">
                <a:solidFill>
                  <a:schemeClr val="dk1"/>
                </a:solidFill>
              </a:rPr>
              <a:t> (7 July 2023)</a:t>
            </a:r>
            <a:br>
              <a:rPr lang="en">
                <a:solidFill>
                  <a:schemeClr val="dk1"/>
                </a:solidFill>
              </a:rPr>
            </a:br>
            <a:br>
              <a:rPr lang="en">
                <a:solidFill>
                  <a:schemeClr val="dk1"/>
                </a:solidFill>
              </a:rPr>
            </a:br>
            <a:r>
              <a:rPr lang="en">
                <a:solidFill>
                  <a:schemeClr val="dk1"/>
                </a:solidFill>
              </a:rPr>
              <a:t> The ARC advises applicants to use caution in relation to the use of generative AI tools in developing their grant applications.</a:t>
            </a:r>
            <a:br>
              <a:rPr lang="en">
                <a:solidFill>
                  <a:schemeClr val="dk1"/>
                </a:solidFill>
              </a:rPr>
            </a:br>
            <a:r>
              <a:rPr lang="en">
                <a:solidFill>
                  <a:schemeClr val="dk1"/>
                </a:solidFill>
              </a:rPr>
              <a:t> The DVC-R is required to certify applications on submission to the ARC. This includes certification that all participants are responsible for the authorship and intellectual content of the application.  Applications  must not breach the</a:t>
            </a:r>
            <a:r>
              <a:rPr lang="en">
                <a:solidFill>
                  <a:schemeClr val="dk1"/>
                </a:solidFill>
                <a:uFill>
                  <a:noFill/>
                </a:uFill>
                <a:hlinkClick r:id="rId33">
                  <a:extLst>
                    <a:ext uri="{A12FA001-AC4F-418D-AE19-62706E023703}">
                      <ahyp:hlinkClr val="tx"/>
                    </a:ext>
                  </a:extLst>
                </a:hlinkClick>
              </a:rPr>
              <a:t> </a:t>
            </a:r>
            <a:r>
              <a:rPr lang="en" u="sng">
                <a:solidFill>
                  <a:schemeClr val="hlink"/>
                </a:solidFill>
                <a:hlinkClick r:id="rId34"/>
              </a:rPr>
              <a:t>Australian Code for the Responsible Conduct of Research 2018</a:t>
            </a:r>
            <a:r>
              <a:rPr lang="en">
                <a:solidFill>
                  <a:schemeClr val="dk1"/>
                </a:solidFill>
              </a:rPr>
              <a:t>.</a:t>
            </a:r>
            <a:br>
              <a:rPr lang="en">
                <a:solidFill>
                  <a:schemeClr val="dk1"/>
                </a:solidFill>
              </a:rPr>
            </a:br>
            <a:br>
              <a:rPr lang="en">
                <a:solidFill>
                  <a:schemeClr val="dk1"/>
                </a:solidFill>
              </a:rPr>
            </a:b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highlight>
                  <a:srgbClr val="FFFFFF"/>
                </a:highlight>
              </a:rPr>
              <a:t>Copyright</a:t>
            </a:r>
            <a:endParaRPr b="1" sz="2300">
              <a:solidFill>
                <a:schemeClr val="dk1"/>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There are ongoing debates and legal uncertainties about copyright and generative AI (GAI) both in Australia and globally.  The main concerns around copyright are: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 Copyright protected works are used to train generative AI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Data used for training AI systems may include text, artworks, images, music, audio, computer code and metadata, and other materials that are protected by copyright. There is often a lack of transparency about the source of materials that have been used to build databases to ‘train’ AI systems, which may include copyrighted works from websites, social media and blogs. Some content creators argue that their content should not be used by AI systems without consent or payment and there are calls for increased transparency to enable copyright owners to maintain visibility over when and how their materials are being used. When using AI tools, uploading third party material may be infringing the copyright owners rights.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Australian Copyright legislation is not technology friendly.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Copyright legislation is not the same in all countries. Users of copyright material have to abide by the legislation in the country where they are using the work. Australia’s “fair dealing” exceptions are more restrictive than “fair use” exceptions in some other countries. Specifically, there is no exception in Australian copyright law for text and data mining. Investors argue that inflexible and outdated copyright law poses a barrier to investment in AI in Australia, because they risk exposing themselves to copyright infringement lawsuits. (</a:t>
            </a:r>
            <a:r>
              <a:rPr lang="en" u="sng">
                <a:solidFill>
                  <a:schemeClr val="hlink"/>
                </a:solidFill>
                <a:hlinkClick r:id="rId35"/>
              </a:rPr>
              <a:t>Australian Digital Alliance, 2022</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Globally there are uncertainties due to the international nature of AI. For example, while the inclusion of a certain work in training material for an AI might constitute infringement in one jurisdiction, that may not be the case in another jurisdiction, yet the AI product may be available for use in both. (</a:t>
            </a:r>
            <a:r>
              <a:rPr lang="en" u="sng">
                <a:solidFill>
                  <a:schemeClr val="hlink"/>
                </a:solidFill>
                <a:hlinkClick r:id="rId36"/>
              </a:rPr>
              <a:t>WIPO, 2024</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AI outputs may infringe copyright.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Copyright protects original works, not ideas or styles. For example, it may not be infringing copyright to paint a picture in the style of another artist, however if a picture is “substantially” copied it would be infringing. It is easy to create text, music and artwork with AI tools that imitate the style of human creators. Some creators argue that highly imitative works have the potential to impact their careers and revenue streams.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Content generated by AI systems may challenge traditional notions of authorship and originality.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many countries, including Australia, only humans can be copyright owners. However, that concept is currently being challenged in some jurisdictions. There is ongoing debate about the meaning of originality in work where AI is used in the creative process (</a:t>
            </a:r>
            <a:r>
              <a:rPr lang="en" u="sng">
                <a:solidFill>
                  <a:schemeClr val="hlink"/>
                </a:solidFill>
                <a:hlinkClick r:id="rId37"/>
              </a:rPr>
              <a:t>WIPO, 2024</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Copyright in the AI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Software and coding is protected under Copyright as a form of literary work. The Copyright Act does not have a specific provision for the protection of ‘databases’. However, as a ‘literary work’ is defined to include ‘a table, or compilation, expressed in words, figures or symbols’, a database may be protected by copyright as a compilation.  (</a:t>
            </a:r>
            <a:r>
              <a:rPr lang="en" u="sng">
                <a:solidFill>
                  <a:schemeClr val="hlink"/>
                </a:solidFill>
                <a:hlinkClick r:id="rId38"/>
              </a:rPr>
              <a:t>Australian Copyright Council, 2023</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legal uncertainties around copyright and AI highlight the need for organisations and individuals to be aware of and apply the principles of ethical use, fairness, integrity and transparency when using AI tools.</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References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Australian Copyright Council (2023, May) Artificial Intelligence &amp; Copyright Fact sheet G142v01.</a:t>
            </a:r>
            <a:r>
              <a:rPr lang="en">
                <a:solidFill>
                  <a:schemeClr val="dk1"/>
                </a:solidFill>
                <a:uFill>
                  <a:noFill/>
                </a:uFill>
                <a:hlinkClick r:id="rId39">
                  <a:extLst>
                    <a:ext uri="{A12FA001-AC4F-418D-AE19-62706E023703}">
                      <ahyp:hlinkClr val="tx"/>
                    </a:ext>
                  </a:extLst>
                </a:hlinkClick>
              </a:rPr>
              <a:t> </a:t>
            </a:r>
            <a:r>
              <a:rPr lang="en" sz="1400" u="sng">
                <a:solidFill>
                  <a:schemeClr val="hlink"/>
                </a:solidFill>
                <a:hlinkClick r:id="rId40"/>
              </a:rPr>
              <a:t>https://www.copyright.org.au/browse/book/Australian-Copyright-Council-Artificial-Intelligence-&amp;-Copyright-INFO142</a:t>
            </a:r>
            <a:endParaRPr sz="14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Australian Digital Alliance (2022, April 22) Submission in response to the digital technology taskforce’s automated decision making and AI regulation issues paper. </a:t>
            </a:r>
            <a:r>
              <a:rPr lang="en">
                <a:solidFill>
                  <a:schemeClr val="dk1"/>
                </a:solidFill>
                <a:uFill>
                  <a:noFill/>
                </a:uFill>
                <a:hlinkClick r:id="rId41">
                  <a:extLst>
                    <a:ext uri="{A12FA001-AC4F-418D-AE19-62706E023703}">
                      <ahyp:hlinkClr val="tx"/>
                    </a:ext>
                  </a:extLst>
                </a:hlinkClick>
              </a:rPr>
              <a:t> </a:t>
            </a:r>
            <a:r>
              <a:rPr lang="en" u="sng">
                <a:solidFill>
                  <a:schemeClr val="hlink"/>
                </a:solidFill>
                <a:hlinkClick r:id="rId42"/>
              </a:rPr>
              <a:t>https://digital.org.au/resources/dtt-adm-ai-issues-paper-submission/</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Committee on Publication Ethics [COPE] (2023, February 13) Authorship and AI tools: COPE position statement,</a:t>
            </a:r>
            <a:r>
              <a:rPr lang="en">
                <a:solidFill>
                  <a:schemeClr val="dk1"/>
                </a:solidFill>
                <a:uFill>
                  <a:noFill/>
                </a:uFill>
                <a:hlinkClick r:id="rId43">
                  <a:extLst>
                    <a:ext uri="{A12FA001-AC4F-418D-AE19-62706E023703}">
                      <ahyp:hlinkClr val="tx"/>
                    </a:ext>
                  </a:extLst>
                </a:hlinkClick>
              </a:rPr>
              <a:t> </a:t>
            </a:r>
            <a:r>
              <a:rPr lang="en" u="sng">
                <a:solidFill>
                  <a:schemeClr val="hlink"/>
                </a:solidFill>
                <a:hlinkClick r:id="rId44"/>
              </a:rPr>
              <a:t>https://publicationethics.org/cope-position-statements/ai-author</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Ganjavi, C., Eppler, M. B., Pekcan, A., Biedermann, B., Abreu, A., Collins, G. S. et al., (2024, January 31) Publishers’ and journals’ instructions to authors on use of generative artificial intelligence in academic and scientific publishing: bibliometric analysis, </a:t>
            </a:r>
            <a:r>
              <a:rPr i="1" lang="en">
                <a:solidFill>
                  <a:schemeClr val="dk1"/>
                </a:solidFill>
              </a:rPr>
              <a:t>BMJ,</a:t>
            </a:r>
            <a:r>
              <a:rPr lang="en">
                <a:solidFill>
                  <a:schemeClr val="dk1"/>
                </a:solidFill>
              </a:rPr>
              <a:t> 384.</a:t>
            </a:r>
            <a:r>
              <a:rPr lang="en">
                <a:solidFill>
                  <a:schemeClr val="dk1"/>
                </a:solidFill>
                <a:uFill>
                  <a:noFill/>
                </a:uFill>
                <a:hlinkClick r:id="rId45">
                  <a:extLst>
                    <a:ext uri="{A12FA001-AC4F-418D-AE19-62706E023703}">
                      <ahyp:hlinkClr val="tx"/>
                    </a:ext>
                  </a:extLst>
                </a:hlinkClick>
              </a:rPr>
              <a:t> </a:t>
            </a:r>
            <a:r>
              <a:rPr lang="en" u="sng">
                <a:solidFill>
                  <a:schemeClr val="hlink"/>
                </a:solidFill>
                <a:hlinkClick r:id="rId46"/>
              </a:rPr>
              <a:t>doi:10.1136/bmj-2023-077192</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sz="1400">
                <a:solidFill>
                  <a:schemeClr val="dk1"/>
                </a:solidFill>
              </a:rPr>
              <a:t>Kaebnick, G.E., Magnus, D. C., Kao, A., Hosseini, M., Resnik, D., Dubljević, V., Rentmeester, C., Gordijn, B., &amp; Cherry, M.J., (2023) Editors’ Statement on the Responsible Use of Generative AI Technologies in Scholarly Journal Publishing, </a:t>
            </a:r>
            <a:r>
              <a:rPr i="1" lang="en" sz="1400">
                <a:solidFill>
                  <a:schemeClr val="dk1"/>
                </a:solidFill>
              </a:rPr>
              <a:t>AJOB Neuroscience</a:t>
            </a:r>
            <a:r>
              <a:rPr lang="en" sz="1400">
                <a:solidFill>
                  <a:schemeClr val="dk1"/>
                </a:solidFill>
              </a:rPr>
              <a:t>, 14(4), 337-340. </a:t>
            </a:r>
            <a:r>
              <a:rPr lang="en" sz="1400">
                <a:solidFill>
                  <a:schemeClr val="dk1"/>
                </a:solidFill>
                <a:uFill>
                  <a:noFill/>
                </a:uFill>
                <a:hlinkClick r:id="rId47">
                  <a:extLst>
                    <a:ext uri="{A12FA001-AC4F-418D-AE19-62706E023703}">
                      <ahyp:hlinkClr val="tx"/>
                    </a:ext>
                  </a:extLst>
                </a:hlinkClick>
              </a:rPr>
              <a:t> </a:t>
            </a:r>
            <a:r>
              <a:rPr lang="en" sz="1400" u="sng">
                <a:solidFill>
                  <a:schemeClr val="hlink"/>
                </a:solidFill>
                <a:hlinkClick r:id="rId48"/>
              </a:rPr>
              <a:t>doi: 10.1080/21507740.2023.2257181</a:t>
            </a:r>
            <a:endParaRPr sz="14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World Intellectual Property Organization [WIPO] (2024, February 6) Generative AI, WIPO Conversation on intellectual property (IP) and frontier technologies: eighth session: summary</a:t>
            </a:r>
            <a:r>
              <a:rPr lang="en">
                <a:solidFill>
                  <a:schemeClr val="dk1"/>
                </a:solidFill>
                <a:uFill>
                  <a:noFill/>
                </a:uFill>
                <a:hlinkClick r:id="rId49">
                  <a:extLst>
                    <a:ext uri="{A12FA001-AC4F-418D-AE19-62706E023703}">
                      <ahyp:hlinkClr val="tx"/>
                    </a:ext>
                  </a:extLst>
                </a:hlinkClick>
              </a:rPr>
              <a:t> </a:t>
            </a:r>
            <a:r>
              <a:rPr lang="en" u="sng">
                <a:solidFill>
                  <a:schemeClr val="hlink"/>
                </a:solidFill>
                <a:hlinkClick r:id="rId50"/>
              </a:rPr>
              <a:t>https://www.wipo.int/meetings/en/details.jsp?meeting_id=78188</a:t>
            </a:r>
            <a:endParaRPr u="sng">
              <a:solidFill>
                <a:schemeClr val="hlink"/>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Declaration</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author acknowledges the use of </a:t>
            </a:r>
            <a:r>
              <a:rPr lang="en" u="sng">
                <a:solidFill>
                  <a:schemeClr val="hlink"/>
                </a:solidFill>
                <a:hlinkClick r:id="rId51"/>
              </a:rPr>
              <a:t>ChatGPT 4</a:t>
            </a:r>
            <a:r>
              <a:rPr lang="en">
                <a:solidFill>
                  <a:schemeClr val="dk1"/>
                </a:solidFill>
              </a:rPr>
              <a:t> to create an image titled “The dialogue of artificial intelligence and copyright” in February 2024, using the prompt: “Create an image of the interaction of artificial intelligence and copyright in the style of graffiti”.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t>Attribution: https://opentext.csu.edu.au/usingai/chapter/publication-and-ai/##usingaiinpublication</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892c90d450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7" name="Google Shape;937;g3892c90d450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			Publication &amp; AI		</a:t>
            </a:r>
            <a:endParaRPr b="1"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you have used Artificial Intelligence (AI) in the research process it is important to understand the legal and ethical considerations when publishing. We will explore what publishers are considering regarding the use of AI and if grant applications can have AI generated content. Then we’ll discuss the legal and copyright issues involved in publishing research that uses AI. The chapter on</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Presenting outputs created with AI</a:t>
            </a:r>
            <a:r>
              <a:rPr lang="en">
                <a:solidFill>
                  <a:schemeClr val="dk1"/>
                </a:solidFill>
              </a:rPr>
              <a:t> talks more about acknowledging the use of AI in research and providing appropriate attribution plus considers more on ethics.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u="sng">
                <a:solidFill>
                  <a:schemeClr val="hlink"/>
                </a:solidFill>
                <a:hlinkClick r:id="rId4"/>
              </a:rPr>
              <a:t>Using AI in articles for publication</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5"/>
              </a:rPr>
              <a:t>Using AI in grant applications</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6"/>
              </a:rPr>
              <a:t>Copyright</a:t>
            </a:r>
            <a:endParaRPr u="sng">
              <a:solidFill>
                <a:schemeClr val="hlink"/>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Using AI in articles for publication</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Major publishers have policies on the use of generative AI (GAI) in articles submitted for publication, as well reviewing and editing. If you intend to publish your work read the publisher’s information page for authors to check whether using GAI for article preparation is allowed. Currently no major publishers permit AI tools to be an author (</a:t>
            </a:r>
            <a:r>
              <a:rPr lang="en" u="sng">
                <a:solidFill>
                  <a:schemeClr val="hlink"/>
                </a:solidFill>
                <a:hlinkClick r:id="rId7"/>
              </a:rPr>
              <a:t>Ganjavi, et al., 2024</a:t>
            </a:r>
            <a:r>
              <a:rPr lang="en">
                <a:solidFill>
                  <a:schemeClr val="dk1"/>
                </a:solidFill>
              </a:rPr>
              <a:t>). AI tools cannot carry out the role of an author in making a substantial contribution, approving a final version or being accountable for accuracy, integrity and license agreements (</a:t>
            </a:r>
            <a:r>
              <a:rPr lang="en" u="sng">
                <a:solidFill>
                  <a:schemeClr val="hlink"/>
                </a:solidFill>
                <a:hlinkClick r:id="rId8"/>
              </a:rPr>
              <a:t>Committee on Publication Ethics, 2023</a:t>
            </a:r>
            <a:r>
              <a:rPr lang="en">
                <a:solidFill>
                  <a:schemeClr val="dk1"/>
                </a:solidFill>
              </a:rPr>
              <a:t>). These tasks require knowledge of the subject, critical thinking, analysis, and interpretation of data (</a:t>
            </a:r>
            <a:r>
              <a:rPr lang="en" u="sng">
                <a:solidFill>
                  <a:schemeClr val="hlink"/>
                </a:solidFill>
                <a:hlinkClick r:id="rId9"/>
              </a:rPr>
              <a:t>Kaebnick, et al., 2023</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AI is not considered capable of initiating an original piece of research without direction from human authors. AI also raises issues of plagiarism as there is no guarantee that content is original and not copied from existing sources. While some AI tools can assist in the literature review process, they cannot apply the judgement or evaluation added by the researcher.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allowable use of GAI and how it should be disclosed varies between publishers and journals.  Standardised guidelines have not yet been developed (</a:t>
            </a:r>
            <a:r>
              <a:rPr lang="en" u="sng">
                <a:solidFill>
                  <a:schemeClr val="hlink"/>
                </a:solidFill>
                <a:hlinkClick r:id="rId10"/>
              </a:rPr>
              <a:t>Ganjavi, et al., 2024</a:t>
            </a:r>
            <a:r>
              <a:rPr lang="en">
                <a:solidFill>
                  <a:schemeClr val="dk1"/>
                </a:solidFill>
              </a:rPr>
              <a:t>)  See the list below for some examples of publisher policies.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u="sng">
                <a:solidFill>
                  <a:schemeClr val="hlink"/>
                </a:solidFill>
                <a:hlinkClick r:id="rId11"/>
              </a:rPr>
              <a:t>Cambridge University Press</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2"/>
              </a:rPr>
              <a:t>Elsevier</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3"/>
              </a:rPr>
              <a:t>Emerald</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4"/>
              </a:rPr>
              <a:t>IEEE</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5"/>
              </a:rPr>
              <a:t>SAGE</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6"/>
              </a:rPr>
              <a:t>Science</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7"/>
              </a:rPr>
              <a:t>Springer Nature</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8"/>
              </a:rPr>
              <a:t>Taylor &amp; Francis</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19"/>
              </a:rPr>
              <a:t>Wiley</a:t>
            </a:r>
            <a:endParaRPr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Practices and policies around use of AI in education, research and publishing are rapidly evolving. Some current articles include: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Lin, Z. (2024). Towards an AI policy framework in scholarly publishing, </a:t>
            </a:r>
            <a:r>
              <a:rPr i="1" lang="en">
                <a:solidFill>
                  <a:schemeClr val="dk1"/>
                </a:solidFill>
              </a:rPr>
              <a:t>Trends in Cognitive Sciences,</a:t>
            </a:r>
            <a:r>
              <a:rPr lang="en">
                <a:solidFill>
                  <a:schemeClr val="dk1"/>
                </a:solidFill>
              </a:rPr>
              <a:t> </a:t>
            </a:r>
            <a:r>
              <a:rPr i="1" lang="en">
                <a:solidFill>
                  <a:schemeClr val="dk1"/>
                </a:solidFill>
              </a:rPr>
              <a:t>28</a:t>
            </a:r>
            <a:r>
              <a:rPr lang="en">
                <a:solidFill>
                  <a:schemeClr val="dk1"/>
                </a:solidFill>
              </a:rPr>
              <a:t>(2), 85-88.</a:t>
            </a:r>
            <a:r>
              <a:rPr lang="en">
                <a:solidFill>
                  <a:schemeClr val="dk1"/>
                </a:solidFill>
                <a:uFill>
                  <a:noFill/>
                </a:uFill>
                <a:hlinkClick r:id="rId20">
                  <a:extLst>
                    <a:ext uri="{A12FA001-AC4F-418D-AE19-62706E023703}">
                      <ahyp:hlinkClr val="tx"/>
                    </a:ext>
                  </a:extLst>
                </a:hlinkClick>
              </a:rPr>
              <a:t> </a:t>
            </a:r>
            <a:r>
              <a:rPr lang="en" u="sng">
                <a:solidFill>
                  <a:schemeClr val="hlink"/>
                </a:solidFill>
                <a:hlinkClick r:id="rId21"/>
              </a:rPr>
              <a:t>https://doi.org/10.1016/j.tics.2023.12.002</a:t>
            </a:r>
            <a:r>
              <a:rPr lang="en">
                <a:solidFill>
                  <a:schemeClr val="dk1"/>
                </a:solidFill>
              </a:rPr>
              <a:t> discusses the needs for coherent AI policy; reviews policy commonalities, inconsistencies and limitations, and summarises current AI policies for authors and reviewers, and offers some recommendations for policy development.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Pinzolits, R. (2023). AI in academia: An overview of selected tools and their areas of application, </a:t>
            </a:r>
            <a:r>
              <a:rPr i="1" lang="en">
                <a:solidFill>
                  <a:schemeClr val="dk1"/>
                </a:solidFill>
              </a:rPr>
              <a:t>MAP Education and Humanities</a:t>
            </a:r>
            <a:r>
              <a:rPr lang="en">
                <a:solidFill>
                  <a:schemeClr val="dk1"/>
                </a:solidFill>
              </a:rPr>
              <a:t>, 4, 37-50.</a:t>
            </a:r>
            <a:r>
              <a:rPr lang="en">
                <a:solidFill>
                  <a:schemeClr val="dk1"/>
                </a:solidFill>
                <a:uFill>
                  <a:noFill/>
                </a:uFill>
                <a:hlinkClick r:id="rId22">
                  <a:extLst>
                    <a:ext uri="{A12FA001-AC4F-418D-AE19-62706E023703}">
                      <ahyp:hlinkClr val="tx"/>
                    </a:ext>
                  </a:extLst>
                </a:hlinkClick>
              </a:rPr>
              <a:t> </a:t>
            </a:r>
            <a:r>
              <a:rPr lang="en" u="sng">
                <a:solidFill>
                  <a:schemeClr val="hlink"/>
                </a:solidFill>
                <a:hlinkClick r:id="rId23"/>
              </a:rPr>
              <a:t>https://doi.org/10.53880/2744-2373.2023.4.37</a:t>
            </a:r>
            <a:r>
              <a:rPr lang="en">
                <a:solidFill>
                  <a:schemeClr val="dk1"/>
                </a:solidFill>
              </a:rPr>
              <a:t> “provides a comprehensive overview of AI tools that can be used for academic purposes. The perspective of a university educator is taken to guide educators in higher education on emerging AI technologies. The paper covers a range of tools, including those for searching the literature, attributions to peer-reviewed articles, scientific writing, and academic writing and editing. The objective is to foster an informed approach to the integration of AI tools in academic settings, ensuring that educators are well-equipped to leverage these technologies to enhance the quality and output of academic work. The paper also discusses ethical considerations related to the use of AI in academia.”  (Summary generated by Perplexity</a:t>
            </a:r>
            <a:r>
              <a:rPr lang="en">
                <a:solidFill>
                  <a:schemeClr val="dk1"/>
                </a:solidFill>
                <a:uFill>
                  <a:noFill/>
                </a:uFill>
                <a:hlinkClick r:id="rId24">
                  <a:extLst>
                    <a:ext uri="{A12FA001-AC4F-418D-AE19-62706E023703}">
                      <ahyp:hlinkClr val="tx"/>
                    </a:ext>
                  </a:extLst>
                </a:hlinkClick>
              </a:rPr>
              <a:t> </a:t>
            </a:r>
            <a:r>
              <a:rPr lang="en" u="sng">
                <a:solidFill>
                  <a:schemeClr val="hlink"/>
                </a:solidFill>
                <a:hlinkClick r:id="rId25"/>
              </a:rPr>
              <a:t>https://www.perplexity.ai/</a:t>
            </a:r>
            <a:r>
              <a:rPr lang="en">
                <a:solidFill>
                  <a:schemeClr val="dk1"/>
                </a:solidFill>
              </a:rPr>
              <a:t> using the prompt “summarise this paper” 2024, February 16).</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1400">
                <a:solidFill>
                  <a:schemeClr val="dk1"/>
                </a:solidFill>
              </a:rPr>
              <a:t>Using AI in grant applications</a:t>
            </a:r>
            <a:endParaRPr b="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principles of integrity and accountability apply to all stages of research including grant applications. Also consider privacy and confidentiality and IP if uploading information into AI tools for funding applications.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u="sng">
                <a:solidFill>
                  <a:schemeClr val="hlink"/>
                </a:solidFill>
                <a:hlinkClick r:id="rId26"/>
              </a:rPr>
              <a:t>NHMRC Policy on Use of Generative Artificial Intelligence in Grant Applications and Peer Review</a:t>
            </a:r>
            <a:br>
              <a:rPr lang="en" u="sng">
                <a:solidFill>
                  <a:schemeClr val="hlink"/>
                </a:solidFill>
                <a:hlinkClick r:id="rId27"/>
              </a:rPr>
            </a:br>
            <a:br>
              <a:rPr lang="en" u="sng">
                <a:solidFill>
                  <a:schemeClr val="hlink"/>
                </a:solidFill>
                <a:hlinkClick r:id="rId28"/>
              </a:rPr>
            </a:br>
            <a:br>
              <a:rPr lang="en" u="sng">
                <a:solidFill>
                  <a:schemeClr val="hlink"/>
                </a:solidFill>
                <a:hlinkClick r:id="rId29"/>
              </a:rPr>
            </a:br>
            <a:r>
              <a:rPr lang="en">
                <a:solidFill>
                  <a:schemeClr val="dk1"/>
                </a:solidFill>
              </a:rPr>
              <a:t>  (29 June 2023)</a:t>
            </a:r>
            <a:br>
              <a:rPr lang="en">
                <a:solidFill>
                  <a:schemeClr val="dk1"/>
                </a:solidFill>
              </a:rPr>
            </a:br>
            <a:br>
              <a:rPr lang="en">
                <a:solidFill>
                  <a:schemeClr val="dk1"/>
                </a:solidFill>
              </a:rPr>
            </a:br>
            <a:r>
              <a:rPr lang="en">
                <a:solidFill>
                  <a:schemeClr val="dk1"/>
                </a:solidFill>
              </a:rPr>
              <a:t> “Applicants are to exercise caution when using generative AI tools in the preparation of grant applications, given it may not be possible to monitor or manage subsequent use of information entered into generative AI databases. “</a:t>
            </a:r>
            <a:br>
              <a:rPr lang="en">
                <a:solidFill>
                  <a:schemeClr val="dk1"/>
                </a:solidFill>
              </a:rPr>
            </a:br>
            <a:br>
              <a:rPr lang="en">
                <a:solidFill>
                  <a:schemeClr val="dk1"/>
                </a:solidFill>
              </a:rPr>
            </a:br>
            <a:r>
              <a:rPr lang="en">
                <a:solidFill>
                  <a:schemeClr val="dk1"/>
                </a:solidFill>
              </a:rPr>
              <a:t> “Applicants and their Administering Institutions must certify that all information provided in their applications is accurate and are accountable for any misinformation and factual errors more broadly, including those resulting from the use of generative AI in their applications.”</a:t>
            </a:r>
            <a:br>
              <a:rPr lang="en">
                <a:solidFill>
                  <a:schemeClr val="dk1"/>
                </a:solidFill>
              </a:rPr>
            </a:br>
            <a:br>
              <a:rPr lang="en">
                <a:solidFill>
                  <a:schemeClr val="dk1"/>
                </a:solidFill>
              </a:rPr>
            </a:b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u="sng">
                <a:solidFill>
                  <a:schemeClr val="hlink"/>
                </a:solidFill>
                <a:hlinkClick r:id="rId30"/>
              </a:rPr>
              <a:t>ARC Policy on Use of Generative Artificial Intelligence in the ARC’s grants programs</a:t>
            </a:r>
            <a:br>
              <a:rPr lang="en" u="sng">
                <a:solidFill>
                  <a:schemeClr val="hlink"/>
                </a:solidFill>
                <a:hlinkClick r:id="rId31"/>
              </a:rPr>
            </a:br>
            <a:br>
              <a:rPr lang="en" u="sng">
                <a:solidFill>
                  <a:schemeClr val="hlink"/>
                </a:solidFill>
                <a:hlinkClick r:id="rId32"/>
              </a:rPr>
            </a:br>
            <a:r>
              <a:rPr lang="en">
                <a:solidFill>
                  <a:schemeClr val="dk1"/>
                </a:solidFill>
              </a:rPr>
              <a:t> (7 July 2023)</a:t>
            </a:r>
            <a:br>
              <a:rPr lang="en">
                <a:solidFill>
                  <a:schemeClr val="dk1"/>
                </a:solidFill>
              </a:rPr>
            </a:br>
            <a:br>
              <a:rPr lang="en">
                <a:solidFill>
                  <a:schemeClr val="dk1"/>
                </a:solidFill>
              </a:rPr>
            </a:br>
            <a:r>
              <a:rPr lang="en">
                <a:solidFill>
                  <a:schemeClr val="dk1"/>
                </a:solidFill>
              </a:rPr>
              <a:t> The ARC advises applicants to use caution in relation to the use of generative AI tools in developing their grant applications.</a:t>
            </a:r>
            <a:br>
              <a:rPr lang="en">
                <a:solidFill>
                  <a:schemeClr val="dk1"/>
                </a:solidFill>
              </a:rPr>
            </a:br>
            <a:r>
              <a:rPr lang="en">
                <a:solidFill>
                  <a:schemeClr val="dk1"/>
                </a:solidFill>
              </a:rPr>
              <a:t> The DVC-R is required to certify applications on submission to the ARC. This includes certification that all participants are responsible for the authorship and intellectual content of the application.  Applications  must not breach the</a:t>
            </a:r>
            <a:r>
              <a:rPr lang="en">
                <a:solidFill>
                  <a:schemeClr val="dk1"/>
                </a:solidFill>
                <a:uFill>
                  <a:noFill/>
                </a:uFill>
                <a:hlinkClick r:id="rId33">
                  <a:extLst>
                    <a:ext uri="{A12FA001-AC4F-418D-AE19-62706E023703}">
                      <ahyp:hlinkClr val="tx"/>
                    </a:ext>
                  </a:extLst>
                </a:hlinkClick>
              </a:rPr>
              <a:t> </a:t>
            </a:r>
            <a:r>
              <a:rPr lang="en" u="sng">
                <a:solidFill>
                  <a:schemeClr val="hlink"/>
                </a:solidFill>
                <a:hlinkClick r:id="rId34"/>
              </a:rPr>
              <a:t>Australian Code for the Responsible Conduct of Research 2018</a:t>
            </a:r>
            <a:r>
              <a:rPr lang="en">
                <a:solidFill>
                  <a:schemeClr val="dk1"/>
                </a:solidFill>
              </a:rPr>
              <a:t>.</a:t>
            </a:r>
            <a:br>
              <a:rPr lang="en">
                <a:solidFill>
                  <a:schemeClr val="dk1"/>
                </a:solidFill>
              </a:rPr>
            </a:br>
            <a:br>
              <a:rPr lang="en">
                <a:solidFill>
                  <a:schemeClr val="dk1"/>
                </a:solidFill>
              </a:rPr>
            </a:b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highlight>
                  <a:srgbClr val="FFFFFF"/>
                </a:highlight>
              </a:rPr>
              <a:t>Copyright</a:t>
            </a:r>
            <a:endParaRPr b="1" sz="2300">
              <a:solidFill>
                <a:schemeClr val="dk1"/>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There are ongoing debates and legal uncertainties about copyright and generative AI (GAI) both in Australia and globally.  The main concerns around copyright are: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 Copyright protected works are used to train generative AI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Data used for training AI systems may include text, artworks, images, music, audio, computer code and metadata, and other materials that are protected by copyright. There is often a lack of transparency about the source of materials that have been used to build databases to ‘train’ AI systems, which may include copyrighted works from websites, social media and blogs. Some content creators argue that their content should not be used by AI systems without consent or payment and there are calls for increased transparency to enable copyright owners to maintain visibility over when and how their materials are being used. When using AI tools, uploading third party material may be infringing the copyright owners rights.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Australian Copyright legislation is not technology friendly.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Copyright legislation is not the same in all countries. Users of copyright material have to abide by the legislation in the country where they are using the work. Australia’s “fair dealing” exceptions are more restrictive than “fair use” exceptions in some other countries. Specifically, there is no exception in Australian copyright law for text and data mining. Investors argue that inflexible and outdated copyright law poses a barrier to investment in AI in Australia, because they risk exposing themselves to copyright infringement lawsuits. (</a:t>
            </a:r>
            <a:r>
              <a:rPr lang="en" u="sng">
                <a:solidFill>
                  <a:schemeClr val="hlink"/>
                </a:solidFill>
                <a:hlinkClick r:id="rId35"/>
              </a:rPr>
              <a:t>Australian Digital Alliance, 2022</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Globally there are uncertainties due to the international nature of AI. For example, while the inclusion of a certain work in training material for an AI might constitute infringement in one jurisdiction, that may not be the case in another jurisdiction, yet the AI product may be available for use in both. (</a:t>
            </a:r>
            <a:r>
              <a:rPr lang="en" u="sng">
                <a:solidFill>
                  <a:schemeClr val="hlink"/>
                </a:solidFill>
                <a:hlinkClick r:id="rId36"/>
              </a:rPr>
              <a:t>WIPO, 2024</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AI outputs may infringe copyright.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Copyright protects original works, not ideas or styles. For example, it may not be infringing copyright to paint a picture in the style of another artist, however if a picture is “substantially” copied it would be infringing. It is easy to create text, music and artwork with AI tools that imitate the style of human creators. Some creators argue that highly imitative works have the potential to impact their careers and revenue streams.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Content generated by AI systems may challenge traditional notions of authorship and originality.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many countries, including Australia, only humans can be copyright owners. However, that concept is currently being challenged in some jurisdictions. There is ongoing debate about the meaning of originality in work where AI is used in the creative process (</a:t>
            </a:r>
            <a:r>
              <a:rPr lang="en" u="sng">
                <a:solidFill>
                  <a:schemeClr val="hlink"/>
                </a:solidFill>
                <a:hlinkClick r:id="rId37"/>
              </a:rPr>
              <a:t>WIPO, 2024</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Copyright in the AI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Software and coding is protected under Copyright as a form of literary work. The Copyright Act does not have a specific provision for the protection of ‘databases’. However, as a ‘literary work’ is defined to include ‘a table, or compilation, expressed in words, figures or symbols’, a database may be protected by copyright as a compilation.  (</a:t>
            </a:r>
            <a:r>
              <a:rPr lang="en" u="sng">
                <a:solidFill>
                  <a:schemeClr val="hlink"/>
                </a:solidFill>
                <a:hlinkClick r:id="rId38"/>
              </a:rPr>
              <a:t>Australian Copyright Council, 2023</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legal uncertainties around copyright and AI highlight the need for organisations and individuals to be aware of and apply the principles of ethical use, fairness, integrity and transparency when using AI tools.</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References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Australian Copyright Council (2023, May) Artificial Intelligence &amp; Copyright Fact sheet G142v01.</a:t>
            </a:r>
            <a:r>
              <a:rPr lang="en">
                <a:solidFill>
                  <a:schemeClr val="dk1"/>
                </a:solidFill>
                <a:uFill>
                  <a:noFill/>
                </a:uFill>
                <a:hlinkClick r:id="rId39">
                  <a:extLst>
                    <a:ext uri="{A12FA001-AC4F-418D-AE19-62706E023703}">
                      <ahyp:hlinkClr val="tx"/>
                    </a:ext>
                  </a:extLst>
                </a:hlinkClick>
              </a:rPr>
              <a:t> </a:t>
            </a:r>
            <a:r>
              <a:rPr lang="en" sz="1400" u="sng">
                <a:solidFill>
                  <a:schemeClr val="hlink"/>
                </a:solidFill>
                <a:hlinkClick r:id="rId40"/>
              </a:rPr>
              <a:t>https://www.copyright.org.au/browse/book/Australian-Copyright-Council-Artificial-Intelligence-&amp;-Copyright-INFO142</a:t>
            </a:r>
            <a:endParaRPr sz="14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Australian Digital Alliance (2022, April 22) Submission in response to the digital technology taskforce’s automated decision making and AI regulation issues paper. </a:t>
            </a:r>
            <a:r>
              <a:rPr lang="en">
                <a:solidFill>
                  <a:schemeClr val="dk1"/>
                </a:solidFill>
                <a:uFill>
                  <a:noFill/>
                </a:uFill>
                <a:hlinkClick r:id="rId41">
                  <a:extLst>
                    <a:ext uri="{A12FA001-AC4F-418D-AE19-62706E023703}">
                      <ahyp:hlinkClr val="tx"/>
                    </a:ext>
                  </a:extLst>
                </a:hlinkClick>
              </a:rPr>
              <a:t> </a:t>
            </a:r>
            <a:r>
              <a:rPr lang="en" u="sng">
                <a:solidFill>
                  <a:schemeClr val="hlink"/>
                </a:solidFill>
                <a:hlinkClick r:id="rId42"/>
              </a:rPr>
              <a:t>https://digital.org.au/resources/dtt-adm-ai-issues-paper-submission/</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Committee on Publication Ethics [COPE] (2023, February 13) Authorship and AI tools: COPE position statement,</a:t>
            </a:r>
            <a:r>
              <a:rPr lang="en">
                <a:solidFill>
                  <a:schemeClr val="dk1"/>
                </a:solidFill>
                <a:uFill>
                  <a:noFill/>
                </a:uFill>
                <a:hlinkClick r:id="rId43">
                  <a:extLst>
                    <a:ext uri="{A12FA001-AC4F-418D-AE19-62706E023703}">
                      <ahyp:hlinkClr val="tx"/>
                    </a:ext>
                  </a:extLst>
                </a:hlinkClick>
              </a:rPr>
              <a:t> </a:t>
            </a:r>
            <a:r>
              <a:rPr lang="en" u="sng">
                <a:solidFill>
                  <a:schemeClr val="hlink"/>
                </a:solidFill>
                <a:hlinkClick r:id="rId44"/>
              </a:rPr>
              <a:t>https://publicationethics.org/cope-position-statements/ai-author</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Ganjavi, C., Eppler, M. B., Pekcan, A., Biedermann, B., Abreu, A., Collins, G. S. et al., (2024, January 31) Publishers’ and journals’ instructions to authors on use of generative artificial intelligence in academic and scientific publishing: bibliometric analysis, </a:t>
            </a:r>
            <a:r>
              <a:rPr i="1" lang="en">
                <a:solidFill>
                  <a:schemeClr val="dk1"/>
                </a:solidFill>
              </a:rPr>
              <a:t>BMJ,</a:t>
            </a:r>
            <a:r>
              <a:rPr lang="en">
                <a:solidFill>
                  <a:schemeClr val="dk1"/>
                </a:solidFill>
              </a:rPr>
              <a:t> 384.</a:t>
            </a:r>
            <a:r>
              <a:rPr lang="en">
                <a:solidFill>
                  <a:schemeClr val="dk1"/>
                </a:solidFill>
                <a:uFill>
                  <a:noFill/>
                </a:uFill>
                <a:hlinkClick r:id="rId45">
                  <a:extLst>
                    <a:ext uri="{A12FA001-AC4F-418D-AE19-62706E023703}">
                      <ahyp:hlinkClr val="tx"/>
                    </a:ext>
                  </a:extLst>
                </a:hlinkClick>
              </a:rPr>
              <a:t> </a:t>
            </a:r>
            <a:r>
              <a:rPr lang="en" u="sng">
                <a:solidFill>
                  <a:schemeClr val="hlink"/>
                </a:solidFill>
                <a:hlinkClick r:id="rId46"/>
              </a:rPr>
              <a:t>doi:10.1136/bmj-2023-077192</a:t>
            </a:r>
            <a:endParaRPr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sz="1400">
                <a:solidFill>
                  <a:schemeClr val="dk1"/>
                </a:solidFill>
              </a:rPr>
              <a:t>Kaebnick, G.E., Magnus, D. C., Kao, A., Hosseini, M., Resnik, D., Dubljević, V., Rentmeester, C., Gordijn, B., &amp; Cherry, M.J., (2023) Editors’ Statement on the Responsible Use of Generative AI Technologies in Scholarly Journal Publishing, </a:t>
            </a:r>
            <a:r>
              <a:rPr i="1" lang="en" sz="1400">
                <a:solidFill>
                  <a:schemeClr val="dk1"/>
                </a:solidFill>
              </a:rPr>
              <a:t>AJOB Neuroscience</a:t>
            </a:r>
            <a:r>
              <a:rPr lang="en" sz="1400">
                <a:solidFill>
                  <a:schemeClr val="dk1"/>
                </a:solidFill>
              </a:rPr>
              <a:t>, 14(4), 337-340. </a:t>
            </a:r>
            <a:r>
              <a:rPr lang="en" sz="1400">
                <a:solidFill>
                  <a:schemeClr val="dk1"/>
                </a:solidFill>
                <a:uFill>
                  <a:noFill/>
                </a:uFill>
                <a:hlinkClick r:id="rId47">
                  <a:extLst>
                    <a:ext uri="{A12FA001-AC4F-418D-AE19-62706E023703}">
                      <ahyp:hlinkClr val="tx"/>
                    </a:ext>
                  </a:extLst>
                </a:hlinkClick>
              </a:rPr>
              <a:t> </a:t>
            </a:r>
            <a:r>
              <a:rPr lang="en" sz="1400" u="sng">
                <a:solidFill>
                  <a:schemeClr val="hlink"/>
                </a:solidFill>
                <a:hlinkClick r:id="rId48"/>
              </a:rPr>
              <a:t>doi: 10.1080/21507740.2023.2257181</a:t>
            </a:r>
            <a:endParaRPr sz="14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World Intellectual Property Organization [WIPO] (2024, February 6) Generative AI, WIPO Conversation on intellectual property (IP) and frontier technologies: eighth session: summary</a:t>
            </a:r>
            <a:r>
              <a:rPr lang="en">
                <a:solidFill>
                  <a:schemeClr val="dk1"/>
                </a:solidFill>
                <a:uFill>
                  <a:noFill/>
                </a:uFill>
                <a:hlinkClick r:id="rId49">
                  <a:extLst>
                    <a:ext uri="{A12FA001-AC4F-418D-AE19-62706E023703}">
                      <ahyp:hlinkClr val="tx"/>
                    </a:ext>
                  </a:extLst>
                </a:hlinkClick>
              </a:rPr>
              <a:t> </a:t>
            </a:r>
            <a:r>
              <a:rPr lang="en" u="sng">
                <a:solidFill>
                  <a:schemeClr val="hlink"/>
                </a:solidFill>
                <a:hlinkClick r:id="rId50"/>
              </a:rPr>
              <a:t>https://www.wipo.int/meetings/en/details.jsp?meeting_id=78188</a:t>
            </a:r>
            <a:endParaRPr u="sng">
              <a:solidFill>
                <a:schemeClr val="hlink"/>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Declaration</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author acknowledges the use of </a:t>
            </a:r>
            <a:r>
              <a:rPr lang="en" u="sng">
                <a:solidFill>
                  <a:schemeClr val="hlink"/>
                </a:solidFill>
                <a:hlinkClick r:id="rId51"/>
              </a:rPr>
              <a:t>ChatGPT 4</a:t>
            </a:r>
            <a:r>
              <a:rPr lang="en">
                <a:solidFill>
                  <a:schemeClr val="dk1"/>
                </a:solidFill>
              </a:rPr>
              <a:t> to create an image titled “The dialogue of artificial intelligence and copyright” in February 2024, using the prompt: “Create an image of the interaction of artificial intelligence and copyright in the style of graffiti”.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t>Attribution: https://opentext.csu.edu.au/usingai/chapter/publication-and-ai/##usingaiinpublication</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7eb8bae26d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6" name="Google Shape;956;g37eb8bae26d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See the list below for some examples of publisher policies.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u="sng">
                <a:solidFill>
                  <a:srgbClr val="0097A7"/>
                </a:solidFill>
                <a:hlinkClick r:id="rId2">
                  <a:extLst>
                    <a:ext uri="{A12FA001-AC4F-418D-AE19-62706E023703}">
                      <ahyp:hlinkClr val="tx"/>
                    </a:ext>
                  </a:extLst>
                </a:hlinkClick>
              </a:rPr>
              <a:t>Cambridge University Press</a:t>
            </a:r>
            <a:endParaRPr u="sng">
              <a:solidFill>
                <a:srgbClr val="0097A7"/>
              </a:solidFill>
            </a:endParaRPr>
          </a:p>
          <a:p>
            <a:pPr indent="-298450" lvl="0" marL="457200" rtl="0" algn="l">
              <a:lnSpc>
                <a:spcPct val="115000"/>
              </a:lnSpc>
              <a:spcBef>
                <a:spcPts val="0"/>
              </a:spcBef>
              <a:spcAft>
                <a:spcPts val="0"/>
              </a:spcAft>
              <a:buClr>
                <a:schemeClr val="dk1"/>
              </a:buClr>
              <a:buSzPts val="1100"/>
              <a:buChar char="●"/>
            </a:pPr>
            <a:r>
              <a:rPr lang="en" u="sng">
                <a:solidFill>
                  <a:srgbClr val="0097A7"/>
                </a:solidFill>
                <a:hlinkClick r:id="rId3">
                  <a:extLst>
                    <a:ext uri="{A12FA001-AC4F-418D-AE19-62706E023703}">
                      <ahyp:hlinkClr val="tx"/>
                    </a:ext>
                  </a:extLst>
                </a:hlinkClick>
              </a:rPr>
              <a:t>Elsevier</a:t>
            </a:r>
            <a:endParaRPr u="sng">
              <a:solidFill>
                <a:srgbClr val="0097A7"/>
              </a:solidFill>
            </a:endParaRPr>
          </a:p>
          <a:p>
            <a:pPr indent="-298450" lvl="0" marL="457200" rtl="0" algn="l">
              <a:lnSpc>
                <a:spcPct val="115000"/>
              </a:lnSpc>
              <a:spcBef>
                <a:spcPts val="0"/>
              </a:spcBef>
              <a:spcAft>
                <a:spcPts val="0"/>
              </a:spcAft>
              <a:buClr>
                <a:schemeClr val="dk1"/>
              </a:buClr>
              <a:buSzPts val="1100"/>
              <a:buChar char="●"/>
            </a:pPr>
            <a:r>
              <a:rPr lang="en" u="sng">
                <a:solidFill>
                  <a:srgbClr val="0097A7"/>
                </a:solidFill>
                <a:hlinkClick r:id="rId4">
                  <a:extLst>
                    <a:ext uri="{A12FA001-AC4F-418D-AE19-62706E023703}">
                      <ahyp:hlinkClr val="tx"/>
                    </a:ext>
                  </a:extLst>
                </a:hlinkClick>
              </a:rPr>
              <a:t>Emerald</a:t>
            </a:r>
            <a:endParaRPr u="sng">
              <a:solidFill>
                <a:srgbClr val="0097A7"/>
              </a:solidFill>
            </a:endParaRPr>
          </a:p>
          <a:p>
            <a:pPr indent="-298450" lvl="0" marL="457200" rtl="0" algn="l">
              <a:lnSpc>
                <a:spcPct val="115000"/>
              </a:lnSpc>
              <a:spcBef>
                <a:spcPts val="0"/>
              </a:spcBef>
              <a:spcAft>
                <a:spcPts val="0"/>
              </a:spcAft>
              <a:buClr>
                <a:schemeClr val="dk1"/>
              </a:buClr>
              <a:buSzPts val="1100"/>
              <a:buChar char="●"/>
            </a:pPr>
            <a:r>
              <a:rPr lang="en" u="sng">
                <a:solidFill>
                  <a:srgbClr val="0097A7"/>
                </a:solidFill>
                <a:hlinkClick r:id="rId5">
                  <a:extLst>
                    <a:ext uri="{A12FA001-AC4F-418D-AE19-62706E023703}">
                      <ahyp:hlinkClr val="tx"/>
                    </a:ext>
                  </a:extLst>
                </a:hlinkClick>
              </a:rPr>
              <a:t>IEEE</a:t>
            </a:r>
            <a:endParaRPr u="sng">
              <a:solidFill>
                <a:srgbClr val="0097A7"/>
              </a:solidFill>
            </a:endParaRPr>
          </a:p>
          <a:p>
            <a:pPr indent="-298450" lvl="0" marL="457200" rtl="0" algn="l">
              <a:lnSpc>
                <a:spcPct val="115000"/>
              </a:lnSpc>
              <a:spcBef>
                <a:spcPts val="0"/>
              </a:spcBef>
              <a:spcAft>
                <a:spcPts val="0"/>
              </a:spcAft>
              <a:buClr>
                <a:schemeClr val="dk1"/>
              </a:buClr>
              <a:buSzPts val="1100"/>
              <a:buChar char="●"/>
            </a:pPr>
            <a:r>
              <a:rPr lang="en" u="sng">
                <a:solidFill>
                  <a:srgbClr val="0097A7"/>
                </a:solidFill>
                <a:hlinkClick r:id="rId6">
                  <a:extLst>
                    <a:ext uri="{A12FA001-AC4F-418D-AE19-62706E023703}">
                      <ahyp:hlinkClr val="tx"/>
                    </a:ext>
                  </a:extLst>
                </a:hlinkClick>
              </a:rPr>
              <a:t>SAGE</a:t>
            </a:r>
            <a:endParaRPr u="sng">
              <a:solidFill>
                <a:srgbClr val="0097A7"/>
              </a:solidFill>
            </a:endParaRPr>
          </a:p>
          <a:p>
            <a:pPr indent="-298450" lvl="0" marL="457200" rtl="0" algn="l">
              <a:lnSpc>
                <a:spcPct val="115000"/>
              </a:lnSpc>
              <a:spcBef>
                <a:spcPts val="0"/>
              </a:spcBef>
              <a:spcAft>
                <a:spcPts val="0"/>
              </a:spcAft>
              <a:buClr>
                <a:schemeClr val="dk1"/>
              </a:buClr>
              <a:buSzPts val="1100"/>
              <a:buChar char="●"/>
            </a:pPr>
            <a:r>
              <a:rPr lang="en" u="sng">
                <a:solidFill>
                  <a:srgbClr val="0097A7"/>
                </a:solidFill>
                <a:hlinkClick r:id="rId7">
                  <a:extLst>
                    <a:ext uri="{A12FA001-AC4F-418D-AE19-62706E023703}">
                      <ahyp:hlinkClr val="tx"/>
                    </a:ext>
                  </a:extLst>
                </a:hlinkClick>
              </a:rPr>
              <a:t>Science</a:t>
            </a:r>
            <a:endParaRPr u="sng">
              <a:solidFill>
                <a:srgbClr val="0097A7"/>
              </a:solidFill>
            </a:endParaRPr>
          </a:p>
          <a:p>
            <a:pPr indent="-298450" lvl="0" marL="457200" rtl="0" algn="l">
              <a:lnSpc>
                <a:spcPct val="115000"/>
              </a:lnSpc>
              <a:spcBef>
                <a:spcPts val="0"/>
              </a:spcBef>
              <a:spcAft>
                <a:spcPts val="0"/>
              </a:spcAft>
              <a:buClr>
                <a:schemeClr val="dk1"/>
              </a:buClr>
              <a:buSzPts val="1100"/>
              <a:buChar char="●"/>
            </a:pPr>
            <a:r>
              <a:rPr lang="en" u="sng">
                <a:solidFill>
                  <a:srgbClr val="0097A7"/>
                </a:solidFill>
                <a:hlinkClick r:id="rId8">
                  <a:extLst>
                    <a:ext uri="{A12FA001-AC4F-418D-AE19-62706E023703}">
                      <ahyp:hlinkClr val="tx"/>
                    </a:ext>
                  </a:extLst>
                </a:hlinkClick>
              </a:rPr>
              <a:t>Springer Nature</a:t>
            </a:r>
            <a:endParaRPr u="sng">
              <a:solidFill>
                <a:srgbClr val="0097A7"/>
              </a:solidFill>
            </a:endParaRPr>
          </a:p>
          <a:p>
            <a:pPr indent="-298450" lvl="0" marL="457200" rtl="0" algn="l">
              <a:lnSpc>
                <a:spcPct val="115000"/>
              </a:lnSpc>
              <a:spcBef>
                <a:spcPts val="0"/>
              </a:spcBef>
              <a:spcAft>
                <a:spcPts val="0"/>
              </a:spcAft>
              <a:buClr>
                <a:schemeClr val="dk1"/>
              </a:buClr>
              <a:buSzPts val="1100"/>
              <a:buChar char="●"/>
            </a:pPr>
            <a:r>
              <a:rPr lang="en" u="sng">
                <a:solidFill>
                  <a:srgbClr val="0097A7"/>
                </a:solidFill>
                <a:hlinkClick r:id="rId9">
                  <a:extLst>
                    <a:ext uri="{A12FA001-AC4F-418D-AE19-62706E023703}">
                      <ahyp:hlinkClr val="tx"/>
                    </a:ext>
                  </a:extLst>
                </a:hlinkClick>
              </a:rPr>
              <a:t>Taylor &amp; Francis</a:t>
            </a:r>
            <a:endParaRPr u="sng">
              <a:solidFill>
                <a:srgbClr val="0097A7"/>
              </a:solidFill>
            </a:endParaRPr>
          </a:p>
          <a:p>
            <a:pPr indent="-298450" lvl="0" marL="457200" rtl="0" algn="l">
              <a:lnSpc>
                <a:spcPct val="115000"/>
              </a:lnSpc>
              <a:spcBef>
                <a:spcPts val="0"/>
              </a:spcBef>
              <a:spcAft>
                <a:spcPts val="0"/>
              </a:spcAft>
              <a:buClr>
                <a:schemeClr val="dk1"/>
              </a:buClr>
              <a:buSzPts val="1100"/>
              <a:buChar char="●"/>
            </a:pPr>
            <a:r>
              <a:rPr lang="en" u="sng">
                <a:solidFill>
                  <a:srgbClr val="0097A7"/>
                </a:solidFill>
                <a:hlinkClick r:id="rId10">
                  <a:extLst>
                    <a:ext uri="{A12FA001-AC4F-418D-AE19-62706E023703}">
                      <ahyp:hlinkClr val="tx"/>
                    </a:ext>
                  </a:extLst>
                </a:hlinkClick>
              </a:rPr>
              <a:t>Wiley</a:t>
            </a:r>
            <a:endParaRPr u="sng">
              <a:solidFill>
                <a:srgbClr val="0097A7"/>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Elsevier:</a:t>
            </a:r>
            <a:br>
              <a:rPr lang="en"/>
            </a:br>
            <a:r>
              <a:rPr lang="en"/>
              <a:t>Declare AI tools use for text with a declaration: During the preparation of this work the author(s) used [TOOL] to [USE/REASON].</a:t>
            </a:r>
            <a:br>
              <a:rPr lang="en"/>
            </a:br>
            <a:r>
              <a:rPr lang="en"/>
              <a:t>The use of generative AI or AI-assisted tools in the production of artwork such as for graphical abstracts is not permitted.</a:t>
            </a:r>
            <a:br>
              <a:rPr lang="en"/>
            </a:br>
            <a:br>
              <a:rPr lang="en"/>
            </a:br>
            <a:r>
              <a:rPr lang="en"/>
              <a:t>E.g. During the preparation of this work the author(s) used OpenAI’s ChatGPT4.0 to simplify verbose paragraph descriptions.</a:t>
            </a:r>
            <a:br>
              <a:rPr lang="en"/>
            </a:br>
            <a:br>
              <a:rPr lang="en"/>
            </a:br>
            <a:r>
              <a:rPr lang="en"/>
              <a:t>Science:</a:t>
            </a:r>
            <a:br>
              <a:rPr lang="en"/>
            </a:br>
            <a:r>
              <a:rPr lang="en"/>
              <a:t>Authors who use AI-assisted technologies as components of their research study or as aids in the writing or presentation of the manuscript should note this in the cover letter and in the acknowledgments section of the manuscript. The full prompt used in the production of the work, as well as the AI tool and its version, should be disclosed.</a:t>
            </a:r>
            <a:br>
              <a:rPr lang="en"/>
            </a:br>
            <a:r>
              <a:rPr lang="en"/>
              <a:t>Image creation not allowed. But: </a:t>
            </a:r>
            <a:r>
              <a:rPr lang="en">
                <a:solidFill>
                  <a:schemeClr val="dk1"/>
                </a:solidFill>
              </a:rPr>
              <a:t>The </a:t>
            </a:r>
            <a:r>
              <a:rPr i="1" lang="en">
                <a:solidFill>
                  <a:schemeClr val="dk1"/>
                </a:solidFill>
              </a:rPr>
              <a:t>Science</a:t>
            </a:r>
            <a:r>
              <a:rPr lang="en">
                <a:solidFill>
                  <a:schemeClr val="dk1"/>
                </a:solidFill>
              </a:rPr>
              <a:t> journals recognize that this area is rapidly developing, and our position on AI-generated multimedia may change with the evolution of copyright law and industry standards on ethical use.</a:t>
            </a:r>
            <a:br>
              <a:rPr lang="en">
                <a:solidFill>
                  <a:schemeClr val="dk1"/>
                </a:solidFill>
              </a:rPr>
            </a:br>
            <a:br>
              <a:rPr lang="en">
                <a:solidFill>
                  <a:schemeClr val="dk1"/>
                </a:solidFill>
              </a:rPr>
            </a:br>
            <a:r>
              <a:rPr lang="en">
                <a:solidFill>
                  <a:schemeClr val="dk1"/>
                </a:solidFill>
              </a:rPr>
              <a:t>Wiley:</a:t>
            </a:r>
            <a:br>
              <a:rPr lang="en">
                <a:solidFill>
                  <a:schemeClr val="dk1"/>
                </a:solidFill>
              </a:rPr>
            </a:br>
            <a:r>
              <a:rPr lang="en">
                <a:solidFill>
                  <a:schemeClr val="dk1"/>
                </a:solidFill>
              </a:rPr>
              <a:t>Authors must confirm that the AI Technology does not claim ownership of their content or impose limitations on its use, as this could interfere with the author’s rights or Wiley's rights, including Wiley’s ability to publish a submission following acceptance. Authors should maintain documentation of all AI Technology used, including its purpose, whether it impacted key arguments or conclusions, and how they personally reviewed and verified AI-generated content. Authors must also disclose use of AI Technologies upon submission to a Wiley journal. </a:t>
            </a:r>
            <a:br>
              <a:rPr lang="en">
                <a:solidFill>
                  <a:schemeClr val="dk1"/>
                </a:solidFill>
              </a:rPr>
            </a:br>
            <a:br>
              <a:rPr lang="en">
                <a:solidFill>
                  <a:schemeClr val="dk1"/>
                </a:solidFill>
              </a:rPr>
            </a:br>
            <a:r>
              <a:rPr lang="en"/>
              <a:t>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7eb8bae26d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9" name="Google Shape;969;g37eb8bae26d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Human-in-the-loop writing, often visualized as an “AI sandwich,” integrates both artificial intelligence and human expertise to enhance the writing process. </a:t>
            </a:r>
            <a:br>
              <a:rPr lang="en"/>
            </a:br>
            <a:br>
              <a:rPr lang="en"/>
            </a:br>
            <a:r>
              <a:rPr lang="en"/>
              <a:t>This approach begins with AI exploration, where advanced tools assist in gathering information, generating ideas, and outlining initial concepts. </a:t>
            </a:r>
            <a:br>
              <a:rPr lang="en"/>
            </a:br>
            <a:br>
              <a:rPr lang="en"/>
            </a:br>
            <a:r>
              <a:rPr lang="en"/>
              <a:t>The main ingredient of the process is human drafting, where writers bring their creativity, critical thinking, and subject matter expertise to craft the core content. </a:t>
            </a:r>
            <a:br>
              <a:rPr lang="en"/>
            </a:br>
            <a:br>
              <a:rPr lang="en"/>
            </a:br>
            <a:r>
              <a:rPr lang="en"/>
              <a:t>Following this, AI-supported feedback provides valuable insights, suggesting improvements in structure, style, and coherence. </a:t>
            </a:r>
            <a:br>
              <a:rPr lang="en"/>
            </a:br>
            <a:br>
              <a:rPr lang="en"/>
            </a:br>
            <a:r>
              <a:rPr lang="en"/>
              <a:t>Finally, the process is completed with human quality control, where proofreading ensures the highest standards of accuracy, clarity, and overall quality. This collaborative method leverages the strengths of both AI and human capabilities, resulting in well-rounded, polished, and impactful written work.</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d15613199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1" name="Google Shape;981;g3d156131998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cfca7dc821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1" name="Google Shape;1011;g3cfca7dc82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cfca7dc821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1" name="Google Shape;1021;g3cfca7dc821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cfca7dc821_0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0" name="Google Shape;1040;g3cfca7dc821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968f800dc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0" name="Google Shape;1050;g3968f800dcd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968f800dc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0" name="Google Shape;1060;g3968f800dcd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cfca7dc821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8" name="Google Shape;1068;g3cfca7dc821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968f800d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4" name="Google Shape;1074;g3968f800dc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cfca7dc821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2" name="Google Shape;1082;g3cfca7dc821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cfca7dc821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5" name="Google Shape;1095;g3cfca7dc821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968f800dc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3" name="Google Shape;1123;g3968f800dcd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cfca7dc821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0" name="Google Shape;1130;g3cfca7dc821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968f800dcd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4" name="Google Shape;1144;g3968f800dcd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cf76b16a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9" name="Google Shape;1159;g3cf76b16ad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8ac90ad6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4" name="Google Shape;1164;g38ac90ad66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 name="Shape 19"/>
        <p:cNvGrpSpPr/>
        <p:nvPr/>
      </p:nvGrpSpPr>
      <p:grpSpPr>
        <a:xfrm>
          <a:off x="0" y="0"/>
          <a:ext cx="0" cy="0"/>
          <a:chOff x="0" y="0"/>
          <a:chExt cx="0" cy="0"/>
        </a:xfrm>
      </p:grpSpPr>
      <p:sp>
        <p:nvSpPr>
          <p:cNvPr id="20" name="Google Shape;20;p1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21" name="Shape 21"/>
        <p:cNvGrpSpPr/>
        <p:nvPr/>
      </p:nvGrpSpPr>
      <p:grpSpPr>
        <a:xfrm>
          <a:off x="0" y="0"/>
          <a:ext cx="0" cy="0"/>
          <a:chOff x="0" y="0"/>
          <a:chExt cx="0" cy="0"/>
        </a:xfrm>
      </p:grpSpPr>
      <p:sp>
        <p:nvSpPr>
          <p:cNvPr id="22" name="Google Shape;22;p126"/>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1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5" name="Google Shape;25;p1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6" name="Google Shape;26;p1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9" name="Google Shape;29;p1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p1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1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 name="Google Shape;33;p1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1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13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13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1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1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1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4" name="Google Shape;44;p1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1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6" name="Shape 46"/>
        <p:cNvGrpSpPr/>
        <p:nvPr/>
      </p:nvGrpSpPr>
      <p:grpSpPr>
        <a:xfrm>
          <a:off x="0" y="0"/>
          <a:ext cx="0" cy="0"/>
          <a:chOff x="0" y="0"/>
          <a:chExt cx="0" cy="0"/>
        </a:xfrm>
      </p:grpSpPr>
      <p:sp>
        <p:nvSpPr>
          <p:cNvPr id="47" name="Google Shape;47;p1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8" name="Google Shape;48;p1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9" name="Shape 49"/>
        <p:cNvGrpSpPr/>
        <p:nvPr/>
      </p:nvGrpSpPr>
      <p:grpSpPr>
        <a:xfrm>
          <a:off x="0" y="0"/>
          <a:ext cx="0" cy="0"/>
          <a:chOff x="0" y="0"/>
          <a:chExt cx="0" cy="0"/>
        </a:xfrm>
      </p:grpSpPr>
      <p:sp>
        <p:nvSpPr>
          <p:cNvPr id="50" name="Google Shape;50;p1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2" name="Google Shape;52;p1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1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4" name="Google Shape;54;p1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7" name="Google Shape;57;p1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 name="Shape 58"/>
        <p:cNvGrpSpPr/>
        <p:nvPr/>
      </p:nvGrpSpPr>
      <p:grpSpPr>
        <a:xfrm>
          <a:off x="0" y="0"/>
          <a:ext cx="0" cy="0"/>
          <a:chOff x="0" y="0"/>
          <a:chExt cx="0" cy="0"/>
        </a:xfrm>
      </p:grpSpPr>
      <p:sp>
        <p:nvSpPr>
          <p:cNvPr id="59" name="Google Shape;59;p1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1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1" name="Google Shape;61;p1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slideLayout" Target="../slideLayouts/slideLayout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9" name="Google Shape;9;p124"/>
          <p:cNvGrpSpPr/>
          <p:nvPr/>
        </p:nvGrpSpPr>
        <p:grpSpPr>
          <a:xfrm>
            <a:off x="0" y="0"/>
            <a:ext cx="9144003" cy="5143501"/>
            <a:chOff x="0" y="0"/>
            <a:chExt cx="9144003" cy="5143501"/>
          </a:xfrm>
        </p:grpSpPr>
        <p:pic>
          <p:nvPicPr>
            <p:cNvPr id="10" name="Google Shape;10;p124"/>
            <p:cNvPicPr preferRelativeResize="0"/>
            <p:nvPr/>
          </p:nvPicPr>
          <p:blipFill rotWithShape="1">
            <a:blip r:embed="rId1">
              <a:alphaModFix/>
            </a:blip>
            <a:srcRect b="0" l="75" r="5540" t="82951"/>
            <a:stretch/>
          </p:blipFill>
          <p:spPr>
            <a:xfrm>
              <a:off x="0" y="0"/>
              <a:ext cx="9144003" cy="5143501"/>
            </a:xfrm>
            <a:prstGeom prst="rect">
              <a:avLst/>
            </a:prstGeom>
            <a:noFill/>
            <a:ln>
              <a:noFill/>
            </a:ln>
          </p:spPr>
        </p:pic>
        <p:pic>
          <p:nvPicPr>
            <p:cNvPr id="11" name="Google Shape;11;p124"/>
            <p:cNvPicPr preferRelativeResize="0"/>
            <p:nvPr/>
          </p:nvPicPr>
          <p:blipFill rotWithShape="1">
            <a:blip r:embed="rId1">
              <a:alphaModFix/>
            </a:blip>
            <a:srcRect b="34156" l="68510" r="13836" t="19598"/>
            <a:stretch/>
          </p:blipFill>
          <p:spPr>
            <a:xfrm>
              <a:off x="7433700" y="3238500"/>
              <a:ext cx="1710300" cy="1905000"/>
            </a:xfrm>
            <a:prstGeom prst="rect">
              <a:avLst/>
            </a:prstGeom>
            <a:noFill/>
            <a:ln>
              <a:noFill/>
            </a:ln>
          </p:spPr>
        </p:pic>
        <p:grpSp>
          <p:nvGrpSpPr>
            <p:cNvPr id="12" name="Google Shape;12;p124"/>
            <p:cNvGrpSpPr/>
            <p:nvPr/>
          </p:nvGrpSpPr>
          <p:grpSpPr>
            <a:xfrm>
              <a:off x="6591269" y="4603050"/>
              <a:ext cx="750713" cy="408650"/>
              <a:chOff x="6930144" y="4355775"/>
              <a:chExt cx="750713" cy="408650"/>
            </a:xfrm>
          </p:grpSpPr>
          <p:pic>
            <p:nvPicPr>
              <p:cNvPr id="13" name="Google Shape;13;p124"/>
              <p:cNvPicPr preferRelativeResize="0"/>
              <p:nvPr/>
            </p:nvPicPr>
            <p:blipFill rotWithShape="1">
              <a:blip r:embed="rId2">
                <a:alphaModFix/>
              </a:blip>
              <a:srcRect b="0" l="0" r="0" t="0"/>
              <a:stretch/>
            </p:blipFill>
            <p:spPr>
              <a:xfrm>
                <a:off x="6930144" y="4355775"/>
                <a:ext cx="750713" cy="408650"/>
              </a:xfrm>
              <a:prstGeom prst="rect">
                <a:avLst/>
              </a:prstGeom>
              <a:noFill/>
              <a:ln>
                <a:noFill/>
              </a:ln>
            </p:spPr>
          </p:pic>
          <p:sp>
            <p:nvSpPr>
              <p:cNvPr id="14" name="Google Shape;14;p124"/>
              <p:cNvSpPr/>
              <p:nvPr/>
            </p:nvSpPr>
            <p:spPr>
              <a:xfrm rot="10800000">
                <a:off x="6945700" y="4562475"/>
                <a:ext cx="189000" cy="194400"/>
              </a:xfrm>
              <a:prstGeom prst="rtTriangle">
                <a:avLst/>
              </a:prstGeom>
              <a:no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24"/>
              <p:cNvSpPr/>
              <p:nvPr/>
            </p:nvSpPr>
            <p:spPr>
              <a:xfrm rot="-8100000">
                <a:off x="7074791" y="4391738"/>
                <a:ext cx="130673" cy="128976"/>
              </a:xfrm>
              <a:prstGeom prst="rtTriangle">
                <a:avLst/>
              </a:prstGeom>
              <a:no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24"/>
              <p:cNvSpPr/>
              <p:nvPr/>
            </p:nvSpPr>
            <p:spPr>
              <a:xfrm>
                <a:off x="6972700" y="4390525"/>
                <a:ext cx="135000" cy="137100"/>
              </a:xfrm>
              <a:prstGeom prst="ellipse">
                <a:avLst/>
              </a:prstGeom>
              <a:no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7" name="Google Shape;17;p124"/>
          <p:cNvSpPr/>
          <p:nvPr/>
        </p:nvSpPr>
        <p:spPr>
          <a:xfrm>
            <a:off x="0" y="-25175"/>
            <a:ext cx="9160500" cy="5179800"/>
          </a:xfrm>
          <a:prstGeom prst="rect">
            <a:avLst/>
          </a:prstGeom>
          <a:solidFill>
            <a:srgbClr val="FFFFFF"/>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 name="Google Shape;18;p124"/>
          <p:cNvPicPr preferRelativeResize="0"/>
          <p:nvPr/>
        </p:nvPicPr>
        <p:blipFill rotWithShape="1">
          <a:blip r:embed="rId3">
            <a:alphaModFix/>
          </a:blip>
          <a:srcRect b="0" l="0" r="0" t="0"/>
          <a:stretch/>
        </p:blipFill>
        <p:spPr>
          <a:xfrm>
            <a:off x="8080750" y="4529575"/>
            <a:ext cx="877524" cy="4773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creativecommons.org/licenses/by/4.0/" TargetMode="External"/><Relationship Id="rId5" Type="http://schemas.openxmlformats.org/officeDocument/2006/relationships/image" Target="../media/image8.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doi.org/10.1016/j.compcom.2024.102826" TargetMode="External"/><Relationship Id="rId4" Type="http://schemas.openxmlformats.org/officeDocument/2006/relationships/hyperlink" Target="https://doi.org/10.1016/j.compcom.2024.102826" TargetMode="External"/><Relationship Id="rId5" Type="http://schemas.openxmlformats.org/officeDocument/2006/relationships/hyperlink" Target="https://moxielearn.ai/blog/how-to-use-ai-for-academic-writing-a-step-by-step-guid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doi.org/10.1016/j.compcom.2024.102826" TargetMode="External"/><Relationship Id="rId4" Type="http://schemas.openxmlformats.org/officeDocument/2006/relationships/hyperlink" Target="https://doi.org/10.1016/j.compcom.2024.102826" TargetMode="External"/><Relationship Id="rId5" Type="http://schemas.openxmlformats.org/officeDocument/2006/relationships/hyperlink" Target="https://moxielearn.ai/blog/how-to-use-ai-for-academic-writing-a-step-by-step-guid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doi.org/10.1016/j.compcom.2024.102826" TargetMode="External"/><Relationship Id="rId4" Type="http://schemas.openxmlformats.org/officeDocument/2006/relationships/hyperlink" Target="https://doi.org/10.1016/j.compcom.2024.102826" TargetMode="External"/><Relationship Id="rId5" Type="http://schemas.openxmlformats.org/officeDocument/2006/relationships/hyperlink" Target="https://moxielearn.ai/blog/how-to-use-ai-for-academic-writing-a-step-by-step-guid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3.png"/><Relationship Id="rId4" Type="http://schemas.openxmlformats.org/officeDocument/2006/relationships/hyperlink" Target="https://www.freepik.com/free-vector/hand-drawn-new-idea-concept-with-hand-holding-light-bulb-sketch_9711851.htm#fromView=search&amp;page=3&amp;position=1&amp;uuid=1634f497-2259-42a6-8105-a4deceb77e11&amp;new_detail=true" TargetMode="External"/><Relationship Id="rId5" Type="http://schemas.openxmlformats.org/officeDocument/2006/relationships/hyperlink" Target="https://www.freepik.com/author/harryart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opilot.microsoft.com" TargetMode="External"/><Relationship Id="rId4" Type="http://schemas.openxmlformats.org/officeDocument/2006/relationships/hyperlink" Target="https://shorturl.at/cj21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51.jpg"/><Relationship Id="rId5"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hyperlink" Target="https://www.jstor.org" TargetMode="External"/><Relationship Id="rId5" Type="http://schemas.openxmlformats.org/officeDocument/2006/relationships/hyperlink" Target="https://www.elsevier.com/en-au/products/scopus/scopus-ai" TargetMode="External"/><Relationship Id="rId6"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5.png"/><Relationship Id="rId9"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19.png"/><Relationship Id="rId8"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85.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perplexity.ai"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asta.allen.ai"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71.png"/><Relationship Id="rId9" Type="http://schemas.openxmlformats.org/officeDocument/2006/relationships/image" Target="../media/image12.jpg"/><Relationship Id="rId5" Type="http://schemas.openxmlformats.org/officeDocument/2006/relationships/image" Target="../media/image31.png"/><Relationship Id="rId6" Type="http://schemas.openxmlformats.org/officeDocument/2006/relationships/image" Target="../media/image24.png"/><Relationship Id="rId7" Type="http://schemas.openxmlformats.org/officeDocument/2006/relationships/image" Target="../media/image32.png"/><Relationship Id="rId8"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www.researchrabbit.ai" TargetMode="External"/><Relationship Id="rId4" Type="http://schemas.openxmlformats.org/officeDocument/2006/relationships/image" Target="../media/image24.png"/><Relationship Id="rId5" Type="http://schemas.openxmlformats.org/officeDocument/2006/relationships/image" Target="../media/image1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1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image" Target="../media/image1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3.png"/><Relationship Id="rId4" Type="http://schemas.openxmlformats.org/officeDocument/2006/relationships/image" Target="../media/image1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www.researchrabbit.ai" TargetMode="Externa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8.jpg"/><Relationship Id="rId4" Type="http://schemas.openxmlformats.org/officeDocument/2006/relationships/image" Target="../media/image45.png"/><Relationship Id="rId9" Type="http://schemas.openxmlformats.org/officeDocument/2006/relationships/image" Target="../media/image46.png"/><Relationship Id="rId5" Type="http://schemas.openxmlformats.org/officeDocument/2006/relationships/image" Target="../media/image70.png"/><Relationship Id="rId6" Type="http://schemas.openxmlformats.org/officeDocument/2006/relationships/image" Target="../media/image39.png"/><Relationship Id="rId7" Type="http://schemas.openxmlformats.org/officeDocument/2006/relationships/image" Target="../media/image41.png"/><Relationship Id="rId8" Type="http://schemas.openxmlformats.org/officeDocument/2006/relationships/image" Target="../media/image52.png"/><Relationship Id="rId20" Type="http://schemas.openxmlformats.org/officeDocument/2006/relationships/image" Target="../media/image60.png"/><Relationship Id="rId11" Type="http://schemas.openxmlformats.org/officeDocument/2006/relationships/image" Target="../media/image55.png"/><Relationship Id="rId10" Type="http://schemas.openxmlformats.org/officeDocument/2006/relationships/image" Target="../media/image47.png"/><Relationship Id="rId13" Type="http://schemas.openxmlformats.org/officeDocument/2006/relationships/image" Target="../media/image58.png"/><Relationship Id="rId12" Type="http://schemas.openxmlformats.org/officeDocument/2006/relationships/image" Target="../media/image54.png"/><Relationship Id="rId15" Type="http://schemas.openxmlformats.org/officeDocument/2006/relationships/image" Target="../media/image57.png"/><Relationship Id="rId14" Type="http://schemas.openxmlformats.org/officeDocument/2006/relationships/image" Target="../media/image26.png"/><Relationship Id="rId17" Type="http://schemas.openxmlformats.org/officeDocument/2006/relationships/image" Target="../media/image61.png"/><Relationship Id="rId16" Type="http://schemas.openxmlformats.org/officeDocument/2006/relationships/image" Target="../media/image56.png"/><Relationship Id="rId19" Type="http://schemas.openxmlformats.org/officeDocument/2006/relationships/image" Target="../media/image62.png"/><Relationship Id="rId18" Type="http://schemas.openxmlformats.org/officeDocument/2006/relationships/image" Target="../media/image5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8.jpg"/><Relationship Id="rId4" Type="http://schemas.openxmlformats.org/officeDocument/2006/relationships/image" Target="../media/image63.png"/><Relationship Id="rId5" Type="http://schemas.openxmlformats.org/officeDocument/2006/relationships/image" Target="../media/image95.png"/><Relationship Id="rId6" Type="http://schemas.openxmlformats.org/officeDocument/2006/relationships/image" Target="../media/image18.png"/><Relationship Id="rId7" Type="http://schemas.openxmlformats.org/officeDocument/2006/relationships/image" Target="../media/image70.png"/><Relationship Id="rId8" Type="http://schemas.openxmlformats.org/officeDocument/2006/relationships/image" Target="../media/image6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scispace.com/" TargetMode="External"/><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7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8.jpg"/><Relationship Id="rId4" Type="http://schemas.openxmlformats.org/officeDocument/2006/relationships/hyperlink" Target="https://elicit.co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hyperlink" Target="https://elicit.com/notebook/d062b402-32db-4ef2-bdb8-d1e7c5e0804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7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hyperlink" Target="http://www.petal.org" TargetMode="Externa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7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10.png"/><Relationship Id="rId4" Type="http://schemas.openxmlformats.org/officeDocument/2006/relationships/image" Target="../media/image7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s://notebooklm.google.com" TargetMode="External"/><Relationship Id="rId4" Type="http://schemas.openxmlformats.org/officeDocument/2006/relationships/image" Target="../media/image7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8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87.png"/><Relationship Id="rId4" Type="http://schemas.openxmlformats.org/officeDocument/2006/relationships/hyperlink" Target="https://notebooklm.google.com/notebook/669d06cb-10fb-47f8-a518-44252f925e7a"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hyperlink" Target="https://shorturl.at/JEvRI"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7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hyperlink" Target="https://training.vib.be/all-trainings/show-dont-tell-creating-visuals-about-your-research-3" TargetMode="External"/><Relationship Id="rId4" Type="http://schemas.openxmlformats.org/officeDocument/2006/relationships/hyperlink" Target="https://training.vib.be/all-trainings/initiation-gimp-inkscape-16"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hyperlink" Target="https://arxiv.org/abs/2310.17143"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hyperlink" Target="https://arxiv.org/abs/2310.17143"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8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hyperlink" Target="https://opentext.csu.edu.au/usingai/chapter/publication-and-ai/#Ganjavietal2024" TargetMode="External"/><Relationship Id="rId4" Type="http://schemas.openxmlformats.org/officeDocument/2006/relationships/hyperlink" Target="https://github.com/vib-tcp/introduction-to-generative-ai/blob/main/exercises/exercise15_4Research_Comparative_Writing_Policies.md" TargetMode="External"/><Relationship Id="rId5" Type="http://schemas.openxmlformats.org/officeDocument/2006/relationships/hyperlink" Target="https://opentext.csu.edu.au/usingai" TargetMode="External"/><Relationship Id="rId6" Type="http://schemas.openxmlformats.org/officeDocument/2006/relationships/hyperlink" Target="https://opentext.csu.edu.au/usingai"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7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0.png"/><Relationship Id="rId4" Type="http://schemas.openxmlformats.org/officeDocument/2006/relationships/image" Target="../media/image70.png"/><Relationship Id="rId9" Type="http://schemas.openxmlformats.org/officeDocument/2006/relationships/image" Target="../media/image75.png"/><Relationship Id="rId5" Type="http://schemas.openxmlformats.org/officeDocument/2006/relationships/image" Target="../media/image84.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18.png"/><Relationship Id="rId11" Type="http://schemas.openxmlformats.org/officeDocument/2006/relationships/image" Target="../media/image82.png"/><Relationship Id="rId10" Type="http://schemas.openxmlformats.org/officeDocument/2006/relationships/image" Target="../media/image48.jpg"/><Relationship Id="rId12" Type="http://schemas.openxmlformats.org/officeDocument/2006/relationships/image" Target="../media/image8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86.png"/><Relationship Id="rId4" Type="http://schemas.openxmlformats.org/officeDocument/2006/relationships/image" Target="../media/image91.png"/><Relationship Id="rId5" Type="http://schemas.openxmlformats.org/officeDocument/2006/relationships/image" Target="../media/image9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84.png"/><Relationship Id="rId4" Type="http://schemas.openxmlformats.org/officeDocument/2006/relationships/image" Target="../media/image90.png"/><Relationship Id="rId9" Type="http://schemas.openxmlformats.org/officeDocument/2006/relationships/image" Target="../media/image99.png"/><Relationship Id="rId5" Type="http://schemas.openxmlformats.org/officeDocument/2006/relationships/image" Target="../media/image94.png"/><Relationship Id="rId6" Type="http://schemas.openxmlformats.org/officeDocument/2006/relationships/image" Target="../media/image111.png"/><Relationship Id="rId7" Type="http://schemas.openxmlformats.org/officeDocument/2006/relationships/image" Target="../media/image96.png"/><Relationship Id="rId8" Type="http://schemas.openxmlformats.org/officeDocument/2006/relationships/image" Target="../media/image100.png"/><Relationship Id="rId10" Type="http://schemas.openxmlformats.org/officeDocument/2006/relationships/image" Target="../media/image9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84.png"/><Relationship Id="rId4" Type="http://schemas.openxmlformats.org/officeDocument/2006/relationships/image" Target="../media/image86.png"/><Relationship Id="rId5" Type="http://schemas.openxmlformats.org/officeDocument/2006/relationships/hyperlink" Target="https://gemini.google.com"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84.png"/><Relationship Id="rId4" Type="http://schemas.openxmlformats.org/officeDocument/2006/relationships/image" Target="../media/image86.png"/><Relationship Id="rId5" Type="http://schemas.openxmlformats.org/officeDocument/2006/relationships/hyperlink" Target="https://gemini.google.com"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8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0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06.png"/><Relationship Id="rId4" Type="http://schemas.openxmlformats.org/officeDocument/2006/relationships/image" Target="../media/image103.png"/><Relationship Id="rId5" Type="http://schemas.openxmlformats.org/officeDocument/2006/relationships/image" Target="../media/image10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84.png"/><Relationship Id="rId4" Type="http://schemas.openxmlformats.org/officeDocument/2006/relationships/image" Target="../media/image90.png"/><Relationship Id="rId5" Type="http://schemas.openxmlformats.org/officeDocument/2006/relationships/image" Target="../media/image10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0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07.png"/><Relationship Id="rId4" Type="http://schemas.openxmlformats.org/officeDocument/2006/relationships/image" Target="../media/image102.png"/><Relationship Id="rId5" Type="http://schemas.openxmlformats.org/officeDocument/2006/relationships/image" Target="../media/image106.png"/><Relationship Id="rId6" Type="http://schemas.openxmlformats.org/officeDocument/2006/relationships/image" Target="../media/image108.png"/><Relationship Id="rId7" Type="http://schemas.openxmlformats.org/officeDocument/2006/relationships/image" Target="../media/image10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06.png"/><Relationship Id="rId4" Type="http://schemas.openxmlformats.org/officeDocument/2006/relationships/image" Target="../media/image103.png"/><Relationship Id="rId5" Type="http://schemas.openxmlformats.org/officeDocument/2006/relationships/image" Target="../media/image10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0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hyperlink" Target="https://github.com/vib-tcp/introduction-to-generative-ai/blob/main/exercises/exercise14_4General_Collaborative_Proposal.md" TargetMode="External"/><Relationship Id="rId4" Type="http://schemas.openxmlformats.org/officeDocument/2006/relationships/hyperlink" Target="https://liascript.github.io/course/?https://raw.githubusercontent.com/vib-tcp/introduction-to-generative-ai/refs/heads/main/supplementary/quiz.m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id="67" name="Google Shape;67;p1"/>
          <p:cNvPicPr preferRelativeResize="0"/>
          <p:nvPr/>
        </p:nvPicPr>
        <p:blipFill rotWithShape="1">
          <a:blip r:embed="rId3">
            <a:alphaModFix/>
          </a:blip>
          <a:srcRect b="0" l="0" r="0" t="0"/>
          <a:stretch/>
        </p:blipFill>
        <p:spPr>
          <a:xfrm>
            <a:off x="6900423" y="4473900"/>
            <a:ext cx="1168025" cy="408650"/>
          </a:xfrm>
          <a:prstGeom prst="rect">
            <a:avLst/>
          </a:prstGeom>
          <a:noFill/>
          <a:ln>
            <a:noFill/>
          </a:ln>
        </p:spPr>
      </p:pic>
      <p:sp>
        <p:nvSpPr>
          <p:cNvPr id="68" name="Google Shape;68;p1"/>
          <p:cNvSpPr txBox="1"/>
          <p:nvPr/>
        </p:nvSpPr>
        <p:spPr>
          <a:xfrm>
            <a:off x="6900500" y="4797300"/>
            <a:ext cx="11679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sng" cap="none" strike="noStrike">
                <a:solidFill>
                  <a:srgbClr val="0097A7"/>
                </a:solidFill>
                <a:latin typeface="Oswald"/>
                <a:ea typeface="Oswald"/>
                <a:cs typeface="Oswald"/>
                <a:sym typeface="Oswald"/>
                <a:hlinkClick r:id="rId4">
                  <a:extLst>
                    <a:ext uri="{A12FA001-AC4F-418D-AE19-62706E023703}">
                      <ahyp:hlinkClr val="tx"/>
                    </a:ext>
                  </a:extLst>
                </a:hlinkClick>
              </a:rPr>
              <a:t>_______C C B Y   4.0_______</a:t>
            </a:r>
            <a:endParaRPr b="0" i="0" sz="800" u="none" cap="none" strike="noStrike">
              <a:solidFill>
                <a:srgbClr val="B7B7B7"/>
              </a:solidFill>
              <a:latin typeface="Oswald"/>
              <a:ea typeface="Oswald"/>
              <a:cs typeface="Oswald"/>
              <a:sym typeface="Oswald"/>
            </a:endParaRPr>
          </a:p>
        </p:txBody>
      </p:sp>
      <p:sp>
        <p:nvSpPr>
          <p:cNvPr id="69" name="Google Shape;69;p1"/>
          <p:cNvSpPr txBox="1"/>
          <p:nvPr/>
        </p:nvSpPr>
        <p:spPr>
          <a:xfrm>
            <a:off x="1298850" y="4166200"/>
            <a:ext cx="40005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chemeClr val="lt1"/>
                </a:solidFill>
                <a:latin typeface="Arial"/>
                <a:ea typeface="Arial"/>
                <a:cs typeface="Arial"/>
                <a:sym typeface="Arial"/>
              </a:rPr>
              <a:t>https://shorturl.at/3vLsH</a:t>
            </a:r>
            <a:endParaRPr b="0" i="0" sz="2200" u="none" cap="none" strike="noStrike">
              <a:solidFill>
                <a:schemeClr val="lt1"/>
              </a:solidFill>
              <a:latin typeface="Arial"/>
              <a:ea typeface="Arial"/>
              <a:cs typeface="Arial"/>
              <a:sym typeface="Arial"/>
            </a:endParaRPr>
          </a:p>
        </p:txBody>
      </p:sp>
      <p:pic>
        <p:nvPicPr>
          <p:cNvPr id="70" name="Google Shape;70;p1"/>
          <p:cNvPicPr preferRelativeResize="0"/>
          <p:nvPr/>
        </p:nvPicPr>
        <p:blipFill rotWithShape="1">
          <a:blip r:embed="rId5">
            <a:alphaModFix/>
          </a:blip>
          <a:srcRect b="20653" l="69221" r="7209" t="20920"/>
          <a:stretch/>
        </p:blipFill>
        <p:spPr>
          <a:xfrm>
            <a:off x="5134337" y="-765065"/>
            <a:ext cx="4566000" cy="4837200"/>
          </a:xfrm>
          <a:prstGeom prst="ellipse">
            <a:avLst/>
          </a:prstGeom>
          <a:noFill/>
          <a:ln>
            <a:noFill/>
          </a:ln>
        </p:spPr>
      </p:pic>
      <p:sp>
        <p:nvSpPr>
          <p:cNvPr id="71" name="Google Shape;71;p1"/>
          <p:cNvSpPr/>
          <p:nvPr/>
        </p:nvSpPr>
        <p:spPr>
          <a:xfrm>
            <a:off x="5067575" y="-1016975"/>
            <a:ext cx="4711200" cy="5143500"/>
          </a:xfrm>
          <a:prstGeom prst="teardrop">
            <a:avLst>
              <a:gd fmla="val 100000" name="adj"/>
            </a:avLst>
          </a:prstGeom>
          <a:solidFill>
            <a:srgbClr val="FFFFFF">
              <a:alpha val="6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txBox="1"/>
          <p:nvPr/>
        </p:nvSpPr>
        <p:spPr>
          <a:xfrm>
            <a:off x="526550" y="1429200"/>
            <a:ext cx="5999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Oswald"/>
                <a:ea typeface="Oswald"/>
                <a:cs typeface="Oswald"/>
                <a:sym typeface="Oswald"/>
              </a:rPr>
              <a:t>Jolan Heyse and Alexander Botzki</a:t>
            </a:r>
            <a:br>
              <a:rPr b="0" i="0" lang="en" sz="1500" u="none" cap="none" strike="noStrike">
                <a:solidFill>
                  <a:srgbClr val="000000"/>
                </a:solidFill>
                <a:latin typeface="Oswald"/>
                <a:ea typeface="Oswald"/>
                <a:cs typeface="Oswald"/>
                <a:sym typeface="Oswald"/>
              </a:rPr>
            </a:br>
            <a:r>
              <a:rPr b="0" i="0" lang="en" sz="1500" u="none" cap="none" strike="noStrike">
                <a:solidFill>
                  <a:srgbClr val="000000"/>
                </a:solidFill>
                <a:latin typeface="Oswald"/>
                <a:ea typeface="Oswald"/>
                <a:cs typeface="Oswald"/>
                <a:sym typeface="Oswald"/>
              </a:rPr>
              <a:t>Bruna Piereck</a:t>
            </a:r>
            <a:endParaRPr b="0" i="0" sz="1500" u="none" cap="none" strike="noStrike">
              <a:solidFill>
                <a:srgbClr val="000000"/>
              </a:solidFill>
              <a:latin typeface="Oswald"/>
              <a:ea typeface="Oswald"/>
              <a:cs typeface="Oswald"/>
              <a:sym typeface="Oswald"/>
            </a:endParaRPr>
          </a:p>
        </p:txBody>
      </p:sp>
      <p:sp>
        <p:nvSpPr>
          <p:cNvPr id="73" name="Google Shape;73;p1"/>
          <p:cNvSpPr txBox="1"/>
          <p:nvPr/>
        </p:nvSpPr>
        <p:spPr>
          <a:xfrm>
            <a:off x="471325" y="895725"/>
            <a:ext cx="6908100" cy="677100"/>
          </a:xfrm>
          <a:prstGeom prst="rect">
            <a:avLst/>
          </a:prstGeom>
          <a:noFill/>
          <a:ln>
            <a:noFill/>
          </a:ln>
          <a:effectLst>
            <a:outerShdw blurRad="57150" rotWithShape="0" algn="bl" dir="5400000" dist="19050">
              <a:srgbClr val="D9D9D9">
                <a:alpha val="49019"/>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000000"/>
                </a:solidFill>
                <a:latin typeface="Oswald"/>
                <a:ea typeface="Oswald"/>
                <a:cs typeface="Oswald"/>
                <a:sym typeface="Oswald"/>
              </a:rPr>
              <a:t>Strategic use of Generative AI</a:t>
            </a:r>
            <a:endParaRPr b="0" i="0" sz="3200" u="none" cap="none" strike="noStrike">
              <a:solidFill>
                <a:srgbClr val="000000"/>
              </a:solidFill>
              <a:latin typeface="Oswald"/>
              <a:ea typeface="Oswald"/>
              <a:cs typeface="Oswald"/>
              <a:sym typeface="Oswald"/>
            </a:endParaRPr>
          </a:p>
        </p:txBody>
      </p:sp>
      <p:sp>
        <p:nvSpPr>
          <p:cNvPr id="74" name="Google Shape;74;p1"/>
          <p:cNvSpPr/>
          <p:nvPr/>
        </p:nvSpPr>
        <p:spPr>
          <a:xfrm>
            <a:off x="5214325" y="-649325"/>
            <a:ext cx="4380900" cy="46536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txBox="1"/>
          <p:nvPr/>
        </p:nvSpPr>
        <p:spPr>
          <a:xfrm rot="-5400000">
            <a:off x="-351125" y="928325"/>
            <a:ext cx="1488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Oswald"/>
                <a:ea typeface="Oswald"/>
                <a:cs typeface="Oswald"/>
                <a:sym typeface="Oswald"/>
              </a:rPr>
              <a:t>4Research</a:t>
            </a:r>
            <a:endParaRPr b="0" i="0" sz="1800" u="none" cap="none" strike="noStrike">
              <a:solidFill>
                <a:srgbClr val="000000"/>
              </a:solidFill>
              <a:latin typeface="Oswald"/>
              <a:ea typeface="Oswald"/>
              <a:cs typeface="Oswald"/>
              <a:sym typeface="Oswald"/>
            </a:endParaRPr>
          </a:p>
        </p:txBody>
      </p:sp>
      <p:pic>
        <p:nvPicPr>
          <p:cNvPr id="76" name="Google Shape;76;p1"/>
          <p:cNvPicPr preferRelativeResize="0"/>
          <p:nvPr/>
        </p:nvPicPr>
        <p:blipFill rotWithShape="1">
          <a:blip r:embed="rId6">
            <a:alphaModFix/>
          </a:blip>
          <a:srcRect b="0" l="0" r="0" t="0"/>
          <a:stretch/>
        </p:blipFill>
        <p:spPr>
          <a:xfrm rot="-298111">
            <a:off x="6641737" y="3614100"/>
            <a:ext cx="1562871" cy="323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8"/>
          <p:cNvSpPr txBox="1"/>
          <p:nvPr/>
        </p:nvSpPr>
        <p:spPr>
          <a:xfrm>
            <a:off x="127450" y="134150"/>
            <a:ext cx="58392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Recent headlines </a:t>
            </a:r>
            <a:endParaRPr b="0" i="0" sz="3200" u="none" cap="none" strike="noStrike">
              <a:solidFill>
                <a:schemeClr val="dk1"/>
              </a:solidFill>
              <a:latin typeface="Oswald"/>
              <a:ea typeface="Oswald"/>
              <a:cs typeface="Oswald"/>
              <a:sym typeface="Oswald"/>
            </a:endParaRPr>
          </a:p>
        </p:txBody>
      </p:sp>
      <p:sp>
        <p:nvSpPr>
          <p:cNvPr id="82" name="Google Shape;82;p8"/>
          <p:cNvSpPr txBox="1"/>
          <p:nvPr/>
        </p:nvSpPr>
        <p:spPr>
          <a:xfrm>
            <a:off x="185175" y="577275"/>
            <a:ext cx="3000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Oswald"/>
                <a:ea typeface="Oswald"/>
                <a:cs typeface="Oswald"/>
                <a:sym typeface="Oswald"/>
              </a:rPr>
              <a:t>before we start</a:t>
            </a:r>
            <a:endParaRPr b="0" i="0" sz="1700" u="none" cap="none" strike="noStrike">
              <a:solidFill>
                <a:schemeClr val="dk1"/>
              </a:solidFill>
              <a:latin typeface="Oswald"/>
              <a:ea typeface="Oswald"/>
              <a:cs typeface="Oswald"/>
              <a:sym typeface="Oswald"/>
            </a:endParaRPr>
          </a:p>
        </p:txBody>
      </p:sp>
      <p:pic>
        <p:nvPicPr>
          <p:cNvPr descr="A close-up of a white background&#10;&#10;Description automatically generated" id="83" name="Google Shape;83;p8"/>
          <p:cNvPicPr preferRelativeResize="0"/>
          <p:nvPr/>
        </p:nvPicPr>
        <p:blipFill rotWithShape="1">
          <a:blip r:embed="rId3">
            <a:alphaModFix/>
          </a:blip>
          <a:srcRect b="0" l="0" r="0" t="0"/>
          <a:stretch/>
        </p:blipFill>
        <p:spPr>
          <a:xfrm>
            <a:off x="453957" y="1466800"/>
            <a:ext cx="3397297" cy="958093"/>
          </a:xfrm>
          <a:prstGeom prst="rect">
            <a:avLst/>
          </a:prstGeom>
          <a:noFill/>
          <a:ln>
            <a:noFill/>
          </a:ln>
        </p:spPr>
      </p:pic>
      <p:pic>
        <p:nvPicPr>
          <p:cNvPr descr="A close-up of a text&#10;&#10;Description automatically generated" id="84" name="Google Shape;84;p8"/>
          <p:cNvPicPr preferRelativeResize="0"/>
          <p:nvPr/>
        </p:nvPicPr>
        <p:blipFill rotWithShape="1">
          <a:blip r:embed="rId4">
            <a:alphaModFix/>
          </a:blip>
          <a:srcRect b="0" l="0" r="0" t="0"/>
          <a:stretch/>
        </p:blipFill>
        <p:spPr>
          <a:xfrm>
            <a:off x="4468224" y="1555329"/>
            <a:ext cx="4215318" cy="781040"/>
          </a:xfrm>
          <a:prstGeom prst="rect">
            <a:avLst/>
          </a:prstGeom>
          <a:noFill/>
          <a:ln>
            <a:noFill/>
          </a:ln>
        </p:spPr>
      </p:pic>
      <p:pic>
        <p:nvPicPr>
          <p:cNvPr descr="A screenshot of a social media post&#10;&#10;Description automatically generated" id="85" name="Google Shape;85;p8"/>
          <p:cNvPicPr preferRelativeResize="0"/>
          <p:nvPr/>
        </p:nvPicPr>
        <p:blipFill rotWithShape="1">
          <a:blip r:embed="rId5">
            <a:alphaModFix/>
          </a:blip>
          <a:srcRect b="0" l="0" r="0" t="0"/>
          <a:stretch/>
        </p:blipFill>
        <p:spPr>
          <a:xfrm>
            <a:off x="453939" y="3003583"/>
            <a:ext cx="3956858" cy="1115898"/>
          </a:xfrm>
          <a:prstGeom prst="rect">
            <a:avLst/>
          </a:prstGeom>
          <a:noFill/>
          <a:ln>
            <a:noFill/>
          </a:ln>
        </p:spPr>
      </p:pic>
      <p:pic>
        <p:nvPicPr>
          <p:cNvPr id="86" name="Google Shape;86;p8" title="Screenshot 2025-09-12 at 13.39.41.png"/>
          <p:cNvPicPr preferRelativeResize="0"/>
          <p:nvPr/>
        </p:nvPicPr>
        <p:blipFill rotWithShape="1">
          <a:blip r:embed="rId6">
            <a:alphaModFix/>
          </a:blip>
          <a:srcRect b="0" l="0" r="0" t="0"/>
          <a:stretch/>
        </p:blipFill>
        <p:spPr>
          <a:xfrm>
            <a:off x="4720025" y="3214186"/>
            <a:ext cx="3829400" cy="1205125"/>
          </a:xfrm>
          <a:prstGeom prst="rect">
            <a:avLst/>
          </a:prstGeom>
          <a:noFill/>
          <a:ln>
            <a:noFill/>
          </a:ln>
        </p:spPr>
      </p:pic>
      <p:sp>
        <p:nvSpPr>
          <p:cNvPr id="87" name="Google Shape;87;p8"/>
          <p:cNvSpPr txBox="1"/>
          <p:nvPr/>
        </p:nvSpPr>
        <p:spPr>
          <a:xfrm>
            <a:off x="4812900" y="2990880"/>
            <a:ext cx="3000000" cy="29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Nature | Vol 645 | 11 September 2025</a:t>
            </a:r>
            <a:endParaRPr b="0" i="0" sz="700" u="none" cap="none" strike="noStrike">
              <a:solidFill>
                <a:srgbClr val="000000"/>
              </a:solidFill>
              <a:latin typeface="Arial"/>
              <a:ea typeface="Arial"/>
              <a:cs typeface="Arial"/>
              <a:sym typeface="Arial"/>
            </a:endParaRPr>
          </a:p>
        </p:txBody>
      </p:sp>
      <p:sp>
        <p:nvSpPr>
          <p:cNvPr id="88" name="Google Shape;88;p8"/>
          <p:cNvSpPr txBox="1"/>
          <p:nvPr/>
        </p:nvSpPr>
        <p:spPr>
          <a:xfrm>
            <a:off x="127450" y="4698150"/>
            <a:ext cx="3829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https://www.menti.com/albv8mtqbrv8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8904fd917d_0_2"/>
          <p:cNvSpPr txBox="1"/>
          <p:nvPr/>
        </p:nvSpPr>
        <p:spPr>
          <a:xfrm>
            <a:off x="127450" y="134150"/>
            <a:ext cx="58392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 use in the writing process</a:t>
            </a:r>
            <a:endParaRPr b="0" i="0" sz="3200" u="none" cap="none" strike="noStrike">
              <a:solidFill>
                <a:schemeClr val="dk1"/>
              </a:solidFill>
              <a:latin typeface="Oswald"/>
              <a:ea typeface="Oswald"/>
              <a:cs typeface="Oswald"/>
              <a:sym typeface="Oswald"/>
            </a:endParaRPr>
          </a:p>
        </p:txBody>
      </p:sp>
      <p:sp>
        <p:nvSpPr>
          <p:cNvPr id="94" name="Google Shape;94;g38904fd917d_0_2"/>
          <p:cNvSpPr/>
          <p:nvPr/>
        </p:nvSpPr>
        <p:spPr>
          <a:xfrm rot="-5400000">
            <a:off x="4712717" y="-1690465"/>
            <a:ext cx="1494000" cy="6932100"/>
          </a:xfrm>
          <a:prstGeom prst="trapezoid">
            <a:avLst>
              <a:gd fmla="val 32069" name="adj"/>
            </a:avLst>
          </a:prstGeom>
          <a:solidFill>
            <a:srgbClr val="A2CED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95" name="Google Shape;95;g38904fd917d_0_2"/>
          <p:cNvSpPr txBox="1"/>
          <p:nvPr/>
        </p:nvSpPr>
        <p:spPr>
          <a:xfrm>
            <a:off x="4948948" y="872835"/>
            <a:ext cx="141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Increasing AI </a:t>
            </a:r>
            <a:endParaRPr b="1" i="0" sz="1400" u="none" cap="none" strike="noStrike">
              <a:solidFill>
                <a:schemeClr val="lt1"/>
              </a:solidFill>
              <a:latin typeface="Arial"/>
              <a:ea typeface="Arial"/>
              <a:cs typeface="Arial"/>
              <a:sym typeface="Arial"/>
            </a:endParaRPr>
          </a:p>
        </p:txBody>
      </p:sp>
      <p:sp>
        <p:nvSpPr>
          <p:cNvPr id="96" name="Google Shape;96;g38904fd917d_0_2"/>
          <p:cNvSpPr/>
          <p:nvPr/>
        </p:nvSpPr>
        <p:spPr>
          <a:xfrm>
            <a:off x="446525" y="1521617"/>
            <a:ext cx="1502100" cy="507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Human writing</a:t>
            </a:r>
            <a:endParaRPr b="0" i="0" sz="1400" u="none" cap="none" strike="noStrike">
              <a:solidFill>
                <a:schemeClr val="lt1"/>
              </a:solidFill>
              <a:latin typeface="Arial"/>
              <a:ea typeface="Arial"/>
              <a:cs typeface="Arial"/>
              <a:sym typeface="Arial"/>
            </a:endParaRPr>
          </a:p>
        </p:txBody>
      </p:sp>
      <p:sp>
        <p:nvSpPr>
          <p:cNvPr id="97" name="Google Shape;97;g38904fd917d_0_2"/>
          <p:cNvSpPr txBox="1"/>
          <p:nvPr/>
        </p:nvSpPr>
        <p:spPr>
          <a:xfrm>
            <a:off x="103625" y="4732575"/>
            <a:ext cx="7786500" cy="507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Arial"/>
                <a:ea typeface="Arial"/>
                <a:cs typeface="Arial"/>
                <a:sym typeface="Arial"/>
              </a:rPr>
              <a:t>Adapted from: </a:t>
            </a:r>
            <a:r>
              <a:rPr b="0" i="0" lang="en" sz="600" u="none" cap="none" strike="noStrike">
                <a:solidFill>
                  <a:schemeClr val="dk1"/>
                </a:solidFill>
                <a:latin typeface="Arial"/>
                <a:ea typeface="Arial"/>
                <a:cs typeface="Arial"/>
                <a:sym typeface="Arial"/>
              </a:rPr>
              <a:t>Knowles, A. M. (2024). Machine-in-the-loop writing: Optimizing the rhetorical load.</a:t>
            </a:r>
            <a:r>
              <a:rPr b="0" i="1" lang="en" sz="600" u="none" cap="none" strike="noStrike">
                <a:solidFill>
                  <a:schemeClr val="dk1"/>
                </a:solidFill>
                <a:latin typeface="Arial"/>
                <a:ea typeface="Arial"/>
                <a:cs typeface="Arial"/>
                <a:sym typeface="Arial"/>
              </a:rPr>
              <a:t>Computers and Composition, 71</a:t>
            </a:r>
            <a:r>
              <a:rPr b="0" i="0" lang="en" sz="600" u="none" cap="none" strike="noStrike">
                <a:solidFill>
                  <a:schemeClr val="dk1"/>
                </a:solidFill>
                <a:latin typeface="Arial"/>
                <a:ea typeface="Arial"/>
                <a:cs typeface="Arial"/>
                <a:sym typeface="Arial"/>
              </a:rPr>
              <a:t>, 102826.</a:t>
            </a:r>
            <a:r>
              <a:rPr b="0" i="0" lang="en" sz="600" u="none" cap="none" strike="noStrike">
                <a:solidFill>
                  <a:schemeClr val="dk1"/>
                </a:solidFill>
                <a:uFill>
                  <a:noFill/>
                </a:uFill>
                <a:latin typeface="Arial"/>
                <a:ea typeface="Arial"/>
                <a:cs typeface="Arial"/>
                <a:sym typeface="Arial"/>
                <a:hlinkClick r:id="rId3">
                  <a:extLst>
                    <a:ext uri="{A12FA001-AC4F-418D-AE19-62706E023703}">
                      <ahyp:hlinkClr val="tx"/>
                    </a:ext>
                  </a:extLst>
                </a:hlinkClick>
              </a:rPr>
              <a:t> </a:t>
            </a:r>
            <a:r>
              <a:rPr b="0" i="0" lang="en" sz="600" u="sng" cap="none" strike="noStrike">
                <a:solidFill>
                  <a:schemeClr val="accent5"/>
                </a:solidFill>
                <a:latin typeface="Arial"/>
                <a:ea typeface="Arial"/>
                <a:cs typeface="Arial"/>
                <a:sym typeface="Arial"/>
                <a:hlinkClick r:id="rId4">
                  <a:extLst>
                    <a:ext uri="{A12FA001-AC4F-418D-AE19-62706E023703}">
                      <ahyp:hlinkClr val="tx"/>
                    </a:ext>
                  </a:extLst>
                </a:hlinkClick>
              </a:rPr>
              <a:t>https://doi.org/10.1016/j.compcom.2024.102826</a:t>
            </a:r>
            <a:br>
              <a:rPr b="0" i="0" lang="en" sz="700" u="none" cap="none" strike="noStrike">
                <a:solidFill>
                  <a:schemeClr val="accent5"/>
                </a:solidFill>
                <a:latin typeface="Arial"/>
                <a:ea typeface="Arial"/>
                <a:cs typeface="Arial"/>
                <a:sym typeface="Arial"/>
              </a:rPr>
            </a:br>
            <a:r>
              <a:rPr b="0" i="0" lang="en" sz="700" u="sng" cap="none" strike="noStrike">
                <a:solidFill>
                  <a:schemeClr val="accent5"/>
                </a:solidFill>
                <a:latin typeface="Arial"/>
                <a:ea typeface="Arial"/>
                <a:cs typeface="Arial"/>
                <a:sym typeface="Arial"/>
                <a:hlinkClick r:id="rId5">
                  <a:extLst>
                    <a:ext uri="{A12FA001-AC4F-418D-AE19-62706E023703}">
                      <ahyp:hlinkClr val="tx"/>
                    </a:ext>
                  </a:extLst>
                </a:hlinkClick>
              </a:rPr>
              <a:t>https://moxielearn.ai/blog/how-to-use-ai-for-academic-writing-a-step-by-step-guide</a:t>
            </a:r>
            <a:r>
              <a:rPr b="0" i="0" lang="en" sz="700" u="none" cap="none" strike="noStrike">
                <a:solidFill>
                  <a:schemeClr val="accent5"/>
                </a:solidFill>
                <a:latin typeface="Arial"/>
                <a:ea typeface="Arial"/>
                <a:cs typeface="Arial"/>
                <a:sym typeface="Arial"/>
              </a:rPr>
              <a:t>; </a:t>
            </a:r>
            <a:br>
              <a:rPr b="0" i="0" lang="en" sz="700" u="none" cap="none" strike="noStrike">
                <a:solidFill>
                  <a:schemeClr val="dk1"/>
                </a:solidFill>
                <a:latin typeface="Arial"/>
                <a:ea typeface="Arial"/>
                <a:cs typeface="Arial"/>
                <a:sym typeface="Arial"/>
              </a:rPr>
            </a:br>
            <a:endParaRPr b="0" i="0" sz="700" u="none" cap="none" strike="noStrike">
              <a:solidFill>
                <a:schemeClr val="dk1"/>
              </a:solidFill>
              <a:latin typeface="Arial"/>
              <a:ea typeface="Arial"/>
              <a:cs typeface="Arial"/>
              <a:sym typeface="Arial"/>
            </a:endParaRPr>
          </a:p>
        </p:txBody>
      </p:sp>
      <p:sp>
        <p:nvSpPr>
          <p:cNvPr id="98" name="Google Shape;98;g38904fd917d_0_2"/>
          <p:cNvSpPr txBox="1"/>
          <p:nvPr/>
        </p:nvSpPr>
        <p:spPr>
          <a:xfrm>
            <a:off x="2426102" y="1507225"/>
            <a:ext cx="19308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Human-in-the-Loop Writing</a:t>
            </a:r>
            <a:endParaRPr b="0" i="0" sz="1400" u="none" cap="none" strike="noStrike">
              <a:solidFill>
                <a:schemeClr val="dk1"/>
              </a:solidFill>
              <a:latin typeface="Arial"/>
              <a:ea typeface="Arial"/>
              <a:cs typeface="Arial"/>
              <a:sym typeface="Arial"/>
            </a:endParaRPr>
          </a:p>
        </p:txBody>
      </p:sp>
      <p:sp>
        <p:nvSpPr>
          <p:cNvPr id="99" name="Google Shape;99;g38904fd917d_0_2"/>
          <p:cNvSpPr txBox="1"/>
          <p:nvPr/>
        </p:nvSpPr>
        <p:spPr>
          <a:xfrm>
            <a:off x="4746175" y="1507238"/>
            <a:ext cx="21045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Machine-in-the-loop Writing</a:t>
            </a:r>
            <a:endParaRPr b="0" i="0" sz="1400" u="none" cap="none" strike="noStrike">
              <a:solidFill>
                <a:schemeClr val="dk1"/>
              </a:solidFill>
              <a:latin typeface="Arial"/>
              <a:ea typeface="Arial"/>
              <a:cs typeface="Arial"/>
              <a:sym typeface="Arial"/>
            </a:endParaRPr>
          </a:p>
        </p:txBody>
      </p:sp>
      <p:sp>
        <p:nvSpPr>
          <p:cNvPr id="100" name="Google Shape;100;g38904fd917d_0_2"/>
          <p:cNvSpPr txBox="1"/>
          <p:nvPr/>
        </p:nvSpPr>
        <p:spPr>
          <a:xfrm>
            <a:off x="6959476" y="1554450"/>
            <a:ext cx="1930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Synthetic Writing</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8904fd917d_0_17"/>
          <p:cNvSpPr txBox="1"/>
          <p:nvPr/>
        </p:nvSpPr>
        <p:spPr>
          <a:xfrm>
            <a:off x="127450" y="134150"/>
            <a:ext cx="86382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Activity: What type of writing activities classify where? </a:t>
            </a:r>
            <a:endParaRPr b="0" i="0" sz="3200" u="none" cap="none" strike="noStrike">
              <a:solidFill>
                <a:schemeClr val="dk1"/>
              </a:solidFill>
              <a:latin typeface="Oswald"/>
              <a:ea typeface="Oswald"/>
              <a:cs typeface="Oswald"/>
              <a:sym typeface="Oswald"/>
            </a:endParaRPr>
          </a:p>
        </p:txBody>
      </p:sp>
      <p:sp>
        <p:nvSpPr>
          <p:cNvPr id="106" name="Google Shape;106;g38904fd917d_0_17"/>
          <p:cNvSpPr/>
          <p:nvPr/>
        </p:nvSpPr>
        <p:spPr>
          <a:xfrm rot="-5400000">
            <a:off x="4712717" y="-1690465"/>
            <a:ext cx="1494000" cy="6932100"/>
          </a:xfrm>
          <a:prstGeom prst="trapezoid">
            <a:avLst>
              <a:gd fmla="val 32069" name="adj"/>
            </a:avLst>
          </a:prstGeom>
          <a:solidFill>
            <a:srgbClr val="A2CED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107" name="Google Shape;107;g38904fd917d_0_17"/>
          <p:cNvSpPr txBox="1"/>
          <p:nvPr/>
        </p:nvSpPr>
        <p:spPr>
          <a:xfrm>
            <a:off x="4948948" y="872835"/>
            <a:ext cx="141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Increasing AI </a:t>
            </a:r>
            <a:endParaRPr b="1" i="0" sz="1400" u="none" cap="none" strike="noStrike">
              <a:solidFill>
                <a:schemeClr val="lt1"/>
              </a:solidFill>
              <a:latin typeface="Arial"/>
              <a:ea typeface="Arial"/>
              <a:cs typeface="Arial"/>
              <a:sym typeface="Arial"/>
            </a:endParaRPr>
          </a:p>
        </p:txBody>
      </p:sp>
      <p:sp>
        <p:nvSpPr>
          <p:cNvPr id="108" name="Google Shape;108;g38904fd917d_0_17"/>
          <p:cNvSpPr/>
          <p:nvPr/>
        </p:nvSpPr>
        <p:spPr>
          <a:xfrm>
            <a:off x="446525" y="1521617"/>
            <a:ext cx="1502100" cy="507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Human writing</a:t>
            </a:r>
            <a:endParaRPr b="0" i="0" sz="1400" u="none" cap="none" strike="noStrike">
              <a:solidFill>
                <a:schemeClr val="lt1"/>
              </a:solidFill>
              <a:latin typeface="Arial"/>
              <a:ea typeface="Arial"/>
              <a:cs typeface="Arial"/>
              <a:sym typeface="Arial"/>
            </a:endParaRPr>
          </a:p>
        </p:txBody>
      </p:sp>
      <p:sp>
        <p:nvSpPr>
          <p:cNvPr id="109" name="Google Shape;109;g38904fd917d_0_17"/>
          <p:cNvSpPr txBox="1"/>
          <p:nvPr/>
        </p:nvSpPr>
        <p:spPr>
          <a:xfrm>
            <a:off x="103625" y="4732575"/>
            <a:ext cx="7786500" cy="507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Arial"/>
                <a:ea typeface="Arial"/>
                <a:cs typeface="Arial"/>
                <a:sym typeface="Arial"/>
              </a:rPr>
              <a:t>Adapted from: </a:t>
            </a:r>
            <a:r>
              <a:rPr b="0" i="0" lang="en" sz="600" u="none" cap="none" strike="noStrike">
                <a:solidFill>
                  <a:schemeClr val="dk1"/>
                </a:solidFill>
                <a:latin typeface="Arial"/>
                <a:ea typeface="Arial"/>
                <a:cs typeface="Arial"/>
                <a:sym typeface="Arial"/>
              </a:rPr>
              <a:t>Knowles, A. M. (2024). Machine-in-the-loop writing: Optimizing the rhetorical load.</a:t>
            </a:r>
            <a:r>
              <a:rPr b="0" i="1" lang="en" sz="600" u="none" cap="none" strike="noStrike">
                <a:solidFill>
                  <a:schemeClr val="dk1"/>
                </a:solidFill>
                <a:latin typeface="Arial"/>
                <a:ea typeface="Arial"/>
                <a:cs typeface="Arial"/>
                <a:sym typeface="Arial"/>
              </a:rPr>
              <a:t>Computers and Composition, 71</a:t>
            </a:r>
            <a:r>
              <a:rPr b="0" i="0" lang="en" sz="600" u="none" cap="none" strike="noStrike">
                <a:solidFill>
                  <a:schemeClr val="dk1"/>
                </a:solidFill>
                <a:latin typeface="Arial"/>
                <a:ea typeface="Arial"/>
                <a:cs typeface="Arial"/>
                <a:sym typeface="Arial"/>
              </a:rPr>
              <a:t>, 102826.</a:t>
            </a:r>
            <a:r>
              <a:rPr b="0" i="0" lang="en" sz="600" u="none" cap="none" strike="noStrike">
                <a:solidFill>
                  <a:schemeClr val="dk1"/>
                </a:solidFill>
                <a:uFill>
                  <a:noFill/>
                </a:uFill>
                <a:latin typeface="Arial"/>
                <a:ea typeface="Arial"/>
                <a:cs typeface="Arial"/>
                <a:sym typeface="Arial"/>
                <a:hlinkClick r:id="rId3">
                  <a:extLst>
                    <a:ext uri="{A12FA001-AC4F-418D-AE19-62706E023703}">
                      <ahyp:hlinkClr val="tx"/>
                    </a:ext>
                  </a:extLst>
                </a:hlinkClick>
              </a:rPr>
              <a:t> </a:t>
            </a:r>
            <a:r>
              <a:rPr b="0" i="0" lang="en" sz="600" u="sng" cap="none" strike="noStrike">
                <a:solidFill>
                  <a:schemeClr val="accent5"/>
                </a:solidFill>
                <a:latin typeface="Arial"/>
                <a:ea typeface="Arial"/>
                <a:cs typeface="Arial"/>
                <a:sym typeface="Arial"/>
                <a:hlinkClick r:id="rId4">
                  <a:extLst>
                    <a:ext uri="{A12FA001-AC4F-418D-AE19-62706E023703}">
                      <ahyp:hlinkClr val="tx"/>
                    </a:ext>
                  </a:extLst>
                </a:hlinkClick>
              </a:rPr>
              <a:t>https://doi.org/10.1016/j.compcom.2024.102826</a:t>
            </a:r>
            <a:br>
              <a:rPr b="0" i="0" lang="en" sz="700" u="none" cap="none" strike="noStrike">
                <a:solidFill>
                  <a:schemeClr val="accent5"/>
                </a:solidFill>
                <a:latin typeface="Arial"/>
                <a:ea typeface="Arial"/>
                <a:cs typeface="Arial"/>
                <a:sym typeface="Arial"/>
              </a:rPr>
            </a:br>
            <a:r>
              <a:rPr b="0" i="0" lang="en" sz="700" u="sng" cap="none" strike="noStrike">
                <a:solidFill>
                  <a:schemeClr val="accent5"/>
                </a:solidFill>
                <a:latin typeface="Arial"/>
                <a:ea typeface="Arial"/>
                <a:cs typeface="Arial"/>
                <a:sym typeface="Arial"/>
                <a:hlinkClick r:id="rId5">
                  <a:extLst>
                    <a:ext uri="{A12FA001-AC4F-418D-AE19-62706E023703}">
                      <ahyp:hlinkClr val="tx"/>
                    </a:ext>
                  </a:extLst>
                </a:hlinkClick>
              </a:rPr>
              <a:t>https://moxielearn.ai/blog/how-to-use-ai-for-academic-writing-a-step-by-step-guide</a:t>
            </a:r>
            <a:r>
              <a:rPr b="0" i="0" lang="en" sz="700" u="none" cap="none" strike="noStrike">
                <a:solidFill>
                  <a:schemeClr val="accent5"/>
                </a:solidFill>
                <a:latin typeface="Arial"/>
                <a:ea typeface="Arial"/>
                <a:cs typeface="Arial"/>
                <a:sym typeface="Arial"/>
              </a:rPr>
              <a:t>; </a:t>
            </a:r>
            <a:br>
              <a:rPr b="0" i="0" lang="en" sz="700" u="none" cap="none" strike="noStrike">
                <a:solidFill>
                  <a:schemeClr val="dk1"/>
                </a:solidFill>
                <a:latin typeface="Arial"/>
                <a:ea typeface="Arial"/>
                <a:cs typeface="Arial"/>
                <a:sym typeface="Arial"/>
              </a:rPr>
            </a:br>
            <a:endParaRPr b="0" i="0" sz="700" u="none" cap="none" strike="noStrike">
              <a:solidFill>
                <a:schemeClr val="dk1"/>
              </a:solidFill>
              <a:latin typeface="Arial"/>
              <a:ea typeface="Arial"/>
              <a:cs typeface="Arial"/>
              <a:sym typeface="Arial"/>
            </a:endParaRPr>
          </a:p>
        </p:txBody>
      </p:sp>
      <p:sp>
        <p:nvSpPr>
          <p:cNvPr id="110" name="Google Shape;110;g38904fd917d_0_17"/>
          <p:cNvSpPr txBox="1"/>
          <p:nvPr/>
        </p:nvSpPr>
        <p:spPr>
          <a:xfrm>
            <a:off x="2426102" y="1507225"/>
            <a:ext cx="19308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Human-in-the-Loop Writing</a:t>
            </a:r>
            <a:endParaRPr b="0" i="0" sz="1400" u="none" cap="none" strike="noStrike">
              <a:solidFill>
                <a:schemeClr val="dk1"/>
              </a:solidFill>
              <a:latin typeface="Arial"/>
              <a:ea typeface="Arial"/>
              <a:cs typeface="Arial"/>
              <a:sym typeface="Arial"/>
            </a:endParaRPr>
          </a:p>
        </p:txBody>
      </p:sp>
      <p:sp>
        <p:nvSpPr>
          <p:cNvPr id="111" name="Google Shape;111;g38904fd917d_0_17"/>
          <p:cNvSpPr txBox="1"/>
          <p:nvPr/>
        </p:nvSpPr>
        <p:spPr>
          <a:xfrm>
            <a:off x="4746175" y="1507238"/>
            <a:ext cx="21045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Machine-in-the-loop Writing</a:t>
            </a:r>
            <a:endParaRPr b="0" i="0" sz="1400" u="none" cap="none" strike="noStrike">
              <a:solidFill>
                <a:schemeClr val="dk1"/>
              </a:solidFill>
              <a:latin typeface="Arial"/>
              <a:ea typeface="Arial"/>
              <a:cs typeface="Arial"/>
              <a:sym typeface="Arial"/>
            </a:endParaRPr>
          </a:p>
        </p:txBody>
      </p:sp>
      <p:sp>
        <p:nvSpPr>
          <p:cNvPr id="112" name="Google Shape;112;g38904fd917d_0_17"/>
          <p:cNvSpPr txBox="1"/>
          <p:nvPr/>
        </p:nvSpPr>
        <p:spPr>
          <a:xfrm>
            <a:off x="6959476" y="1554450"/>
            <a:ext cx="1930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Synthetic Writing</a:t>
            </a:r>
            <a:endParaRPr b="1" i="0" sz="1400" u="none" cap="none" strike="noStrike">
              <a:solidFill>
                <a:schemeClr val="dk1"/>
              </a:solidFill>
              <a:latin typeface="Arial"/>
              <a:ea typeface="Arial"/>
              <a:cs typeface="Arial"/>
              <a:sym typeface="Arial"/>
            </a:endParaRPr>
          </a:p>
        </p:txBody>
      </p:sp>
      <p:sp>
        <p:nvSpPr>
          <p:cNvPr id="113" name="Google Shape;113;g38904fd917d_0_17"/>
          <p:cNvSpPr txBox="1"/>
          <p:nvPr/>
        </p:nvSpPr>
        <p:spPr>
          <a:xfrm>
            <a:off x="3660900" y="3188487"/>
            <a:ext cx="23235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Early drafts</a:t>
            </a:r>
            <a:endParaRPr b="0" i="0" sz="1600" u="none" cap="none" strike="noStrike">
              <a:solidFill>
                <a:schemeClr val="dk1"/>
              </a:solidFill>
              <a:latin typeface="Arial"/>
              <a:ea typeface="Arial"/>
              <a:cs typeface="Arial"/>
              <a:sym typeface="Arial"/>
            </a:endParaRPr>
          </a:p>
        </p:txBody>
      </p:sp>
      <p:sp>
        <p:nvSpPr>
          <p:cNvPr id="114" name="Google Shape;114;g38904fd917d_0_17"/>
          <p:cNvSpPr txBox="1"/>
          <p:nvPr/>
        </p:nvSpPr>
        <p:spPr>
          <a:xfrm>
            <a:off x="3601200" y="3619574"/>
            <a:ext cx="24429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Article summaries</a:t>
            </a:r>
            <a:endParaRPr b="0" i="0" sz="1600" u="none" cap="none" strike="noStrike">
              <a:solidFill>
                <a:schemeClr val="dk1"/>
              </a:solidFill>
              <a:latin typeface="Arial"/>
              <a:ea typeface="Arial"/>
              <a:cs typeface="Arial"/>
              <a:sym typeface="Arial"/>
            </a:endParaRPr>
          </a:p>
        </p:txBody>
      </p:sp>
      <p:sp>
        <p:nvSpPr>
          <p:cNvPr id="115" name="Google Shape;115;g38904fd917d_0_17"/>
          <p:cNvSpPr txBox="1"/>
          <p:nvPr/>
        </p:nvSpPr>
        <p:spPr>
          <a:xfrm>
            <a:off x="4114800" y="2474184"/>
            <a:ext cx="1415700" cy="714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Cultural analysis</a:t>
            </a:r>
            <a:endParaRPr b="0" i="0" sz="1600" u="none" cap="none" strike="noStrike">
              <a:solidFill>
                <a:schemeClr val="dk1"/>
              </a:solidFill>
              <a:latin typeface="Arial"/>
              <a:ea typeface="Arial"/>
              <a:cs typeface="Arial"/>
              <a:sym typeface="Arial"/>
            </a:endParaRPr>
          </a:p>
        </p:txBody>
      </p:sp>
      <p:sp>
        <p:nvSpPr>
          <p:cNvPr id="116" name="Google Shape;116;g38904fd917d_0_17"/>
          <p:cNvSpPr txBox="1"/>
          <p:nvPr/>
        </p:nvSpPr>
        <p:spPr>
          <a:xfrm>
            <a:off x="3322650" y="4050687"/>
            <a:ext cx="30000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Guidance on thesis work</a:t>
            </a:r>
            <a:endParaRPr b="0" i="0" sz="1600" u="none" cap="none" strike="noStrike">
              <a:solidFill>
                <a:srgbClr val="000000"/>
              </a:solidFill>
              <a:latin typeface="Arial"/>
              <a:ea typeface="Arial"/>
              <a:cs typeface="Arial"/>
              <a:sym typeface="Arial"/>
            </a:endParaRPr>
          </a:p>
        </p:txBody>
      </p:sp>
      <p:cxnSp>
        <p:nvCxnSpPr>
          <p:cNvPr id="117" name="Google Shape;117;g38904fd917d_0_17"/>
          <p:cNvCxnSpPr/>
          <p:nvPr/>
        </p:nvCxnSpPr>
        <p:spPr>
          <a:xfrm>
            <a:off x="6044100" y="3540237"/>
            <a:ext cx="589500" cy="900"/>
          </a:xfrm>
          <a:prstGeom prst="straightConnector1">
            <a:avLst/>
          </a:prstGeom>
          <a:noFill/>
          <a:ln cap="flat" cmpd="sng" w="28575">
            <a:solidFill>
              <a:schemeClr val="dk2"/>
            </a:solidFill>
            <a:prstDash val="solid"/>
            <a:round/>
            <a:headEnd len="sm" w="sm" type="none"/>
            <a:tailEnd len="med" w="med" type="triangle"/>
          </a:ln>
        </p:spPr>
      </p:cxnSp>
      <p:cxnSp>
        <p:nvCxnSpPr>
          <p:cNvPr id="118" name="Google Shape;118;g38904fd917d_0_17"/>
          <p:cNvCxnSpPr/>
          <p:nvPr/>
        </p:nvCxnSpPr>
        <p:spPr>
          <a:xfrm flipH="1">
            <a:off x="3011702" y="3540237"/>
            <a:ext cx="589500" cy="9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06351b6c07_0_472"/>
          <p:cNvSpPr txBox="1"/>
          <p:nvPr/>
        </p:nvSpPr>
        <p:spPr>
          <a:xfrm>
            <a:off x="127450" y="134150"/>
            <a:ext cx="58392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 use in the writing process</a:t>
            </a:r>
            <a:endParaRPr b="0" i="0" sz="3200" u="none" cap="none" strike="noStrike">
              <a:solidFill>
                <a:schemeClr val="dk1"/>
              </a:solidFill>
              <a:latin typeface="Oswald"/>
              <a:ea typeface="Oswald"/>
              <a:cs typeface="Oswald"/>
              <a:sym typeface="Oswald"/>
            </a:endParaRPr>
          </a:p>
        </p:txBody>
      </p:sp>
      <p:sp>
        <p:nvSpPr>
          <p:cNvPr id="124" name="Google Shape;124;g306351b6c07_0_472"/>
          <p:cNvSpPr/>
          <p:nvPr/>
        </p:nvSpPr>
        <p:spPr>
          <a:xfrm rot="-5400000">
            <a:off x="4712717" y="-1690465"/>
            <a:ext cx="1494000" cy="6932100"/>
          </a:xfrm>
          <a:prstGeom prst="trapezoid">
            <a:avLst>
              <a:gd fmla="val 32069" name="adj"/>
            </a:avLst>
          </a:prstGeom>
          <a:solidFill>
            <a:srgbClr val="A2CED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125" name="Google Shape;125;g306351b6c07_0_472"/>
          <p:cNvSpPr txBox="1"/>
          <p:nvPr/>
        </p:nvSpPr>
        <p:spPr>
          <a:xfrm>
            <a:off x="4948948" y="872835"/>
            <a:ext cx="141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Increasing AI </a:t>
            </a:r>
            <a:endParaRPr b="1" i="0" sz="1400" u="none" cap="none" strike="noStrike">
              <a:solidFill>
                <a:schemeClr val="lt1"/>
              </a:solidFill>
              <a:latin typeface="Arial"/>
              <a:ea typeface="Arial"/>
              <a:cs typeface="Arial"/>
              <a:sym typeface="Arial"/>
            </a:endParaRPr>
          </a:p>
        </p:txBody>
      </p:sp>
      <p:sp>
        <p:nvSpPr>
          <p:cNvPr id="126" name="Google Shape;126;g306351b6c07_0_472"/>
          <p:cNvSpPr txBox="1"/>
          <p:nvPr/>
        </p:nvSpPr>
        <p:spPr>
          <a:xfrm>
            <a:off x="7041626" y="2971225"/>
            <a:ext cx="18864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9900FF"/>
                </a:solidFill>
                <a:latin typeface="Arial"/>
                <a:ea typeface="Arial"/>
                <a:cs typeface="Arial"/>
                <a:sym typeface="Arial"/>
              </a:rPr>
              <a:t>-  Articles summaries</a:t>
            </a:r>
            <a:endParaRPr b="0" i="0" sz="1200" u="none" cap="none" strike="noStrike">
              <a:solidFill>
                <a:srgbClr val="9900FF"/>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Standardised </a:t>
            </a: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   Analysis reports</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9900FF"/>
                </a:solidFill>
                <a:latin typeface="Arial"/>
                <a:ea typeface="Arial"/>
                <a:cs typeface="Arial"/>
                <a:sym typeface="Arial"/>
              </a:rPr>
              <a:t>-  </a:t>
            </a:r>
            <a:r>
              <a:rPr b="0" i="0" lang="en" sz="1200" u="none" cap="none" strike="noStrike">
                <a:solidFill>
                  <a:schemeClr val="dk1"/>
                </a:solidFill>
                <a:latin typeface="Arial"/>
                <a:ea typeface="Arial"/>
                <a:cs typeface="Arial"/>
                <a:sym typeface="Arial"/>
              </a:rPr>
              <a:t>Formatting citations</a:t>
            </a:r>
            <a:endParaRPr b="0" i="0" sz="1200" u="none" cap="none" strike="noStrike">
              <a:solidFill>
                <a:srgbClr val="9900FF"/>
              </a:solidFill>
              <a:latin typeface="Arial"/>
              <a:ea typeface="Arial"/>
              <a:cs typeface="Arial"/>
              <a:sym typeface="Arial"/>
            </a:endParaRPr>
          </a:p>
        </p:txBody>
      </p:sp>
      <p:sp>
        <p:nvSpPr>
          <p:cNvPr id="127" name="Google Shape;127;g306351b6c07_0_472"/>
          <p:cNvSpPr txBox="1"/>
          <p:nvPr/>
        </p:nvSpPr>
        <p:spPr>
          <a:xfrm>
            <a:off x="4872750" y="2933375"/>
            <a:ext cx="2255100" cy="1126800"/>
          </a:xfrm>
          <a:prstGeom prst="rect">
            <a:avLst/>
          </a:prstGeom>
          <a:noFill/>
          <a:ln>
            <a:noFill/>
          </a:ln>
        </p:spPr>
        <p:txBody>
          <a:bodyPr anchorCtr="0" anchor="t" bIns="45700" lIns="91425" spcFirstLastPara="1" rIns="91425" wrap="square" tIns="45700">
            <a:spAutoFit/>
          </a:bodyPr>
          <a:lstStyle/>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Feedback low-stake assignment</a:t>
            </a:r>
            <a:endParaRPr b="0" i="0" sz="12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rgbClr val="9900FF"/>
              </a:buClr>
              <a:buSzPts val="1200"/>
              <a:buFont typeface="Arial"/>
              <a:buChar char="-"/>
            </a:pPr>
            <a:r>
              <a:rPr b="0" i="0" lang="en" sz="1200" u="none" cap="none" strike="noStrike">
                <a:solidFill>
                  <a:srgbClr val="9900FF"/>
                </a:solidFill>
                <a:latin typeface="Arial"/>
                <a:ea typeface="Arial"/>
                <a:cs typeface="Arial"/>
                <a:sym typeface="Arial"/>
              </a:rPr>
              <a:t>Early drafts</a:t>
            </a:r>
            <a:endParaRPr b="0" i="0" sz="1200" u="none" cap="none" strike="noStrike">
              <a:solidFill>
                <a:srgbClr val="9900FF"/>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Questions for discussions</a:t>
            </a:r>
            <a:endParaRPr b="0" i="0" sz="12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SOPs</a:t>
            </a:r>
            <a:endParaRPr b="0" i="0" sz="1200" u="none" cap="none" strike="noStrike">
              <a:solidFill>
                <a:schemeClr val="dk1"/>
              </a:solidFill>
              <a:latin typeface="Arial"/>
              <a:ea typeface="Arial"/>
              <a:cs typeface="Arial"/>
              <a:sym typeface="Arial"/>
            </a:endParaRPr>
          </a:p>
        </p:txBody>
      </p:sp>
      <p:sp>
        <p:nvSpPr>
          <p:cNvPr id="128" name="Google Shape;128;g306351b6c07_0_472"/>
          <p:cNvSpPr txBox="1"/>
          <p:nvPr/>
        </p:nvSpPr>
        <p:spPr>
          <a:xfrm>
            <a:off x="2448550" y="2971250"/>
            <a:ext cx="2551200" cy="1339200"/>
          </a:xfrm>
          <a:prstGeom prst="rect">
            <a:avLst/>
          </a:prstGeom>
          <a:noFill/>
          <a:ln>
            <a:noFill/>
          </a:ln>
        </p:spPr>
        <p:txBody>
          <a:bodyPr anchorCtr="0" anchor="t" bIns="45700" lIns="91425" spcFirstLastPara="1" rIns="91425" wrap="square" tIns="45700">
            <a:spAutoFit/>
          </a:bodyPr>
          <a:lstStyle/>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Essay feedback </a:t>
            </a:r>
            <a:endParaRPr b="0" i="0" sz="12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Creation of educational</a:t>
            </a: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material</a:t>
            </a:r>
            <a:endParaRPr b="0" i="0" sz="12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Tools language acquisition </a:t>
            </a:r>
            <a:endParaRPr b="0" i="0" sz="12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rgbClr val="9900FF"/>
              </a:buClr>
              <a:buSzPts val="1200"/>
              <a:buFont typeface="Arial"/>
              <a:buChar char="-"/>
            </a:pPr>
            <a:r>
              <a:rPr b="0" i="0" lang="en" sz="1200" u="none" cap="none" strike="noStrike">
                <a:solidFill>
                  <a:srgbClr val="9900FF"/>
                </a:solidFill>
                <a:latin typeface="Arial"/>
                <a:ea typeface="Arial"/>
                <a:cs typeface="Arial"/>
                <a:sym typeface="Arial"/>
              </a:rPr>
              <a:t>Guidance on thesis work</a:t>
            </a:r>
            <a:endParaRPr b="0" i="0" sz="1200" u="none" cap="none" strike="noStrike">
              <a:solidFill>
                <a:srgbClr val="9900FF"/>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Enhanced peer review</a:t>
            </a:r>
            <a:endParaRPr b="0" i="0" sz="1200" u="none" cap="none" strike="noStrike">
              <a:solidFill>
                <a:schemeClr val="dk1"/>
              </a:solidFill>
              <a:latin typeface="Arial"/>
              <a:ea typeface="Arial"/>
              <a:cs typeface="Arial"/>
              <a:sym typeface="Arial"/>
            </a:endParaRPr>
          </a:p>
        </p:txBody>
      </p:sp>
      <p:sp>
        <p:nvSpPr>
          <p:cNvPr id="129" name="Google Shape;129;g306351b6c07_0_472"/>
          <p:cNvSpPr txBox="1"/>
          <p:nvPr/>
        </p:nvSpPr>
        <p:spPr>
          <a:xfrm>
            <a:off x="27425" y="2971225"/>
            <a:ext cx="2398800" cy="1339200"/>
          </a:xfrm>
          <a:prstGeom prst="rect">
            <a:avLst/>
          </a:prstGeom>
          <a:noFill/>
          <a:ln>
            <a:noFill/>
          </a:ln>
        </p:spPr>
        <p:txBody>
          <a:bodyPr anchorCtr="0" anchor="t" bIns="45700" lIns="91425" spcFirstLastPara="1" rIns="91425" wrap="square" tIns="45700">
            <a:spAutoFit/>
          </a:bodyPr>
          <a:lstStyle/>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Individual perspective pieces</a:t>
            </a:r>
            <a:endParaRPr b="0" i="0" sz="12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rgbClr val="9900FF"/>
              </a:buClr>
              <a:buSzPts val="1200"/>
              <a:buFont typeface="Arial"/>
              <a:buChar char="-"/>
            </a:pPr>
            <a:r>
              <a:rPr b="0" i="0" lang="en" sz="1200" u="none" cap="none" strike="noStrike">
                <a:solidFill>
                  <a:srgbClr val="9900FF"/>
                </a:solidFill>
                <a:latin typeface="Arial"/>
                <a:ea typeface="Arial"/>
                <a:cs typeface="Arial"/>
                <a:sym typeface="Arial"/>
              </a:rPr>
              <a:t>Cultural analysis</a:t>
            </a:r>
            <a:endParaRPr b="0" i="0" sz="1200" u="none" cap="none" strike="noStrike">
              <a:solidFill>
                <a:srgbClr val="9900FF"/>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Subject-specific</a:t>
            </a: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evaluation</a:t>
            </a:r>
            <a:endParaRPr b="0" i="0" sz="12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Philosophical discussion</a:t>
            </a:r>
            <a:endParaRPr b="0" i="0" sz="1200" u="none" cap="none" strike="noStrike">
              <a:solidFill>
                <a:schemeClr val="dk1"/>
              </a:solidFill>
              <a:latin typeface="Arial"/>
              <a:ea typeface="Arial"/>
              <a:cs typeface="Arial"/>
              <a:sym typeface="Arial"/>
            </a:endParaRPr>
          </a:p>
        </p:txBody>
      </p:sp>
      <p:sp>
        <p:nvSpPr>
          <p:cNvPr id="130" name="Google Shape;130;g306351b6c07_0_472"/>
          <p:cNvSpPr/>
          <p:nvPr/>
        </p:nvSpPr>
        <p:spPr>
          <a:xfrm>
            <a:off x="446525" y="1521617"/>
            <a:ext cx="1502100" cy="507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Human writing</a:t>
            </a:r>
            <a:endParaRPr b="0" i="0" sz="1400" u="none" cap="none" strike="noStrike">
              <a:solidFill>
                <a:schemeClr val="lt1"/>
              </a:solidFill>
              <a:latin typeface="Arial"/>
              <a:ea typeface="Arial"/>
              <a:cs typeface="Arial"/>
              <a:sym typeface="Arial"/>
            </a:endParaRPr>
          </a:p>
        </p:txBody>
      </p:sp>
      <p:sp>
        <p:nvSpPr>
          <p:cNvPr id="131" name="Google Shape;131;g306351b6c07_0_472"/>
          <p:cNvSpPr txBox="1"/>
          <p:nvPr/>
        </p:nvSpPr>
        <p:spPr>
          <a:xfrm>
            <a:off x="103625" y="4732575"/>
            <a:ext cx="7786500" cy="507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Arial"/>
                <a:ea typeface="Arial"/>
                <a:cs typeface="Arial"/>
                <a:sym typeface="Arial"/>
              </a:rPr>
              <a:t>Adapted from: </a:t>
            </a:r>
            <a:r>
              <a:rPr b="0" i="0" lang="en" sz="600" u="none" cap="none" strike="noStrike">
                <a:solidFill>
                  <a:schemeClr val="dk1"/>
                </a:solidFill>
                <a:latin typeface="Arial"/>
                <a:ea typeface="Arial"/>
                <a:cs typeface="Arial"/>
                <a:sym typeface="Arial"/>
              </a:rPr>
              <a:t>Knowles, A. M. (2024). Machine-in-the-loop writing: Optimizing the rhetorical load.</a:t>
            </a:r>
            <a:r>
              <a:rPr b="0" i="1" lang="en" sz="600" u="none" cap="none" strike="noStrike">
                <a:solidFill>
                  <a:schemeClr val="dk1"/>
                </a:solidFill>
                <a:latin typeface="Arial"/>
                <a:ea typeface="Arial"/>
                <a:cs typeface="Arial"/>
                <a:sym typeface="Arial"/>
              </a:rPr>
              <a:t>Computers and Composition, 71</a:t>
            </a:r>
            <a:r>
              <a:rPr b="0" i="0" lang="en" sz="600" u="none" cap="none" strike="noStrike">
                <a:solidFill>
                  <a:schemeClr val="dk1"/>
                </a:solidFill>
                <a:latin typeface="Arial"/>
                <a:ea typeface="Arial"/>
                <a:cs typeface="Arial"/>
                <a:sym typeface="Arial"/>
              </a:rPr>
              <a:t>, 102826.</a:t>
            </a:r>
            <a:r>
              <a:rPr b="0" i="0" lang="en" sz="600" u="none" cap="none" strike="noStrike">
                <a:solidFill>
                  <a:schemeClr val="dk1"/>
                </a:solidFill>
                <a:uFill>
                  <a:noFill/>
                </a:uFill>
                <a:latin typeface="Arial"/>
                <a:ea typeface="Arial"/>
                <a:cs typeface="Arial"/>
                <a:sym typeface="Arial"/>
                <a:hlinkClick r:id="rId3">
                  <a:extLst>
                    <a:ext uri="{A12FA001-AC4F-418D-AE19-62706E023703}">
                      <ahyp:hlinkClr val="tx"/>
                    </a:ext>
                  </a:extLst>
                </a:hlinkClick>
              </a:rPr>
              <a:t> </a:t>
            </a:r>
            <a:r>
              <a:rPr b="0" i="0" lang="en" sz="600" u="sng" cap="none" strike="noStrike">
                <a:solidFill>
                  <a:schemeClr val="accent5"/>
                </a:solidFill>
                <a:latin typeface="Arial"/>
                <a:ea typeface="Arial"/>
                <a:cs typeface="Arial"/>
                <a:sym typeface="Arial"/>
                <a:hlinkClick r:id="rId4">
                  <a:extLst>
                    <a:ext uri="{A12FA001-AC4F-418D-AE19-62706E023703}">
                      <ahyp:hlinkClr val="tx"/>
                    </a:ext>
                  </a:extLst>
                </a:hlinkClick>
              </a:rPr>
              <a:t>https://doi.org/10.1016/j.compcom.2024.102826</a:t>
            </a:r>
            <a:br>
              <a:rPr b="0" i="0" lang="en" sz="700" u="none" cap="none" strike="noStrike">
                <a:solidFill>
                  <a:schemeClr val="accent5"/>
                </a:solidFill>
                <a:latin typeface="Arial"/>
                <a:ea typeface="Arial"/>
                <a:cs typeface="Arial"/>
                <a:sym typeface="Arial"/>
              </a:rPr>
            </a:br>
            <a:r>
              <a:rPr b="0" i="0" lang="en" sz="700" u="sng" cap="none" strike="noStrike">
                <a:solidFill>
                  <a:schemeClr val="accent5"/>
                </a:solidFill>
                <a:latin typeface="Arial"/>
                <a:ea typeface="Arial"/>
                <a:cs typeface="Arial"/>
                <a:sym typeface="Arial"/>
                <a:hlinkClick r:id="rId5">
                  <a:extLst>
                    <a:ext uri="{A12FA001-AC4F-418D-AE19-62706E023703}">
                      <ahyp:hlinkClr val="tx"/>
                    </a:ext>
                  </a:extLst>
                </a:hlinkClick>
              </a:rPr>
              <a:t>https://moxielearn.ai/blog/how-to-use-ai-for-academic-writing-a-step-by-step-guide</a:t>
            </a:r>
            <a:r>
              <a:rPr b="0" i="0" lang="en" sz="700" u="none" cap="none" strike="noStrike">
                <a:solidFill>
                  <a:schemeClr val="accent5"/>
                </a:solidFill>
                <a:latin typeface="Arial"/>
                <a:ea typeface="Arial"/>
                <a:cs typeface="Arial"/>
                <a:sym typeface="Arial"/>
              </a:rPr>
              <a:t>; </a:t>
            </a:r>
            <a:br>
              <a:rPr b="0" i="0" lang="en" sz="700" u="none" cap="none" strike="noStrike">
                <a:solidFill>
                  <a:schemeClr val="dk1"/>
                </a:solidFill>
                <a:latin typeface="Arial"/>
                <a:ea typeface="Arial"/>
                <a:cs typeface="Arial"/>
                <a:sym typeface="Arial"/>
              </a:rPr>
            </a:br>
            <a:endParaRPr b="0" i="0" sz="700" u="none" cap="none" strike="noStrike">
              <a:solidFill>
                <a:schemeClr val="dk1"/>
              </a:solidFill>
              <a:latin typeface="Arial"/>
              <a:ea typeface="Arial"/>
              <a:cs typeface="Arial"/>
              <a:sym typeface="Arial"/>
            </a:endParaRPr>
          </a:p>
        </p:txBody>
      </p:sp>
      <p:sp>
        <p:nvSpPr>
          <p:cNvPr id="132" name="Google Shape;132;g306351b6c07_0_472"/>
          <p:cNvSpPr txBox="1"/>
          <p:nvPr/>
        </p:nvSpPr>
        <p:spPr>
          <a:xfrm>
            <a:off x="2426102" y="1507225"/>
            <a:ext cx="19308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Human-in-the-Loop Writing</a:t>
            </a:r>
            <a:endParaRPr b="0" i="0" sz="1400" u="none" cap="none" strike="noStrike">
              <a:solidFill>
                <a:schemeClr val="dk1"/>
              </a:solidFill>
              <a:latin typeface="Arial"/>
              <a:ea typeface="Arial"/>
              <a:cs typeface="Arial"/>
              <a:sym typeface="Arial"/>
            </a:endParaRPr>
          </a:p>
        </p:txBody>
      </p:sp>
      <p:sp>
        <p:nvSpPr>
          <p:cNvPr id="133" name="Google Shape;133;g306351b6c07_0_472"/>
          <p:cNvSpPr txBox="1"/>
          <p:nvPr/>
        </p:nvSpPr>
        <p:spPr>
          <a:xfrm>
            <a:off x="4746175" y="1507238"/>
            <a:ext cx="21045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Machine-in-the-loop Writing</a:t>
            </a:r>
            <a:endParaRPr b="0" i="0" sz="1400" u="none" cap="none" strike="noStrike">
              <a:solidFill>
                <a:schemeClr val="dk1"/>
              </a:solidFill>
              <a:latin typeface="Arial"/>
              <a:ea typeface="Arial"/>
              <a:cs typeface="Arial"/>
              <a:sym typeface="Arial"/>
            </a:endParaRPr>
          </a:p>
        </p:txBody>
      </p:sp>
      <p:sp>
        <p:nvSpPr>
          <p:cNvPr id="134" name="Google Shape;134;g306351b6c07_0_472"/>
          <p:cNvSpPr txBox="1"/>
          <p:nvPr/>
        </p:nvSpPr>
        <p:spPr>
          <a:xfrm>
            <a:off x="6959476" y="1554450"/>
            <a:ext cx="1930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Synthetic Writing</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83a4442f4b_0_0"/>
          <p:cNvSpPr txBox="1"/>
          <p:nvPr/>
        </p:nvSpPr>
        <p:spPr>
          <a:xfrm>
            <a:off x="127450" y="134150"/>
            <a:ext cx="5839200" cy="677100"/>
          </a:xfrm>
          <a:prstGeom prst="rect">
            <a:avLst/>
          </a:prstGeom>
          <a:noFill/>
          <a:ln>
            <a:noFill/>
          </a:ln>
          <a:effectLst>
            <a:outerShdw blurRad="57150" rotWithShape="0" algn="bl" dir="5400000" dist="19050">
              <a:srgbClr val="D9D9D9">
                <a:alpha val="49019"/>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Before we write, we …</a:t>
            </a:r>
            <a:endParaRPr b="0" i="0" sz="3200" u="none" cap="none" strike="noStrike">
              <a:solidFill>
                <a:schemeClr val="dk1"/>
              </a:solidFill>
              <a:latin typeface="Oswald"/>
              <a:ea typeface="Oswald"/>
              <a:cs typeface="Oswald"/>
              <a:sym typeface="Oswa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nvSpPr>
        <p:spPr>
          <a:xfrm>
            <a:off x="1275926" y="167075"/>
            <a:ext cx="67323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AI-assisted literature discovery and analysis</a:t>
            </a:r>
            <a:endParaRPr b="0" i="0" sz="3200" u="none" cap="none" strike="noStrike">
              <a:solidFill>
                <a:schemeClr val="dk1"/>
              </a:solidFill>
              <a:latin typeface="Oswald"/>
              <a:ea typeface="Oswald"/>
              <a:cs typeface="Oswald"/>
              <a:sym typeface="Oswald"/>
            </a:endParaRPr>
          </a:p>
        </p:txBody>
      </p:sp>
      <p:pic>
        <p:nvPicPr>
          <p:cNvPr id="145" name="Google Shape;145;p9" title="From-Literature-Search-to-Writing.png"/>
          <p:cNvPicPr preferRelativeResize="0"/>
          <p:nvPr/>
        </p:nvPicPr>
        <p:blipFill rotWithShape="1">
          <a:blip r:embed="rId3">
            <a:alphaModFix/>
          </a:blip>
          <a:srcRect b="54802" l="0" r="0" t="10608"/>
          <a:stretch/>
        </p:blipFill>
        <p:spPr>
          <a:xfrm>
            <a:off x="790475" y="1079100"/>
            <a:ext cx="7217752" cy="35333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nvSpPr>
        <p:spPr>
          <a:xfrm>
            <a:off x="0" y="1964700"/>
            <a:ext cx="9144000" cy="1262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500"/>
              <a:buFont typeface="Arial"/>
              <a:buNone/>
            </a:pPr>
            <a:r>
              <a:rPr b="0" i="0" lang="en" sz="3500" u="none" cap="none" strike="noStrike">
                <a:solidFill>
                  <a:schemeClr val="accent5"/>
                </a:solidFill>
                <a:latin typeface="Oswald"/>
                <a:ea typeface="Oswald"/>
                <a:cs typeface="Oswald"/>
                <a:sym typeface="Oswald"/>
              </a:rPr>
              <a:t>Easy start:</a:t>
            </a:r>
            <a:endParaRPr b="0" i="0" sz="1400" u="none" cap="none" strike="noStrike">
              <a:solidFill>
                <a:schemeClr val="accent5"/>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500"/>
              <a:buFont typeface="Arial"/>
              <a:buNone/>
            </a:pPr>
            <a:r>
              <a:rPr b="0" i="0" lang="en" sz="3500" u="none" cap="none" strike="noStrike">
                <a:solidFill>
                  <a:schemeClr val="accent5"/>
                </a:solidFill>
                <a:latin typeface="Oswald"/>
                <a:ea typeface="Oswald"/>
                <a:cs typeface="Oswald"/>
                <a:sym typeface="Oswald"/>
              </a:rPr>
              <a:t>AI excels for search strategies</a:t>
            </a:r>
            <a:endParaRPr b="0" i="0" sz="3500" u="none" cap="none" strike="noStrike">
              <a:solidFill>
                <a:schemeClr val="accent5"/>
              </a:solidFill>
              <a:latin typeface="Oswald"/>
              <a:ea typeface="Oswald"/>
              <a:cs typeface="Oswald"/>
              <a:sym typeface="Oswa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p:nvPr/>
        </p:nvSpPr>
        <p:spPr>
          <a:xfrm>
            <a:off x="271783" y="2038850"/>
            <a:ext cx="5946300" cy="731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156" name="Google Shape;156;p11"/>
          <p:cNvSpPr/>
          <p:nvPr/>
        </p:nvSpPr>
        <p:spPr>
          <a:xfrm>
            <a:off x="322259" y="2083150"/>
            <a:ext cx="5946300" cy="7317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157" name="Google Shape;157;p11"/>
          <p:cNvSpPr/>
          <p:nvPr/>
        </p:nvSpPr>
        <p:spPr>
          <a:xfrm>
            <a:off x="249901" y="3014275"/>
            <a:ext cx="5946300" cy="731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158" name="Google Shape;158;p11"/>
          <p:cNvSpPr/>
          <p:nvPr/>
        </p:nvSpPr>
        <p:spPr>
          <a:xfrm>
            <a:off x="300377" y="3058575"/>
            <a:ext cx="5946300" cy="7317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159" name="Google Shape;159;p11"/>
          <p:cNvSpPr/>
          <p:nvPr/>
        </p:nvSpPr>
        <p:spPr>
          <a:xfrm>
            <a:off x="249901" y="3945400"/>
            <a:ext cx="5946300" cy="731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160" name="Google Shape;160;p11"/>
          <p:cNvSpPr/>
          <p:nvPr/>
        </p:nvSpPr>
        <p:spPr>
          <a:xfrm>
            <a:off x="300377" y="3989700"/>
            <a:ext cx="5946300" cy="7317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161" name="Google Shape;161;p11"/>
          <p:cNvSpPr txBox="1"/>
          <p:nvPr/>
        </p:nvSpPr>
        <p:spPr>
          <a:xfrm>
            <a:off x="271775" y="0"/>
            <a:ext cx="5996700" cy="7233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500"/>
              <a:buFont typeface="Arial"/>
              <a:buNone/>
            </a:pPr>
            <a:r>
              <a:rPr b="0" i="0" lang="en" sz="3500" u="none" cap="none" strike="noStrike">
                <a:solidFill>
                  <a:schemeClr val="dk1"/>
                </a:solidFill>
                <a:latin typeface="Oswald"/>
                <a:ea typeface="Oswald"/>
                <a:cs typeface="Oswald"/>
                <a:sym typeface="Oswald"/>
              </a:rPr>
              <a:t>LLMs excel at certain questions</a:t>
            </a:r>
            <a:endParaRPr b="0" i="0" sz="3500" u="none" cap="none" strike="noStrike">
              <a:solidFill>
                <a:schemeClr val="dk1"/>
              </a:solidFill>
              <a:latin typeface="Oswald"/>
              <a:ea typeface="Oswald"/>
              <a:cs typeface="Oswald"/>
              <a:sym typeface="Oswald"/>
            </a:endParaRPr>
          </a:p>
        </p:txBody>
      </p:sp>
      <p:sp>
        <p:nvSpPr>
          <p:cNvPr id="162" name="Google Shape;162;p11"/>
          <p:cNvSpPr txBox="1"/>
          <p:nvPr/>
        </p:nvSpPr>
        <p:spPr>
          <a:xfrm>
            <a:off x="2212183" y="1150226"/>
            <a:ext cx="2475300" cy="4617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800"/>
              <a:buFont typeface="Arial"/>
              <a:buNone/>
            </a:pPr>
            <a:r>
              <a:rPr b="0" i="0" lang="en" sz="1800" u="none" cap="none" strike="noStrike">
                <a:solidFill>
                  <a:schemeClr val="accent5"/>
                </a:solidFill>
                <a:latin typeface="Oswald"/>
                <a:ea typeface="Oswald"/>
                <a:cs typeface="Oswald"/>
                <a:sym typeface="Oswald"/>
              </a:rPr>
              <a:t>Unfamiliar concepts</a:t>
            </a:r>
            <a:endParaRPr b="0" i="0" sz="1800" u="none" cap="none" strike="noStrike">
              <a:solidFill>
                <a:schemeClr val="accent5"/>
              </a:solidFill>
              <a:latin typeface="Oswald"/>
              <a:ea typeface="Oswald"/>
              <a:cs typeface="Oswald"/>
              <a:sym typeface="Oswald"/>
            </a:endParaRPr>
          </a:p>
        </p:txBody>
      </p:sp>
      <p:sp>
        <p:nvSpPr>
          <p:cNvPr id="163" name="Google Shape;163;p11"/>
          <p:cNvSpPr txBox="1"/>
          <p:nvPr/>
        </p:nvSpPr>
        <p:spPr>
          <a:xfrm>
            <a:off x="346525" y="2175350"/>
            <a:ext cx="58740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What are the key trends in the development of sustainable </a:t>
            </a:r>
            <a:br>
              <a:rPr b="0" i="0" lang="en" sz="1300" u="none" cap="none" strike="noStrike">
                <a:solidFill>
                  <a:schemeClr val="dk1"/>
                </a:solidFill>
                <a:latin typeface="Arial"/>
                <a:ea typeface="Arial"/>
                <a:cs typeface="Arial"/>
                <a:sym typeface="Arial"/>
              </a:rPr>
            </a:br>
            <a:r>
              <a:rPr b="0" i="0" lang="en" sz="1300" u="none" cap="none" strike="noStrike">
                <a:solidFill>
                  <a:schemeClr val="dk1"/>
                </a:solidFill>
                <a:latin typeface="Arial"/>
                <a:ea typeface="Arial"/>
                <a:cs typeface="Arial"/>
                <a:sym typeface="Arial"/>
              </a:rPr>
              <a:t>flow cytometry devices?</a:t>
            </a:r>
            <a:endParaRPr b="0" i="0" sz="1300" u="none" cap="none" strike="noStrike">
              <a:solidFill>
                <a:schemeClr val="dk1"/>
              </a:solidFill>
              <a:latin typeface="Arial"/>
              <a:ea typeface="Arial"/>
              <a:cs typeface="Arial"/>
              <a:sym typeface="Arial"/>
            </a:endParaRPr>
          </a:p>
        </p:txBody>
      </p:sp>
      <p:sp>
        <p:nvSpPr>
          <p:cNvPr id="164" name="Google Shape;164;p11"/>
          <p:cNvSpPr txBox="1"/>
          <p:nvPr/>
        </p:nvSpPr>
        <p:spPr>
          <a:xfrm>
            <a:off x="322225" y="3148750"/>
            <a:ext cx="58740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As someone new to Digital Education, I believe these tools and methods could be beneficial. Could you provide an overview?</a:t>
            </a:r>
            <a:endParaRPr b="0" i="0" sz="1300" u="none" cap="none" strike="noStrike">
              <a:solidFill>
                <a:schemeClr val="dk1"/>
              </a:solidFill>
              <a:latin typeface="Arial"/>
              <a:ea typeface="Arial"/>
              <a:cs typeface="Arial"/>
              <a:sym typeface="Arial"/>
            </a:endParaRPr>
          </a:p>
        </p:txBody>
      </p:sp>
      <p:sp>
        <p:nvSpPr>
          <p:cNvPr id="165" name="Google Shape;165;p11"/>
          <p:cNvSpPr txBox="1"/>
          <p:nvPr/>
        </p:nvSpPr>
        <p:spPr>
          <a:xfrm>
            <a:off x="322250" y="4075100"/>
            <a:ext cx="58740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Which stakeholders should be engaged in establishing an eco-team at a research-performing organisation? </a:t>
            </a:r>
            <a:endParaRPr b="0" i="0" sz="1300" u="none" cap="none" strike="noStrike">
              <a:solidFill>
                <a:schemeClr val="dk1"/>
              </a:solidFill>
              <a:latin typeface="Arial"/>
              <a:ea typeface="Arial"/>
              <a:cs typeface="Arial"/>
              <a:sym typeface="Arial"/>
            </a:endParaRPr>
          </a:p>
        </p:txBody>
      </p:sp>
      <p:pic>
        <p:nvPicPr>
          <p:cNvPr id="166" name="Google Shape;166;p11"/>
          <p:cNvPicPr preferRelativeResize="0"/>
          <p:nvPr/>
        </p:nvPicPr>
        <p:blipFill rotWithShape="1">
          <a:blip r:embed="rId3">
            <a:alphaModFix/>
          </a:blip>
          <a:srcRect b="0" l="0" r="35346" t="0"/>
          <a:stretch/>
        </p:blipFill>
        <p:spPr>
          <a:xfrm flipH="1">
            <a:off x="6703805" y="652800"/>
            <a:ext cx="2440195" cy="3478975"/>
          </a:xfrm>
          <a:prstGeom prst="rect">
            <a:avLst/>
          </a:prstGeom>
          <a:noFill/>
          <a:ln>
            <a:noFill/>
          </a:ln>
        </p:spPr>
      </p:pic>
      <p:sp>
        <p:nvSpPr>
          <p:cNvPr id="167" name="Google Shape;167;p11"/>
          <p:cNvSpPr txBox="1"/>
          <p:nvPr/>
        </p:nvSpPr>
        <p:spPr>
          <a:xfrm rot="1332015">
            <a:off x="7965059" y="3939546"/>
            <a:ext cx="1408515" cy="2617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rPr b="0" i="0" lang="en" sz="500" u="sng" cap="none" strike="noStrike">
                <a:solidFill>
                  <a:srgbClr val="5F9BB6"/>
                </a:solidFill>
                <a:latin typeface="Arial"/>
                <a:ea typeface="Arial"/>
                <a:cs typeface="Arial"/>
                <a:sym typeface="Arial"/>
                <a:hlinkClick r:id="rId4">
                  <a:extLst>
                    <a:ext uri="{A12FA001-AC4F-418D-AE19-62706E023703}">
                      <ahyp:hlinkClr val="tx"/>
                    </a:ext>
                  </a:extLst>
                </a:hlinkClick>
              </a:rPr>
              <a:t>Illustration </a:t>
            </a:r>
            <a:r>
              <a:rPr b="0" i="0" lang="en" sz="500" u="none" cap="none" strike="noStrike">
                <a:solidFill>
                  <a:srgbClr val="5F9BB6"/>
                </a:solidFill>
                <a:latin typeface="Arial"/>
                <a:ea typeface="Arial"/>
                <a:cs typeface="Arial"/>
                <a:sym typeface="Arial"/>
              </a:rPr>
              <a:t>by </a:t>
            </a:r>
            <a:r>
              <a:rPr b="0" i="0" lang="en" sz="500" u="sng" cap="none" strike="noStrike">
                <a:solidFill>
                  <a:srgbClr val="5F9BB6"/>
                </a:solidFill>
                <a:latin typeface="Arial"/>
                <a:ea typeface="Arial"/>
                <a:cs typeface="Arial"/>
                <a:sym typeface="Arial"/>
                <a:hlinkClick r:id="rId5">
                  <a:extLst>
                    <a:ext uri="{A12FA001-AC4F-418D-AE19-62706E023703}">
                      <ahyp:hlinkClr val="tx"/>
                    </a:ext>
                  </a:extLst>
                </a:hlinkClick>
              </a:rPr>
              <a:t>Harryarts</a:t>
            </a:r>
            <a:r>
              <a:rPr b="0" i="0" lang="en" sz="500" u="none" cap="none" strike="noStrike">
                <a:solidFill>
                  <a:srgbClr val="5F9BB6"/>
                </a:solidFill>
                <a:latin typeface="Arial"/>
                <a:ea typeface="Arial"/>
                <a:cs typeface="Arial"/>
                <a:sym typeface="Arial"/>
              </a:rPr>
              <a:t>, at Freepik.com</a:t>
            </a:r>
            <a:endParaRPr b="0" i="0" sz="500" u="none" cap="none" strike="noStrike">
              <a:solidFill>
                <a:srgbClr val="5F9BB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nvSpPr>
        <p:spPr>
          <a:xfrm>
            <a:off x="0" y="0"/>
            <a:ext cx="9144000" cy="7233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500"/>
              <a:buFont typeface="Arial"/>
              <a:buNone/>
            </a:pPr>
            <a:r>
              <a:rPr b="0" i="0" lang="en" sz="3500" u="none" cap="none" strike="noStrike">
                <a:solidFill>
                  <a:schemeClr val="dk1"/>
                </a:solidFill>
                <a:latin typeface="Oswald"/>
                <a:ea typeface="Oswald"/>
                <a:cs typeface="Oswald"/>
                <a:sym typeface="Oswald"/>
              </a:rPr>
              <a:t>LLMs excel at certain questions</a:t>
            </a:r>
            <a:endParaRPr b="0" i="0" sz="3500" u="none" cap="none" strike="noStrike">
              <a:solidFill>
                <a:schemeClr val="dk1"/>
              </a:solidFill>
              <a:latin typeface="Oswald"/>
              <a:ea typeface="Oswald"/>
              <a:cs typeface="Oswald"/>
              <a:sym typeface="Oswald"/>
            </a:endParaRPr>
          </a:p>
        </p:txBody>
      </p:sp>
      <p:sp>
        <p:nvSpPr>
          <p:cNvPr id="173" name="Google Shape;173;p12"/>
          <p:cNvSpPr txBox="1"/>
          <p:nvPr/>
        </p:nvSpPr>
        <p:spPr>
          <a:xfrm>
            <a:off x="125" y="852825"/>
            <a:ext cx="9144000" cy="4617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0" i="0" lang="en" sz="1800" u="none" cap="none" strike="noStrike">
                <a:solidFill>
                  <a:schemeClr val="accent5"/>
                </a:solidFill>
                <a:latin typeface="Oswald"/>
                <a:ea typeface="Oswald"/>
                <a:cs typeface="Oswald"/>
                <a:sym typeface="Oswald"/>
              </a:rPr>
              <a:t>GENERATE KEYWORDS  |  SEARCH STRING SUGGESTIONS |  TOPIC SCOPING </a:t>
            </a:r>
            <a:endParaRPr b="0" i="0" sz="1800" u="none" cap="none" strike="noStrike">
              <a:solidFill>
                <a:schemeClr val="accent5"/>
              </a:solidFill>
              <a:latin typeface="Oswald"/>
              <a:ea typeface="Oswald"/>
              <a:cs typeface="Oswald"/>
              <a:sym typeface="Oswald"/>
            </a:endParaRPr>
          </a:p>
        </p:txBody>
      </p:sp>
      <p:sp>
        <p:nvSpPr>
          <p:cNvPr id="174" name="Google Shape;174;p12"/>
          <p:cNvSpPr txBox="1"/>
          <p:nvPr/>
        </p:nvSpPr>
        <p:spPr>
          <a:xfrm>
            <a:off x="1264825" y="2006900"/>
            <a:ext cx="6351300" cy="695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As a </a:t>
            </a:r>
            <a:r>
              <a:rPr b="0" i="1" lang="en" sz="1400" u="none" cap="none" strike="noStrike">
                <a:solidFill>
                  <a:schemeClr val="dk1"/>
                </a:solidFill>
                <a:latin typeface="Arial"/>
                <a:ea typeface="Arial"/>
                <a:cs typeface="Arial"/>
                <a:sym typeface="Arial"/>
              </a:rPr>
              <a:t>sociologist</a:t>
            </a:r>
            <a:r>
              <a:rPr b="0" i="0" lang="en" sz="1400" u="none" cap="none" strike="noStrike">
                <a:solidFill>
                  <a:schemeClr val="dk1"/>
                </a:solidFill>
                <a:latin typeface="Arial"/>
                <a:ea typeface="Arial"/>
                <a:cs typeface="Arial"/>
                <a:sym typeface="Arial"/>
              </a:rPr>
              <a:t> researching </a:t>
            </a:r>
            <a:r>
              <a:rPr b="0" i="1" lang="en" sz="1400" u="none" cap="none" strike="noStrike">
                <a:solidFill>
                  <a:schemeClr val="dk1"/>
                </a:solidFill>
                <a:latin typeface="Arial"/>
                <a:ea typeface="Arial"/>
                <a:cs typeface="Arial"/>
                <a:sym typeface="Arial"/>
              </a:rPr>
              <a:t>collaboration among scientists in biology labs</a:t>
            </a:r>
            <a:r>
              <a:rPr b="0" i="0" lang="en" sz="1400" u="none" cap="none" strike="noStrike">
                <a:solidFill>
                  <a:schemeClr val="dk1"/>
                </a:solidFill>
                <a:latin typeface="Arial"/>
                <a:ea typeface="Arial"/>
                <a:cs typeface="Arial"/>
                <a:sym typeface="Arial"/>
              </a:rPr>
              <a:t>, </a:t>
            </a:r>
            <a:r>
              <a:rPr b="1" i="0" lang="en" sz="1400" u="none" cap="none" strike="noStrike">
                <a:solidFill>
                  <a:schemeClr val="dk1"/>
                </a:solidFill>
              </a:rPr>
              <a:t>provide me with 10 keywords for an academic literature search</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175" name="Google Shape;175;p12"/>
          <p:cNvSpPr txBox="1"/>
          <p:nvPr/>
        </p:nvSpPr>
        <p:spPr>
          <a:xfrm>
            <a:off x="1264826" y="3333601"/>
            <a:ext cx="6351300" cy="5958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rPr>
              <a:t>What search string could I use in PubMed or a library database</a:t>
            </a:r>
            <a:r>
              <a:rPr b="0" i="0" lang="en" sz="1400" u="none" cap="none" strike="noStrike">
                <a:solidFill>
                  <a:schemeClr val="dk1"/>
                </a:solidFill>
                <a:latin typeface="Arial"/>
                <a:ea typeface="Arial"/>
                <a:cs typeface="Arial"/>
                <a:sym typeface="Arial"/>
              </a:rPr>
              <a:t> to find relevant literature?</a:t>
            </a:r>
            <a:r>
              <a:rPr b="0" i="0" lang="en" sz="1400" u="none" cap="none" strike="noStrike">
                <a:solidFill>
                  <a:schemeClr val="dk1"/>
                </a:solidFill>
                <a:latin typeface="Arial"/>
                <a:ea typeface="Arial"/>
                <a:cs typeface="Arial"/>
                <a:sym typeface="Arial"/>
              </a:rPr>
              <a:t> Give an example for each of the options.</a:t>
            </a:r>
            <a:endParaRPr b="0" i="0" sz="1400" u="none" cap="none" strike="noStrike">
              <a:solidFill>
                <a:schemeClr val="dk1"/>
              </a:solidFill>
              <a:latin typeface="Arial"/>
              <a:ea typeface="Arial"/>
              <a:cs typeface="Arial"/>
              <a:sym typeface="Arial"/>
            </a:endParaRPr>
          </a:p>
        </p:txBody>
      </p:sp>
      <p:sp>
        <p:nvSpPr>
          <p:cNvPr id="176" name="Google Shape;176;p12"/>
          <p:cNvSpPr txBox="1"/>
          <p:nvPr/>
        </p:nvSpPr>
        <p:spPr>
          <a:xfrm>
            <a:off x="1264825" y="4141147"/>
            <a:ext cx="6351300" cy="5958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rPr>
              <a:t>Identify 5 specific topics in this area for further exploration</a:t>
            </a:r>
            <a:r>
              <a:rPr b="0" i="0" lang="en" sz="1400" u="none" cap="none" strike="noStrike">
                <a:solidFill>
                  <a:schemeClr val="dk1"/>
                </a:solidFill>
                <a:latin typeface="Arial"/>
                <a:ea typeface="Arial"/>
                <a:cs typeface="Arial"/>
                <a:sym typeface="Arial"/>
              </a:rPr>
              <a:t>.</a:t>
            </a:r>
            <a:br>
              <a:rPr b="0" i="0" lang="en" sz="1400" u="none" cap="none" strike="noStrike">
                <a:solidFill>
                  <a:schemeClr val="dk1"/>
                </a:solidFill>
                <a:latin typeface="Arial"/>
                <a:ea typeface="Arial"/>
                <a:cs typeface="Arial"/>
                <a:sym typeface="Arial"/>
              </a:rPr>
            </a:br>
            <a:r>
              <a:rPr b="0" i="0" lang="en" sz="1400" u="none" cap="none" strike="noStrike">
                <a:solidFill>
                  <a:schemeClr val="dk1"/>
                </a:solidFill>
                <a:latin typeface="Arial"/>
                <a:ea typeface="Arial"/>
                <a:cs typeface="Arial"/>
                <a:sym typeface="Arial"/>
              </a:rPr>
              <a:t>Create an additional search string for PubMed. </a:t>
            </a:r>
            <a:endParaRPr b="0" i="0" sz="1400" u="none" cap="none" strike="noStrike">
              <a:solidFill>
                <a:schemeClr val="dk1"/>
              </a:solidFill>
              <a:latin typeface="Arial"/>
              <a:ea typeface="Arial"/>
              <a:cs typeface="Arial"/>
              <a:sym typeface="Arial"/>
            </a:endParaRPr>
          </a:p>
        </p:txBody>
      </p:sp>
      <p:sp>
        <p:nvSpPr>
          <p:cNvPr id="177" name="Google Shape;177;p12"/>
          <p:cNvSpPr txBox="1"/>
          <p:nvPr/>
        </p:nvSpPr>
        <p:spPr>
          <a:xfrm>
            <a:off x="388103" y="1533822"/>
            <a:ext cx="2679900" cy="4617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Courier New"/>
                <a:ea typeface="Courier New"/>
                <a:cs typeface="Courier New"/>
                <a:sym typeface="Courier New"/>
              </a:rPr>
              <a:t>Possible prompt</a:t>
            </a:r>
            <a:endParaRPr b="0" i="0" sz="1800" u="none" cap="none" strike="noStrike">
              <a:solidFill>
                <a:schemeClr val="dk1"/>
              </a:solidFill>
              <a:latin typeface="Courier New"/>
              <a:ea typeface="Courier New"/>
              <a:cs typeface="Courier New"/>
              <a:sym typeface="Courier New"/>
            </a:endParaRPr>
          </a:p>
        </p:txBody>
      </p:sp>
      <p:sp>
        <p:nvSpPr>
          <p:cNvPr id="178" name="Google Shape;178;p12"/>
          <p:cNvSpPr txBox="1"/>
          <p:nvPr/>
        </p:nvSpPr>
        <p:spPr>
          <a:xfrm>
            <a:off x="388103" y="2745375"/>
            <a:ext cx="2679900" cy="4617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Courier New"/>
                <a:ea typeface="Courier New"/>
                <a:cs typeface="Courier New"/>
                <a:sym typeface="Courier New"/>
              </a:rPr>
              <a:t>Follow-up prompts</a:t>
            </a:r>
            <a:endParaRPr b="0" i="0" sz="1800" u="none" cap="none" strike="noStrike">
              <a:solidFill>
                <a:schemeClr val="dk1"/>
              </a:solidFill>
              <a:latin typeface="Courier New"/>
              <a:ea typeface="Courier New"/>
              <a:cs typeface="Courier New"/>
              <a:sym typeface="Courier New"/>
            </a:endParaRPr>
          </a:p>
        </p:txBody>
      </p:sp>
      <p:cxnSp>
        <p:nvCxnSpPr>
          <p:cNvPr id="179" name="Google Shape;179;p12"/>
          <p:cNvCxnSpPr/>
          <p:nvPr/>
        </p:nvCxnSpPr>
        <p:spPr>
          <a:xfrm flipH="1" rot="-5400000">
            <a:off x="544472" y="3514276"/>
            <a:ext cx="925200" cy="515700"/>
          </a:xfrm>
          <a:prstGeom prst="bentConnector2">
            <a:avLst/>
          </a:prstGeom>
          <a:noFill/>
          <a:ln cap="flat" cmpd="sng" w="9525">
            <a:solidFill>
              <a:srgbClr val="EF8600"/>
            </a:solidFill>
            <a:prstDash val="solid"/>
            <a:round/>
            <a:headEnd len="sm" w="sm" type="none"/>
            <a:tailEnd len="med" w="med" type="triangle"/>
          </a:ln>
        </p:spPr>
      </p:cxnSp>
      <p:cxnSp>
        <p:nvCxnSpPr>
          <p:cNvPr id="180" name="Google Shape;180;p12"/>
          <p:cNvCxnSpPr>
            <a:endCxn id="175" idx="1"/>
          </p:cNvCxnSpPr>
          <p:nvPr/>
        </p:nvCxnSpPr>
        <p:spPr>
          <a:xfrm>
            <a:off x="749126" y="3631501"/>
            <a:ext cx="515700" cy="0"/>
          </a:xfrm>
          <a:prstGeom prst="straightConnector1">
            <a:avLst/>
          </a:prstGeom>
          <a:noFill/>
          <a:ln cap="flat" cmpd="sng" w="9525">
            <a:solidFill>
              <a:srgbClr val="EF8600"/>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7f2a62ed5a_0_0"/>
          <p:cNvSpPr txBox="1"/>
          <p:nvPr/>
        </p:nvSpPr>
        <p:spPr>
          <a:xfrm>
            <a:off x="0" y="0"/>
            <a:ext cx="9144000" cy="7233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500"/>
              <a:buFont typeface="Arial"/>
              <a:buNone/>
            </a:pPr>
            <a:r>
              <a:rPr b="0" i="0" lang="en" sz="3500" u="none" cap="none" strike="noStrike">
                <a:solidFill>
                  <a:schemeClr val="dk1"/>
                </a:solidFill>
                <a:latin typeface="Oswald"/>
                <a:ea typeface="Oswald"/>
                <a:cs typeface="Oswald"/>
                <a:sym typeface="Oswald"/>
              </a:rPr>
              <a:t>Activity</a:t>
            </a:r>
            <a:endParaRPr b="0" i="0" sz="3500" u="none" cap="none" strike="noStrike">
              <a:solidFill>
                <a:schemeClr val="dk1"/>
              </a:solidFill>
              <a:latin typeface="Oswald"/>
              <a:ea typeface="Oswald"/>
              <a:cs typeface="Oswald"/>
              <a:sym typeface="Oswald"/>
            </a:endParaRPr>
          </a:p>
        </p:txBody>
      </p:sp>
      <p:sp>
        <p:nvSpPr>
          <p:cNvPr id="186" name="Google Shape;186;g37f2a62ed5a_0_0"/>
          <p:cNvSpPr txBox="1"/>
          <p:nvPr/>
        </p:nvSpPr>
        <p:spPr>
          <a:xfrm>
            <a:off x="0" y="852825"/>
            <a:ext cx="9144000" cy="4617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Oswald"/>
                <a:ea typeface="Oswald"/>
                <a:cs typeface="Oswald"/>
                <a:sym typeface="Oswald"/>
              </a:rPr>
              <a:t>GENERATE KEYWORDS  |  SEARCH STRING SUGGESTIONS |  USE TOOL | TOPIC SCOPING </a:t>
            </a:r>
            <a:endParaRPr b="0" i="0" sz="1800" u="none" cap="none" strike="noStrike">
              <a:solidFill>
                <a:schemeClr val="dk1"/>
              </a:solidFill>
              <a:latin typeface="Oswald"/>
              <a:ea typeface="Oswald"/>
              <a:cs typeface="Oswald"/>
              <a:sym typeface="Oswald"/>
            </a:endParaRPr>
          </a:p>
        </p:txBody>
      </p:sp>
      <p:sp>
        <p:nvSpPr>
          <p:cNvPr id="187" name="Google Shape;187;g37f2a62ed5a_0_0"/>
          <p:cNvSpPr txBox="1"/>
          <p:nvPr/>
        </p:nvSpPr>
        <p:spPr>
          <a:xfrm>
            <a:off x="630600" y="1982950"/>
            <a:ext cx="76962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("scientific collaboration" </a:t>
            </a:r>
            <a:r>
              <a:rPr b="0" i="0" lang="en" sz="1400" u="none" cap="none" strike="noStrike">
                <a:solidFill>
                  <a:srgbClr val="EF8600"/>
                </a:solidFill>
                <a:latin typeface="Arial"/>
                <a:ea typeface="Arial"/>
                <a:cs typeface="Arial"/>
                <a:sym typeface="Arial"/>
              </a:rPr>
              <a:t>OR</a:t>
            </a:r>
            <a:r>
              <a:rPr b="0" i="0" lang="en" sz="1400" u="none" cap="none" strike="noStrike">
                <a:solidFill>
                  <a:srgbClr val="000000"/>
                </a:solidFill>
                <a:latin typeface="Arial"/>
                <a:ea typeface="Arial"/>
                <a:cs typeface="Arial"/>
                <a:sym typeface="Arial"/>
              </a:rPr>
              <a:t> "research teamwork" </a:t>
            </a:r>
            <a:r>
              <a:rPr b="0" i="0" lang="en" sz="1400" u="none" cap="none" strike="noStrike">
                <a:solidFill>
                  <a:srgbClr val="EF8600"/>
                </a:solidFill>
                <a:latin typeface="Arial"/>
                <a:ea typeface="Arial"/>
                <a:cs typeface="Arial"/>
                <a:sym typeface="Arial"/>
              </a:rPr>
              <a:t>OR</a:t>
            </a:r>
            <a:r>
              <a:rPr b="0" i="0" lang="en" sz="1400" u="none" cap="none" strike="noStrike">
                <a:solidFill>
                  <a:srgbClr val="000000"/>
                </a:solidFill>
                <a:latin typeface="Arial"/>
                <a:ea typeface="Arial"/>
                <a:cs typeface="Arial"/>
                <a:sym typeface="Arial"/>
              </a:rPr>
              <a:t> "lab dynamics" </a:t>
            </a:r>
            <a:r>
              <a:rPr b="0" i="0" lang="en" sz="1400" u="none" cap="none" strike="noStrike">
                <a:solidFill>
                  <a:srgbClr val="EF8600"/>
                </a:solidFill>
                <a:latin typeface="Arial"/>
                <a:ea typeface="Arial"/>
                <a:cs typeface="Arial"/>
                <a:sym typeface="Arial"/>
              </a:rPr>
              <a:t>OR</a:t>
            </a:r>
            <a:r>
              <a:rPr b="0" i="0" lang="en" sz="1400" u="none" cap="none" strike="noStrike">
                <a:solidFill>
                  <a:srgbClr val="000000"/>
                </a:solidFill>
                <a:latin typeface="Arial"/>
                <a:ea typeface="Arial"/>
                <a:cs typeface="Arial"/>
                <a:sym typeface="Arial"/>
              </a:rPr>
              <a:t> "interdisciplinary science") </a:t>
            </a:r>
            <a:r>
              <a:rPr b="0" i="0" lang="en" sz="1400" u="none" cap="none" strike="noStrike">
                <a:solidFill>
                  <a:srgbClr val="5F9BB6"/>
                </a:solidFill>
                <a:latin typeface="Arial"/>
                <a:ea typeface="Arial"/>
                <a:cs typeface="Arial"/>
                <a:sym typeface="Arial"/>
              </a:rPr>
              <a:t>AND</a:t>
            </a:r>
            <a:r>
              <a:rPr b="0" i="0" lang="en" sz="1400" u="none" cap="none" strike="noStrike">
                <a:solidFill>
                  <a:srgbClr val="000000"/>
                </a:solidFill>
                <a:latin typeface="Arial"/>
                <a:ea typeface="Arial"/>
                <a:cs typeface="Arial"/>
                <a:sym typeface="Arial"/>
              </a:rPr>
              <a:t> ("biology labs" </a:t>
            </a:r>
            <a:r>
              <a:rPr b="0" i="0" lang="en" sz="1400" u="none" cap="none" strike="noStrike">
                <a:solidFill>
                  <a:srgbClr val="EF8600"/>
                </a:solidFill>
                <a:latin typeface="Arial"/>
                <a:ea typeface="Arial"/>
                <a:cs typeface="Arial"/>
                <a:sym typeface="Arial"/>
              </a:rPr>
              <a:t>OR</a:t>
            </a:r>
            <a:r>
              <a:rPr b="0" i="0" lang="en" sz="1400" u="none" cap="none" strike="noStrike">
                <a:solidFill>
                  <a:srgbClr val="000000"/>
                </a:solidFill>
                <a:latin typeface="Arial"/>
                <a:ea typeface="Arial"/>
                <a:cs typeface="Arial"/>
                <a:sym typeface="Arial"/>
              </a:rPr>
              <a:t> "life sciences") </a:t>
            </a:r>
            <a:r>
              <a:rPr b="0" i="0" lang="en" sz="1400" u="none" cap="none" strike="noStrike">
                <a:solidFill>
                  <a:srgbClr val="5F9BB6"/>
                </a:solidFill>
                <a:latin typeface="Arial"/>
                <a:ea typeface="Arial"/>
                <a:cs typeface="Arial"/>
                <a:sym typeface="Arial"/>
              </a:rPr>
              <a:t>AND</a:t>
            </a:r>
            <a:r>
              <a:rPr b="0" i="0" lang="en" sz="1400" u="none" cap="none" strike="noStrike">
                <a:solidFill>
                  <a:srgbClr val="000000"/>
                </a:solidFill>
                <a:latin typeface="Arial"/>
                <a:ea typeface="Arial"/>
                <a:cs typeface="Arial"/>
                <a:sym typeface="Arial"/>
              </a:rPr>
              <a:t> ("sociology of science" </a:t>
            </a:r>
            <a:r>
              <a:rPr b="0" i="0" lang="en" sz="1400" u="none" cap="none" strike="noStrike">
                <a:solidFill>
                  <a:srgbClr val="EF8600"/>
                </a:solidFill>
                <a:latin typeface="Arial"/>
                <a:ea typeface="Arial"/>
                <a:cs typeface="Arial"/>
                <a:sym typeface="Arial"/>
              </a:rPr>
              <a:t>OR</a:t>
            </a:r>
            <a:r>
              <a:rPr b="0" i="0" lang="en" sz="1400" u="none" cap="none" strike="noStrike">
                <a:solidFill>
                  <a:srgbClr val="000000"/>
                </a:solidFill>
                <a:latin typeface="Arial"/>
                <a:ea typeface="Arial"/>
                <a:cs typeface="Arial"/>
                <a:sym typeface="Arial"/>
              </a:rPr>
              <a:t> "ethnography" </a:t>
            </a:r>
            <a:r>
              <a:rPr b="0" i="0" lang="en" sz="1400" u="none" cap="none" strike="noStrike">
                <a:solidFill>
                  <a:srgbClr val="EF8600"/>
                </a:solidFill>
                <a:latin typeface="Arial"/>
                <a:ea typeface="Arial"/>
                <a:cs typeface="Arial"/>
                <a:sym typeface="Arial"/>
              </a:rPr>
              <a:t>OR</a:t>
            </a:r>
            <a:r>
              <a:rPr b="0" i="0" lang="en" sz="1400" u="none" cap="none" strike="noStrike">
                <a:solidFill>
                  <a:srgbClr val="000000"/>
                </a:solidFill>
                <a:latin typeface="Arial"/>
                <a:ea typeface="Arial"/>
                <a:cs typeface="Arial"/>
                <a:sym typeface="Arial"/>
              </a:rPr>
              <a:t> "social networks" </a:t>
            </a:r>
            <a:r>
              <a:rPr b="0" i="0" lang="en" sz="1400" u="none" cap="none" strike="noStrike">
                <a:solidFill>
                  <a:srgbClr val="EF8600"/>
                </a:solidFill>
                <a:latin typeface="Arial"/>
                <a:ea typeface="Arial"/>
                <a:cs typeface="Arial"/>
                <a:sym typeface="Arial"/>
              </a:rPr>
              <a:t>OR </a:t>
            </a:r>
            <a:r>
              <a:rPr b="0" i="0" lang="en" sz="1400" u="none" cap="none" strike="noStrike">
                <a:solidFill>
                  <a:srgbClr val="000000"/>
                </a:solidFill>
                <a:latin typeface="Arial"/>
                <a:ea typeface="Arial"/>
                <a:cs typeface="Arial"/>
                <a:sym typeface="Arial"/>
              </a:rPr>
              <a:t>"knowledge sharing" </a:t>
            </a:r>
            <a:r>
              <a:rPr b="0" i="0" lang="en" sz="1400" u="none" cap="none" strike="noStrike">
                <a:solidFill>
                  <a:srgbClr val="EF8600"/>
                </a:solidFill>
                <a:latin typeface="Arial"/>
                <a:ea typeface="Arial"/>
                <a:cs typeface="Arial"/>
                <a:sym typeface="Arial"/>
              </a:rPr>
              <a:t>OR</a:t>
            </a:r>
            <a:r>
              <a:rPr b="0" i="0" lang="en" sz="1400" u="none" cap="none" strike="noStrike">
                <a:solidFill>
                  <a:srgbClr val="000000"/>
                </a:solidFill>
                <a:latin typeface="Arial"/>
                <a:ea typeface="Arial"/>
                <a:cs typeface="Arial"/>
                <a:sym typeface="Arial"/>
              </a:rPr>
              <a:t> "power relations")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g3ce178917ef_0_16"/>
          <p:cNvSpPr txBox="1"/>
          <p:nvPr/>
        </p:nvSpPr>
        <p:spPr>
          <a:xfrm>
            <a:off x="0" y="0"/>
            <a:ext cx="9144000" cy="7233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500"/>
              <a:buFont typeface="Arial"/>
              <a:buNone/>
            </a:pPr>
            <a:r>
              <a:rPr b="0" i="0" lang="en" sz="3500" u="none" cap="none" strike="noStrike">
                <a:solidFill>
                  <a:schemeClr val="dk1"/>
                </a:solidFill>
                <a:latin typeface="Oswald"/>
                <a:ea typeface="Oswald"/>
                <a:cs typeface="Oswald"/>
                <a:sym typeface="Oswald"/>
              </a:rPr>
              <a:t>LLMs excel at certain questions</a:t>
            </a:r>
            <a:endParaRPr b="0" i="0" sz="3500" u="none" cap="none" strike="noStrike">
              <a:solidFill>
                <a:schemeClr val="dk1"/>
              </a:solidFill>
              <a:latin typeface="Oswald"/>
              <a:ea typeface="Oswald"/>
              <a:cs typeface="Oswald"/>
              <a:sym typeface="Oswald"/>
            </a:endParaRPr>
          </a:p>
        </p:txBody>
      </p:sp>
      <p:sp>
        <p:nvSpPr>
          <p:cNvPr id="193" name="Google Shape;193;g3ce178917ef_0_16"/>
          <p:cNvSpPr txBox="1"/>
          <p:nvPr/>
        </p:nvSpPr>
        <p:spPr>
          <a:xfrm>
            <a:off x="125" y="852825"/>
            <a:ext cx="9144000" cy="4617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0" i="0" lang="en" sz="1800" u="none" cap="none" strike="noStrike">
                <a:solidFill>
                  <a:schemeClr val="accent5"/>
                </a:solidFill>
                <a:latin typeface="Oswald"/>
                <a:ea typeface="Oswald"/>
                <a:cs typeface="Oswald"/>
                <a:sym typeface="Oswald"/>
              </a:rPr>
              <a:t>GENERATE KEYWORDS  |  SEARCH STRING SUGGESTIONS |  TOPIC SCOPING </a:t>
            </a:r>
            <a:endParaRPr b="0" i="0" sz="1800" u="none" cap="none" strike="noStrike">
              <a:solidFill>
                <a:schemeClr val="accent5"/>
              </a:solidFill>
              <a:latin typeface="Oswald"/>
              <a:ea typeface="Oswald"/>
              <a:cs typeface="Oswald"/>
              <a:sym typeface="Oswald"/>
            </a:endParaRPr>
          </a:p>
        </p:txBody>
      </p:sp>
      <p:sp>
        <p:nvSpPr>
          <p:cNvPr id="194" name="Google Shape;194;g3ce178917ef_0_16"/>
          <p:cNvSpPr txBox="1"/>
          <p:nvPr/>
        </p:nvSpPr>
        <p:spPr>
          <a:xfrm>
            <a:off x="1264825" y="2006900"/>
            <a:ext cx="6351300" cy="695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As a sociologist researching collaboration among scientists in biology labs, provide me with 10 keywords for an academic literature search.</a:t>
            </a:r>
            <a:endParaRPr b="0" i="0" sz="1400" u="none" cap="none" strike="noStrike">
              <a:solidFill>
                <a:schemeClr val="dk1"/>
              </a:solidFill>
              <a:latin typeface="Arial"/>
              <a:ea typeface="Arial"/>
              <a:cs typeface="Arial"/>
              <a:sym typeface="Arial"/>
            </a:endParaRPr>
          </a:p>
        </p:txBody>
      </p:sp>
      <p:sp>
        <p:nvSpPr>
          <p:cNvPr id="195" name="Google Shape;195;g3ce178917ef_0_16"/>
          <p:cNvSpPr txBox="1"/>
          <p:nvPr/>
        </p:nvSpPr>
        <p:spPr>
          <a:xfrm>
            <a:off x="1264826" y="3333601"/>
            <a:ext cx="6351300" cy="5958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What search string could I use in </a:t>
            </a:r>
            <a:r>
              <a:rPr b="1" i="0" lang="en" sz="1400" u="none" cap="none" strike="noStrike">
                <a:solidFill>
                  <a:schemeClr val="dk1"/>
                </a:solidFill>
                <a:latin typeface="Arial"/>
                <a:ea typeface="Arial"/>
                <a:cs typeface="Arial"/>
                <a:sym typeface="Arial"/>
              </a:rPr>
              <a:t>Google Scholar</a:t>
            </a:r>
            <a:r>
              <a:rPr b="0" i="0" lang="en" sz="1400" u="none" cap="none" strike="noStrike">
                <a:solidFill>
                  <a:schemeClr val="dk1"/>
                </a:solidFill>
                <a:latin typeface="Arial"/>
                <a:ea typeface="Arial"/>
                <a:cs typeface="Arial"/>
                <a:sym typeface="Arial"/>
              </a:rPr>
              <a:t> to find relevant literature? Give an example for each of the options.</a:t>
            </a:r>
            <a:endParaRPr b="0" i="0" sz="1400" u="none" cap="none" strike="noStrike">
              <a:solidFill>
                <a:schemeClr val="dk1"/>
              </a:solidFill>
              <a:latin typeface="Arial"/>
              <a:ea typeface="Arial"/>
              <a:cs typeface="Arial"/>
              <a:sym typeface="Arial"/>
            </a:endParaRPr>
          </a:p>
        </p:txBody>
      </p:sp>
      <p:sp>
        <p:nvSpPr>
          <p:cNvPr id="196" name="Google Shape;196;g3ce178917ef_0_16"/>
          <p:cNvSpPr txBox="1"/>
          <p:nvPr/>
        </p:nvSpPr>
        <p:spPr>
          <a:xfrm>
            <a:off x="1264825" y="4141147"/>
            <a:ext cx="6351300" cy="5958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Identify 5 specific topics in this area for further exploration.</a:t>
            </a:r>
            <a:endParaRPr b="0" i="0" sz="1400" u="none" cap="none" strike="noStrike">
              <a:solidFill>
                <a:schemeClr val="dk1"/>
              </a:solidFill>
              <a:latin typeface="Arial"/>
              <a:ea typeface="Arial"/>
              <a:cs typeface="Arial"/>
              <a:sym typeface="Arial"/>
            </a:endParaRPr>
          </a:p>
        </p:txBody>
      </p:sp>
      <p:sp>
        <p:nvSpPr>
          <p:cNvPr id="197" name="Google Shape;197;g3ce178917ef_0_16"/>
          <p:cNvSpPr txBox="1"/>
          <p:nvPr/>
        </p:nvSpPr>
        <p:spPr>
          <a:xfrm>
            <a:off x="388103" y="1533822"/>
            <a:ext cx="2679900" cy="4617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Courier New"/>
                <a:ea typeface="Courier New"/>
                <a:cs typeface="Courier New"/>
                <a:sym typeface="Courier New"/>
              </a:rPr>
              <a:t>Possible prompt</a:t>
            </a:r>
            <a:endParaRPr b="0" i="0" sz="1800" u="none" cap="none" strike="noStrike">
              <a:solidFill>
                <a:schemeClr val="dk1"/>
              </a:solidFill>
              <a:latin typeface="Courier New"/>
              <a:ea typeface="Courier New"/>
              <a:cs typeface="Courier New"/>
              <a:sym typeface="Courier New"/>
            </a:endParaRPr>
          </a:p>
        </p:txBody>
      </p:sp>
      <p:sp>
        <p:nvSpPr>
          <p:cNvPr id="198" name="Google Shape;198;g3ce178917ef_0_16"/>
          <p:cNvSpPr txBox="1"/>
          <p:nvPr/>
        </p:nvSpPr>
        <p:spPr>
          <a:xfrm>
            <a:off x="388103" y="2745375"/>
            <a:ext cx="2679900" cy="4617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Courier New"/>
                <a:ea typeface="Courier New"/>
                <a:cs typeface="Courier New"/>
                <a:sym typeface="Courier New"/>
              </a:rPr>
              <a:t>Follow-up prompts</a:t>
            </a:r>
            <a:endParaRPr b="0" i="0" sz="1800" u="none" cap="none" strike="noStrike">
              <a:solidFill>
                <a:schemeClr val="dk1"/>
              </a:solidFill>
              <a:latin typeface="Courier New"/>
              <a:ea typeface="Courier New"/>
              <a:cs typeface="Courier New"/>
              <a:sym typeface="Courier New"/>
            </a:endParaRPr>
          </a:p>
        </p:txBody>
      </p:sp>
      <p:cxnSp>
        <p:nvCxnSpPr>
          <p:cNvPr id="199" name="Google Shape;199;g3ce178917ef_0_16"/>
          <p:cNvCxnSpPr>
            <a:endCxn id="196" idx="1"/>
          </p:cNvCxnSpPr>
          <p:nvPr/>
        </p:nvCxnSpPr>
        <p:spPr>
          <a:xfrm flipH="1" rot="-5400000">
            <a:off x="442225" y="3616447"/>
            <a:ext cx="1129500" cy="515700"/>
          </a:xfrm>
          <a:prstGeom prst="bentConnector2">
            <a:avLst/>
          </a:prstGeom>
          <a:noFill/>
          <a:ln cap="flat" cmpd="sng" w="9525">
            <a:solidFill>
              <a:srgbClr val="EF8600"/>
            </a:solidFill>
            <a:prstDash val="solid"/>
            <a:round/>
            <a:headEnd len="sm" w="sm" type="none"/>
            <a:tailEnd len="med" w="med" type="triangle"/>
          </a:ln>
        </p:spPr>
      </p:cxnSp>
      <p:cxnSp>
        <p:nvCxnSpPr>
          <p:cNvPr id="200" name="Google Shape;200;g3ce178917ef_0_16"/>
          <p:cNvCxnSpPr>
            <a:endCxn id="195" idx="1"/>
          </p:cNvCxnSpPr>
          <p:nvPr/>
        </p:nvCxnSpPr>
        <p:spPr>
          <a:xfrm>
            <a:off x="749126" y="3631501"/>
            <a:ext cx="515700" cy="0"/>
          </a:xfrm>
          <a:prstGeom prst="straightConnector1">
            <a:avLst/>
          </a:prstGeom>
          <a:noFill/>
          <a:ln cap="flat" cmpd="sng" w="9525">
            <a:solidFill>
              <a:srgbClr val="EF8600"/>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06351b6c07_0_53"/>
          <p:cNvSpPr txBox="1"/>
          <p:nvPr/>
        </p:nvSpPr>
        <p:spPr>
          <a:xfrm>
            <a:off x="0" y="0"/>
            <a:ext cx="9144000" cy="7233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500"/>
              <a:buFont typeface="Arial"/>
              <a:buNone/>
            </a:pPr>
            <a:r>
              <a:rPr b="0" i="0" lang="en" sz="3500" u="none" cap="none" strike="noStrike">
                <a:solidFill>
                  <a:schemeClr val="dk1"/>
                </a:solidFill>
                <a:latin typeface="Oswald"/>
                <a:ea typeface="Oswald"/>
                <a:cs typeface="Oswald"/>
                <a:sym typeface="Oswald"/>
              </a:rPr>
              <a:t>Activity</a:t>
            </a:r>
            <a:endParaRPr b="0" i="0" sz="3500" u="none" cap="none" strike="noStrike">
              <a:solidFill>
                <a:schemeClr val="dk1"/>
              </a:solidFill>
              <a:latin typeface="Oswald"/>
              <a:ea typeface="Oswald"/>
              <a:cs typeface="Oswald"/>
              <a:sym typeface="Oswald"/>
            </a:endParaRPr>
          </a:p>
        </p:txBody>
      </p:sp>
      <p:sp>
        <p:nvSpPr>
          <p:cNvPr id="206" name="Google Shape;206;g306351b6c07_0_53"/>
          <p:cNvSpPr txBox="1"/>
          <p:nvPr/>
        </p:nvSpPr>
        <p:spPr>
          <a:xfrm>
            <a:off x="0" y="852825"/>
            <a:ext cx="9144000" cy="4617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Oswald"/>
                <a:ea typeface="Oswald"/>
                <a:cs typeface="Oswald"/>
                <a:sym typeface="Oswald"/>
              </a:rPr>
              <a:t>GENERATE KEYWORDS  |  SEARCH STRING SUGGESTIONS |  USE TOOL | TOPIC SCOPING </a:t>
            </a:r>
            <a:endParaRPr b="0" i="0" sz="1800" u="none" cap="none" strike="noStrike">
              <a:solidFill>
                <a:schemeClr val="dk1"/>
              </a:solidFill>
              <a:latin typeface="Oswald"/>
              <a:ea typeface="Oswald"/>
              <a:cs typeface="Oswald"/>
              <a:sym typeface="Oswald"/>
            </a:endParaRPr>
          </a:p>
        </p:txBody>
      </p:sp>
      <p:sp>
        <p:nvSpPr>
          <p:cNvPr id="207" name="Google Shape;207;g306351b6c07_0_53"/>
          <p:cNvSpPr txBox="1"/>
          <p:nvPr/>
        </p:nvSpPr>
        <p:spPr>
          <a:xfrm>
            <a:off x="1264825" y="2057370"/>
            <a:ext cx="6351300" cy="5871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As a </a:t>
            </a:r>
            <a:r>
              <a:rPr lang="en" sz="1300">
                <a:solidFill>
                  <a:schemeClr val="dk1"/>
                </a:solidFill>
              </a:rPr>
              <a:t>___ </a:t>
            </a:r>
            <a:r>
              <a:rPr b="0" i="0" lang="en" sz="1300" u="none" cap="none" strike="noStrike">
                <a:solidFill>
                  <a:schemeClr val="dk1"/>
                </a:solidFill>
                <a:latin typeface="Arial"/>
                <a:ea typeface="Arial"/>
                <a:cs typeface="Arial"/>
                <a:sym typeface="Arial"/>
              </a:rPr>
              <a:t>researching </a:t>
            </a:r>
            <a:r>
              <a:rPr lang="en" sz="1300">
                <a:solidFill>
                  <a:schemeClr val="dk1"/>
                </a:solidFill>
              </a:rPr>
              <a:t>___ </a:t>
            </a:r>
            <a:r>
              <a:rPr b="0" i="0" lang="en" sz="1300" u="none" cap="none" strike="noStrike">
                <a:solidFill>
                  <a:schemeClr val="dk1"/>
                </a:solidFill>
                <a:latin typeface="Arial"/>
                <a:ea typeface="Arial"/>
                <a:cs typeface="Arial"/>
                <a:sym typeface="Arial"/>
              </a:rPr>
              <a:t>,</a:t>
            </a:r>
            <a:br>
              <a:rPr lang="en" sz="1300">
                <a:solidFill>
                  <a:schemeClr val="dk1"/>
                </a:solidFill>
              </a:rPr>
            </a:br>
            <a:r>
              <a:rPr b="0" i="0" lang="en" sz="1300" u="none" cap="none" strike="noStrike">
                <a:solidFill>
                  <a:schemeClr val="dk1"/>
                </a:solidFill>
                <a:latin typeface="Arial"/>
                <a:ea typeface="Arial"/>
                <a:cs typeface="Arial"/>
                <a:sym typeface="Arial"/>
              </a:rPr>
              <a:t>provide me with 10 keywords for an academic literature search.</a:t>
            </a:r>
            <a:endParaRPr b="0" i="0" sz="1300" u="none" cap="none" strike="noStrike">
              <a:solidFill>
                <a:schemeClr val="dk1"/>
              </a:solidFill>
              <a:latin typeface="Arial"/>
              <a:ea typeface="Arial"/>
              <a:cs typeface="Arial"/>
              <a:sym typeface="Arial"/>
            </a:endParaRPr>
          </a:p>
        </p:txBody>
      </p:sp>
      <p:sp>
        <p:nvSpPr>
          <p:cNvPr id="208" name="Google Shape;208;g306351b6c07_0_53"/>
          <p:cNvSpPr txBox="1"/>
          <p:nvPr/>
        </p:nvSpPr>
        <p:spPr>
          <a:xfrm>
            <a:off x="1264826" y="3155470"/>
            <a:ext cx="6351300" cy="344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What search string could I use in Google Scholar to find relevant literature?</a:t>
            </a:r>
            <a:endParaRPr b="0" i="0" sz="1300" u="none" cap="none" strike="noStrike">
              <a:solidFill>
                <a:schemeClr val="dk1"/>
              </a:solidFill>
              <a:latin typeface="Arial"/>
              <a:ea typeface="Arial"/>
              <a:cs typeface="Arial"/>
              <a:sym typeface="Arial"/>
            </a:endParaRPr>
          </a:p>
        </p:txBody>
      </p:sp>
      <p:sp>
        <p:nvSpPr>
          <p:cNvPr id="209" name="Google Shape;209;g306351b6c07_0_53"/>
          <p:cNvSpPr txBox="1"/>
          <p:nvPr/>
        </p:nvSpPr>
        <p:spPr>
          <a:xfrm>
            <a:off x="1264825" y="4087181"/>
            <a:ext cx="6351300" cy="344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Identify 5 specific topics in this area for further exploration.</a:t>
            </a:r>
            <a:endParaRPr b="0" i="0" sz="1300" u="none" cap="none" strike="noStrike">
              <a:solidFill>
                <a:schemeClr val="dk1"/>
              </a:solidFill>
              <a:latin typeface="Arial"/>
              <a:ea typeface="Arial"/>
              <a:cs typeface="Arial"/>
              <a:sym typeface="Arial"/>
            </a:endParaRPr>
          </a:p>
        </p:txBody>
      </p:sp>
      <p:sp>
        <p:nvSpPr>
          <p:cNvPr id="210" name="Google Shape;210;g306351b6c07_0_53"/>
          <p:cNvSpPr txBox="1"/>
          <p:nvPr/>
        </p:nvSpPr>
        <p:spPr>
          <a:xfrm>
            <a:off x="388103" y="1584292"/>
            <a:ext cx="2679900" cy="4617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Courier New"/>
                <a:ea typeface="Courier New"/>
                <a:cs typeface="Courier New"/>
                <a:sym typeface="Courier New"/>
              </a:rPr>
              <a:t>Possible prompt</a:t>
            </a:r>
            <a:endParaRPr b="0" i="0" sz="1800" u="none" cap="none" strike="noStrike">
              <a:solidFill>
                <a:schemeClr val="dk1"/>
              </a:solidFill>
              <a:latin typeface="Courier New"/>
              <a:ea typeface="Courier New"/>
              <a:cs typeface="Courier New"/>
              <a:sym typeface="Courier New"/>
            </a:endParaRPr>
          </a:p>
        </p:txBody>
      </p:sp>
      <p:sp>
        <p:nvSpPr>
          <p:cNvPr id="211" name="Google Shape;211;g306351b6c07_0_53"/>
          <p:cNvSpPr txBox="1"/>
          <p:nvPr/>
        </p:nvSpPr>
        <p:spPr>
          <a:xfrm>
            <a:off x="388103" y="2567245"/>
            <a:ext cx="2679900" cy="4617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Courier New"/>
                <a:ea typeface="Courier New"/>
                <a:cs typeface="Courier New"/>
                <a:sym typeface="Courier New"/>
              </a:rPr>
              <a:t>Follow-up prompts</a:t>
            </a:r>
            <a:endParaRPr b="0" i="0" sz="1800" u="none" cap="none" strike="noStrike">
              <a:solidFill>
                <a:schemeClr val="dk1"/>
              </a:solidFill>
              <a:latin typeface="Courier New"/>
              <a:ea typeface="Courier New"/>
              <a:cs typeface="Courier New"/>
              <a:sym typeface="Courier New"/>
            </a:endParaRPr>
          </a:p>
        </p:txBody>
      </p:sp>
      <p:cxnSp>
        <p:nvCxnSpPr>
          <p:cNvPr id="212" name="Google Shape;212;g306351b6c07_0_53"/>
          <p:cNvCxnSpPr>
            <a:endCxn id="208" idx="1"/>
          </p:cNvCxnSpPr>
          <p:nvPr/>
        </p:nvCxnSpPr>
        <p:spPr>
          <a:xfrm>
            <a:off x="749126" y="3327820"/>
            <a:ext cx="515700" cy="0"/>
          </a:xfrm>
          <a:prstGeom prst="straightConnector1">
            <a:avLst/>
          </a:prstGeom>
          <a:noFill/>
          <a:ln cap="flat" cmpd="sng" w="9525">
            <a:solidFill>
              <a:srgbClr val="EF8600"/>
            </a:solidFill>
            <a:prstDash val="solid"/>
            <a:round/>
            <a:headEnd len="sm" w="sm" type="none"/>
            <a:tailEnd len="med" w="med" type="triangle"/>
          </a:ln>
        </p:spPr>
      </p:cxnSp>
      <p:sp>
        <p:nvSpPr>
          <p:cNvPr id="213" name="Google Shape;213;g306351b6c07_0_53"/>
          <p:cNvSpPr txBox="1"/>
          <p:nvPr/>
        </p:nvSpPr>
        <p:spPr>
          <a:xfrm>
            <a:off x="1264825" y="3614851"/>
            <a:ext cx="6351300" cy="344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Use the suggested search string in Google scholar and evaluate the results.</a:t>
            </a:r>
            <a:endParaRPr b="0" i="0" sz="1300" u="none" cap="none" strike="noStrike">
              <a:solidFill>
                <a:schemeClr val="dk1"/>
              </a:solidFill>
              <a:latin typeface="Arial"/>
              <a:ea typeface="Arial"/>
              <a:cs typeface="Arial"/>
              <a:sym typeface="Arial"/>
            </a:endParaRPr>
          </a:p>
        </p:txBody>
      </p:sp>
      <p:cxnSp>
        <p:nvCxnSpPr>
          <p:cNvPr id="214" name="Google Shape;214;g306351b6c07_0_53"/>
          <p:cNvCxnSpPr/>
          <p:nvPr/>
        </p:nvCxnSpPr>
        <p:spPr>
          <a:xfrm flipH="1" rot="-5400000">
            <a:off x="544372" y="3529346"/>
            <a:ext cx="925200" cy="515700"/>
          </a:xfrm>
          <a:prstGeom prst="bentConnector2">
            <a:avLst/>
          </a:prstGeom>
          <a:noFill/>
          <a:ln cap="flat" cmpd="sng" w="9525">
            <a:solidFill>
              <a:srgbClr val="EF8600"/>
            </a:solidFill>
            <a:prstDash val="solid"/>
            <a:round/>
            <a:headEnd len="sm" w="sm" type="none"/>
            <a:tailEnd len="med" w="med" type="triangle"/>
          </a:ln>
        </p:spPr>
      </p:cxnSp>
      <p:sp>
        <p:nvSpPr>
          <p:cNvPr id="215" name="Google Shape;215;g306351b6c07_0_53"/>
          <p:cNvSpPr txBox="1"/>
          <p:nvPr/>
        </p:nvSpPr>
        <p:spPr>
          <a:xfrm>
            <a:off x="2750725" y="1118575"/>
            <a:ext cx="33795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sng" cap="none" strike="noStrike">
                <a:solidFill>
                  <a:schemeClr val="accent5"/>
                </a:solidFill>
                <a:latin typeface="Arial"/>
                <a:ea typeface="Arial"/>
                <a:cs typeface="Arial"/>
                <a:sym typeface="Arial"/>
                <a:hlinkClick r:id="rId3">
                  <a:extLst>
                    <a:ext uri="{A12FA001-AC4F-418D-AE19-62706E023703}">
                      <ahyp:hlinkClr val="tx"/>
                    </a:ext>
                  </a:extLst>
                </a:hlinkClick>
              </a:rPr>
              <a:t>https://copilot.cloud.microsoft.com</a:t>
            </a:r>
            <a:r>
              <a:rPr b="0" i="0" lang="en" sz="1600" u="none" cap="none" strike="noStrike">
                <a:solidFill>
                  <a:schemeClr val="accent5"/>
                </a:solidFill>
                <a:latin typeface="Arial"/>
                <a:ea typeface="Arial"/>
                <a:cs typeface="Arial"/>
                <a:sym typeface="Arial"/>
              </a:rPr>
              <a:t> </a:t>
            </a:r>
            <a:endParaRPr b="0" i="0" sz="1600" u="none" cap="none" strike="noStrike">
              <a:solidFill>
                <a:schemeClr val="accent5"/>
              </a:solidFill>
              <a:latin typeface="Arial"/>
              <a:ea typeface="Arial"/>
              <a:cs typeface="Arial"/>
              <a:sym typeface="Arial"/>
            </a:endParaRPr>
          </a:p>
        </p:txBody>
      </p:sp>
      <p:sp>
        <p:nvSpPr>
          <p:cNvPr id="216" name="Google Shape;216;g306351b6c07_0_53"/>
          <p:cNvSpPr txBox="1"/>
          <p:nvPr/>
        </p:nvSpPr>
        <p:spPr>
          <a:xfrm>
            <a:off x="534400" y="4685675"/>
            <a:ext cx="3221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Exercises: </a:t>
            </a:r>
            <a:r>
              <a:rPr b="1" i="0" lang="en" sz="1400" u="sng" cap="none" strike="noStrike">
                <a:solidFill>
                  <a:schemeClr val="hlink"/>
                </a:solidFill>
                <a:latin typeface="Arial"/>
                <a:ea typeface="Arial"/>
                <a:cs typeface="Arial"/>
                <a:sym typeface="Arial"/>
                <a:hlinkClick r:id="rId4"/>
              </a:rPr>
              <a:t>https://shorturl.at/cj21T</a:t>
            </a:r>
            <a:r>
              <a:rPr b="1" i="0" lang="e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840b7833a0_0_233"/>
          <p:cNvSpPr txBox="1"/>
          <p:nvPr/>
        </p:nvSpPr>
        <p:spPr>
          <a:xfrm>
            <a:off x="1275926" y="167075"/>
            <a:ext cx="67323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AI-assisted literature discovery and analysis</a:t>
            </a:r>
            <a:endParaRPr b="0" i="0" sz="3200" u="none" cap="none" strike="noStrike">
              <a:solidFill>
                <a:schemeClr val="dk1"/>
              </a:solidFill>
              <a:latin typeface="Oswald"/>
              <a:ea typeface="Oswald"/>
              <a:cs typeface="Oswald"/>
              <a:sym typeface="Oswald"/>
            </a:endParaRPr>
          </a:p>
        </p:txBody>
      </p:sp>
      <p:pic>
        <p:nvPicPr>
          <p:cNvPr id="222" name="Google Shape;222;g3840b7833a0_0_233" title="From-Literature-Search-to-Writing.png"/>
          <p:cNvPicPr preferRelativeResize="0"/>
          <p:nvPr/>
        </p:nvPicPr>
        <p:blipFill rotWithShape="1">
          <a:blip r:embed="rId3">
            <a:alphaModFix/>
          </a:blip>
          <a:srcRect b="54801" l="0" r="0" t="10609"/>
          <a:stretch/>
        </p:blipFill>
        <p:spPr>
          <a:xfrm>
            <a:off x="790475" y="1079100"/>
            <a:ext cx="7217752" cy="3533348"/>
          </a:xfrm>
          <a:prstGeom prst="rect">
            <a:avLst/>
          </a:prstGeom>
          <a:noFill/>
          <a:ln>
            <a:noFill/>
          </a:ln>
        </p:spPr>
      </p:pic>
      <p:sp>
        <p:nvSpPr>
          <p:cNvPr id="223" name="Google Shape;223;g3840b7833a0_0_233"/>
          <p:cNvSpPr/>
          <p:nvPr/>
        </p:nvSpPr>
        <p:spPr>
          <a:xfrm>
            <a:off x="1763497" y="1884525"/>
            <a:ext cx="4875600" cy="613800"/>
          </a:xfrm>
          <a:prstGeom prst="rect">
            <a:avLst/>
          </a:prstGeom>
          <a:noFill/>
          <a:ln cap="flat" cmpd="sng" w="381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7" name="Shape 227"/>
        <p:cNvGrpSpPr/>
        <p:nvPr/>
      </p:nvGrpSpPr>
      <p:grpSpPr>
        <a:xfrm>
          <a:off x="0" y="0"/>
          <a:ext cx="0" cy="0"/>
          <a:chOff x="0" y="0"/>
          <a:chExt cx="0" cy="0"/>
        </a:xfrm>
      </p:grpSpPr>
      <p:sp>
        <p:nvSpPr>
          <p:cNvPr id="228" name="Google Shape;228;g38904fd917d_0_28"/>
          <p:cNvSpPr txBox="1"/>
          <p:nvPr/>
        </p:nvSpPr>
        <p:spPr>
          <a:xfrm>
            <a:off x="1482848" y="197655"/>
            <a:ext cx="58392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45720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Evaluate, filter and mitigate gaps</a:t>
            </a:r>
            <a:endParaRPr b="0" i="0" sz="3200" u="none" cap="none" strike="noStrike">
              <a:solidFill>
                <a:schemeClr val="dk1"/>
              </a:solidFill>
              <a:latin typeface="Oswald"/>
              <a:ea typeface="Oswald"/>
              <a:cs typeface="Oswald"/>
              <a:sym typeface="Oswald"/>
            </a:endParaRPr>
          </a:p>
        </p:txBody>
      </p:sp>
      <p:sp>
        <p:nvSpPr>
          <p:cNvPr id="229" name="Google Shape;229;g38904fd917d_0_28"/>
          <p:cNvSpPr txBox="1"/>
          <p:nvPr/>
        </p:nvSpPr>
        <p:spPr>
          <a:xfrm>
            <a:off x="3599060" y="1123887"/>
            <a:ext cx="2087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AI Research Assistants </a:t>
            </a:r>
            <a:endParaRPr b="0" i="0" sz="1400" u="none" cap="none" strike="noStrike">
              <a:solidFill>
                <a:srgbClr val="000000"/>
              </a:solidFill>
              <a:latin typeface="Arial"/>
              <a:ea typeface="Arial"/>
              <a:cs typeface="Arial"/>
              <a:sym typeface="Arial"/>
            </a:endParaRPr>
          </a:p>
        </p:txBody>
      </p:sp>
      <p:sp>
        <p:nvSpPr>
          <p:cNvPr id="230" name="Google Shape;230;g38904fd917d_0_28"/>
          <p:cNvSpPr txBox="1"/>
          <p:nvPr/>
        </p:nvSpPr>
        <p:spPr>
          <a:xfrm>
            <a:off x="1291704" y="2965647"/>
            <a:ext cx="1419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Google Scholar</a:t>
            </a:r>
            <a:endParaRPr b="0" i="0" sz="1400" u="none" cap="none" strike="noStrike">
              <a:solidFill>
                <a:schemeClr val="dk1"/>
              </a:solidFill>
              <a:latin typeface="Arial"/>
              <a:ea typeface="Arial"/>
              <a:cs typeface="Arial"/>
              <a:sym typeface="Arial"/>
            </a:endParaRPr>
          </a:p>
        </p:txBody>
      </p:sp>
      <p:sp>
        <p:nvSpPr>
          <p:cNvPr id="231" name="Google Shape;231;g38904fd917d_0_28"/>
          <p:cNvSpPr txBox="1"/>
          <p:nvPr/>
        </p:nvSpPr>
        <p:spPr>
          <a:xfrm>
            <a:off x="3419790" y="2965650"/>
            <a:ext cx="18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Literature databases</a:t>
            </a:r>
            <a:endParaRPr b="0" i="0" sz="1400" u="none" cap="none" strike="noStrike">
              <a:solidFill>
                <a:schemeClr val="dk1"/>
              </a:solidFill>
              <a:latin typeface="Arial"/>
              <a:ea typeface="Arial"/>
              <a:cs typeface="Arial"/>
              <a:sym typeface="Arial"/>
            </a:endParaRPr>
          </a:p>
        </p:txBody>
      </p:sp>
      <p:pic>
        <p:nvPicPr>
          <p:cNvPr descr="Robot doing repeatable tasks with a lot of folders and magnifier. Robotic process automation, service robots profit, automated processing concept" id="232" name="Google Shape;232;g38904fd917d_0_28"/>
          <p:cNvPicPr preferRelativeResize="0"/>
          <p:nvPr/>
        </p:nvPicPr>
        <p:blipFill rotWithShape="1">
          <a:blip r:embed="rId3">
            <a:alphaModFix/>
          </a:blip>
          <a:srcRect b="0" l="0" r="0" t="0"/>
          <a:stretch/>
        </p:blipFill>
        <p:spPr>
          <a:xfrm>
            <a:off x="5841235" y="1645264"/>
            <a:ext cx="1710299" cy="1139262"/>
          </a:xfrm>
          <a:prstGeom prst="rect">
            <a:avLst/>
          </a:prstGeom>
          <a:noFill/>
          <a:ln>
            <a:noFill/>
          </a:ln>
        </p:spPr>
      </p:pic>
      <p:pic>
        <p:nvPicPr>
          <p:cNvPr descr="Flat university concept with education elements" id="233" name="Google Shape;233;g38904fd917d_0_28"/>
          <p:cNvPicPr preferRelativeResize="0"/>
          <p:nvPr/>
        </p:nvPicPr>
        <p:blipFill rotWithShape="1">
          <a:blip r:embed="rId4">
            <a:alphaModFix/>
          </a:blip>
          <a:srcRect b="0" l="0" r="0" t="0"/>
          <a:stretch/>
        </p:blipFill>
        <p:spPr>
          <a:xfrm>
            <a:off x="1215680" y="1505409"/>
            <a:ext cx="1418978" cy="1418978"/>
          </a:xfrm>
          <a:prstGeom prst="rect">
            <a:avLst/>
          </a:prstGeom>
          <a:noFill/>
          <a:ln>
            <a:noFill/>
          </a:ln>
        </p:spPr>
      </p:pic>
      <p:pic>
        <p:nvPicPr>
          <p:cNvPr descr="Student with laptop sitting on huge books in library. Male character studying on computer flat vector illustration. Online education, knowledge concept for banner, website design or landing web page" id="234" name="Google Shape;234;g38904fd917d_0_28"/>
          <p:cNvPicPr preferRelativeResize="0"/>
          <p:nvPr/>
        </p:nvPicPr>
        <p:blipFill rotWithShape="1">
          <a:blip r:embed="rId5">
            <a:alphaModFix/>
          </a:blip>
          <a:srcRect b="0" l="0" r="0" t="0"/>
          <a:stretch/>
        </p:blipFill>
        <p:spPr>
          <a:xfrm>
            <a:off x="3514464" y="1582584"/>
            <a:ext cx="1625672" cy="1264629"/>
          </a:xfrm>
          <a:prstGeom prst="rect">
            <a:avLst/>
          </a:prstGeom>
          <a:noFill/>
          <a:ln>
            <a:noFill/>
          </a:ln>
        </p:spPr>
      </p:pic>
      <p:sp>
        <p:nvSpPr>
          <p:cNvPr id="235" name="Google Shape;235;g38904fd917d_0_28"/>
          <p:cNvSpPr txBox="1"/>
          <p:nvPr/>
        </p:nvSpPr>
        <p:spPr>
          <a:xfrm>
            <a:off x="5841215" y="2882613"/>
            <a:ext cx="1815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Literature discovery</a:t>
            </a:r>
            <a:br>
              <a:rPr b="0" i="0" lang="en" sz="1400" u="none" cap="none" strike="noStrike">
                <a:solidFill>
                  <a:schemeClr val="dk1"/>
                </a:solidFill>
                <a:latin typeface="Arial"/>
                <a:ea typeface="Arial"/>
                <a:cs typeface="Arial"/>
                <a:sym typeface="Arial"/>
              </a:rPr>
            </a:br>
            <a:r>
              <a:rPr b="0" i="0" lang="en" sz="1400" u="none" cap="none" strike="noStrike">
                <a:solidFill>
                  <a:schemeClr val="dk1"/>
                </a:solidFill>
                <a:latin typeface="Arial"/>
                <a:ea typeface="Arial"/>
                <a:cs typeface="Arial"/>
                <a:sym typeface="Arial"/>
              </a:rPr>
              <a:t>assistants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 name="Shape 239"/>
        <p:cNvGrpSpPr/>
        <p:nvPr/>
      </p:nvGrpSpPr>
      <p:grpSpPr>
        <a:xfrm>
          <a:off x="0" y="0"/>
          <a:ext cx="0" cy="0"/>
          <a:chOff x="0" y="0"/>
          <a:chExt cx="0" cy="0"/>
        </a:xfrm>
      </p:grpSpPr>
      <p:sp>
        <p:nvSpPr>
          <p:cNvPr id="240" name="Google Shape;240;p25"/>
          <p:cNvSpPr txBox="1"/>
          <p:nvPr/>
        </p:nvSpPr>
        <p:spPr>
          <a:xfrm>
            <a:off x="411500" y="344100"/>
            <a:ext cx="8415300" cy="67707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 AI Assistance in Library tools</a:t>
            </a:r>
            <a:endParaRPr b="0" i="0" sz="3200" u="none" cap="none" strike="noStrike">
              <a:solidFill>
                <a:schemeClr val="dk1"/>
              </a:solidFill>
              <a:latin typeface="Oswald"/>
              <a:ea typeface="Oswald"/>
              <a:cs typeface="Oswald"/>
              <a:sym typeface="Oswald"/>
            </a:endParaRPr>
          </a:p>
        </p:txBody>
      </p:sp>
      <p:grpSp>
        <p:nvGrpSpPr>
          <p:cNvPr id="241" name="Google Shape;241;p25"/>
          <p:cNvGrpSpPr/>
          <p:nvPr/>
        </p:nvGrpSpPr>
        <p:grpSpPr>
          <a:xfrm>
            <a:off x="106425" y="108050"/>
            <a:ext cx="476700" cy="502500"/>
            <a:chOff x="95250" y="112575"/>
            <a:chExt cx="476700" cy="502500"/>
          </a:xfrm>
        </p:grpSpPr>
        <p:cxnSp>
          <p:nvCxnSpPr>
            <p:cNvPr id="242" name="Google Shape;242;p2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243" name="Google Shape;243;p2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244" name="Google Shape;244;p25"/>
          <p:cNvGrpSpPr/>
          <p:nvPr/>
        </p:nvGrpSpPr>
        <p:grpSpPr>
          <a:xfrm rot="-5400000">
            <a:off x="106425" y="4557750"/>
            <a:ext cx="476700" cy="502500"/>
            <a:chOff x="95250" y="112575"/>
            <a:chExt cx="476700" cy="502500"/>
          </a:xfrm>
        </p:grpSpPr>
        <p:cxnSp>
          <p:nvCxnSpPr>
            <p:cNvPr id="245" name="Google Shape;245;p2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246" name="Google Shape;246;p2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247" name="Google Shape;247;p25"/>
          <p:cNvGrpSpPr/>
          <p:nvPr/>
        </p:nvGrpSpPr>
        <p:grpSpPr>
          <a:xfrm rot="10800000">
            <a:off x="8560875" y="4557750"/>
            <a:ext cx="476700" cy="502500"/>
            <a:chOff x="95250" y="112575"/>
            <a:chExt cx="476700" cy="502500"/>
          </a:xfrm>
        </p:grpSpPr>
        <p:cxnSp>
          <p:nvCxnSpPr>
            <p:cNvPr id="248" name="Google Shape;248;p2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249" name="Google Shape;249;p2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pic>
        <p:nvPicPr>
          <p:cNvPr id="250" name="Google Shape;250;p25"/>
          <p:cNvPicPr preferRelativeResize="0"/>
          <p:nvPr/>
        </p:nvPicPr>
        <p:blipFill rotWithShape="1">
          <a:blip r:embed="rId3">
            <a:alphaModFix/>
          </a:blip>
          <a:srcRect b="0" l="0" r="0" t="0"/>
          <a:stretch/>
        </p:blipFill>
        <p:spPr>
          <a:xfrm>
            <a:off x="152400" y="1412153"/>
            <a:ext cx="8839204" cy="2011264"/>
          </a:xfrm>
          <a:prstGeom prst="rect">
            <a:avLst/>
          </a:prstGeom>
          <a:noFill/>
          <a:ln>
            <a:noFill/>
          </a:ln>
        </p:spPr>
      </p:pic>
      <p:sp>
        <p:nvSpPr>
          <p:cNvPr id="251" name="Google Shape;251;p25"/>
          <p:cNvSpPr txBox="1"/>
          <p:nvPr/>
        </p:nvSpPr>
        <p:spPr>
          <a:xfrm>
            <a:off x="305225" y="45200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4"/>
              </a:rPr>
              <a:t>https://www.jstor.org</a:t>
            </a:r>
            <a:r>
              <a:rPr b="0" i="0" lang="en"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sp>
        <p:nvSpPr>
          <p:cNvPr id="252" name="Google Shape;252;p25"/>
          <p:cNvSpPr txBox="1"/>
          <p:nvPr/>
        </p:nvSpPr>
        <p:spPr>
          <a:xfrm>
            <a:off x="4179975" y="423752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Other comparable tools: </a:t>
            </a:r>
            <a:r>
              <a:rPr b="0" i="0" lang="en" sz="1100" u="sng" cap="none" strike="noStrike">
                <a:solidFill>
                  <a:schemeClr val="hlink"/>
                </a:solidFill>
                <a:latin typeface="Arial"/>
                <a:ea typeface="Arial"/>
                <a:cs typeface="Arial"/>
                <a:sym typeface="Arial"/>
                <a:hlinkClick r:id="rId5"/>
              </a:rPr>
              <a:t>Scopus AI</a:t>
            </a:r>
            <a:endParaRPr b="0" i="0" sz="1400" u="none" cap="none" strike="noStrike">
              <a:solidFill>
                <a:srgbClr val="000000"/>
              </a:solidFill>
              <a:latin typeface="Arial"/>
              <a:ea typeface="Arial"/>
              <a:cs typeface="Arial"/>
              <a:sym typeface="Arial"/>
            </a:endParaRPr>
          </a:p>
        </p:txBody>
      </p:sp>
      <p:sp>
        <p:nvSpPr>
          <p:cNvPr id="253" name="Google Shape;253;p25"/>
          <p:cNvSpPr txBox="1"/>
          <p:nvPr/>
        </p:nvSpPr>
        <p:spPr>
          <a:xfrm>
            <a:off x="5295625" y="4701600"/>
            <a:ext cx="3861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descr="Student with laptop sitting on huge books in library. Male character studying on computer flat vector illustration. Online education, knowledge concept for banner, website design or landing web page" id="254" name="Google Shape;254;p25"/>
          <p:cNvPicPr preferRelativeResize="0"/>
          <p:nvPr/>
        </p:nvPicPr>
        <p:blipFill rotWithShape="1">
          <a:blip r:embed="rId6">
            <a:alphaModFix/>
          </a:blip>
          <a:srcRect b="0" l="0" r="0" t="0"/>
          <a:stretch/>
        </p:blipFill>
        <p:spPr>
          <a:xfrm>
            <a:off x="7882021" y="69704"/>
            <a:ext cx="1181350" cy="9189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96692e0569_0_0"/>
          <p:cNvSpPr txBox="1"/>
          <p:nvPr/>
        </p:nvSpPr>
        <p:spPr>
          <a:xfrm>
            <a:off x="-50" y="134150"/>
            <a:ext cx="9144000" cy="677100"/>
          </a:xfrm>
          <a:prstGeom prst="rect">
            <a:avLst/>
          </a:prstGeom>
          <a:noFill/>
          <a:ln>
            <a:noFill/>
          </a:ln>
          <a:effectLst>
            <a:outerShdw blurRad="57150" rotWithShape="0" algn="bl" dir="5400000" dist="19050">
              <a:srgbClr val="D9D9D9">
                <a:alpha val="4863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n" sz="3200">
                <a:solidFill>
                  <a:schemeClr val="dk1"/>
                </a:solidFill>
                <a:latin typeface="Oswald"/>
                <a:ea typeface="Oswald"/>
                <a:cs typeface="Oswald"/>
                <a:sym typeface="Oswald"/>
              </a:rPr>
              <a:t>Searching and filtering relevant literature: indexing</a:t>
            </a:r>
            <a:endParaRPr b="0" i="0" sz="3200" u="none" cap="none" strike="noStrike">
              <a:solidFill>
                <a:schemeClr val="dk1"/>
              </a:solidFill>
              <a:latin typeface="Oswald"/>
              <a:ea typeface="Oswald"/>
              <a:cs typeface="Oswald"/>
              <a:sym typeface="Oswald"/>
            </a:endParaRPr>
          </a:p>
        </p:txBody>
      </p:sp>
      <p:pic>
        <p:nvPicPr>
          <p:cNvPr id="260" name="Google Shape;260;g396692e0569_0_0"/>
          <p:cNvPicPr preferRelativeResize="0"/>
          <p:nvPr/>
        </p:nvPicPr>
        <p:blipFill>
          <a:blip r:embed="rId3">
            <a:alphaModFix/>
          </a:blip>
          <a:stretch>
            <a:fillRect/>
          </a:stretch>
        </p:blipFill>
        <p:spPr>
          <a:xfrm>
            <a:off x="1265222" y="3331334"/>
            <a:ext cx="1345274" cy="479250"/>
          </a:xfrm>
          <a:prstGeom prst="rect">
            <a:avLst/>
          </a:prstGeom>
          <a:noFill/>
          <a:ln>
            <a:noFill/>
          </a:ln>
        </p:spPr>
      </p:pic>
      <p:pic>
        <p:nvPicPr>
          <p:cNvPr id="261" name="Google Shape;261;g396692e0569_0_0"/>
          <p:cNvPicPr preferRelativeResize="0"/>
          <p:nvPr/>
        </p:nvPicPr>
        <p:blipFill>
          <a:blip r:embed="rId4">
            <a:alphaModFix/>
          </a:blip>
          <a:stretch>
            <a:fillRect/>
          </a:stretch>
        </p:blipFill>
        <p:spPr>
          <a:xfrm>
            <a:off x="2847772" y="3331334"/>
            <a:ext cx="915074" cy="411775"/>
          </a:xfrm>
          <a:prstGeom prst="rect">
            <a:avLst/>
          </a:prstGeom>
          <a:noFill/>
          <a:ln>
            <a:noFill/>
          </a:ln>
        </p:spPr>
      </p:pic>
      <p:pic>
        <p:nvPicPr>
          <p:cNvPr id="262" name="Google Shape;262;g396692e0569_0_0"/>
          <p:cNvPicPr preferRelativeResize="0"/>
          <p:nvPr/>
        </p:nvPicPr>
        <p:blipFill>
          <a:blip r:embed="rId5">
            <a:alphaModFix/>
          </a:blip>
          <a:stretch>
            <a:fillRect/>
          </a:stretch>
        </p:blipFill>
        <p:spPr>
          <a:xfrm>
            <a:off x="2041372" y="4019809"/>
            <a:ext cx="1094826" cy="611275"/>
          </a:xfrm>
          <a:prstGeom prst="rect">
            <a:avLst/>
          </a:prstGeom>
          <a:noFill/>
          <a:ln>
            <a:noFill/>
          </a:ln>
        </p:spPr>
      </p:pic>
      <p:pic>
        <p:nvPicPr>
          <p:cNvPr id="263" name="Google Shape;263;g396692e0569_0_0"/>
          <p:cNvPicPr preferRelativeResize="0"/>
          <p:nvPr/>
        </p:nvPicPr>
        <p:blipFill>
          <a:blip r:embed="rId6">
            <a:alphaModFix/>
          </a:blip>
          <a:stretch>
            <a:fillRect/>
          </a:stretch>
        </p:blipFill>
        <p:spPr>
          <a:xfrm>
            <a:off x="3098472" y="3914846"/>
            <a:ext cx="1267926" cy="311050"/>
          </a:xfrm>
          <a:prstGeom prst="rect">
            <a:avLst/>
          </a:prstGeom>
          <a:noFill/>
          <a:ln>
            <a:noFill/>
          </a:ln>
        </p:spPr>
      </p:pic>
      <p:pic>
        <p:nvPicPr>
          <p:cNvPr id="264" name="Google Shape;264;g396692e0569_0_0"/>
          <p:cNvPicPr preferRelativeResize="0"/>
          <p:nvPr/>
        </p:nvPicPr>
        <p:blipFill>
          <a:blip r:embed="rId7">
            <a:alphaModFix/>
          </a:blip>
          <a:stretch>
            <a:fillRect/>
          </a:stretch>
        </p:blipFill>
        <p:spPr>
          <a:xfrm>
            <a:off x="803122" y="3810584"/>
            <a:ext cx="1345275" cy="519584"/>
          </a:xfrm>
          <a:prstGeom prst="rect">
            <a:avLst/>
          </a:prstGeom>
          <a:noFill/>
          <a:ln>
            <a:noFill/>
          </a:ln>
        </p:spPr>
      </p:pic>
      <p:pic>
        <p:nvPicPr>
          <p:cNvPr id="265" name="Google Shape;265;g396692e0569_0_0"/>
          <p:cNvPicPr preferRelativeResize="0"/>
          <p:nvPr/>
        </p:nvPicPr>
        <p:blipFill>
          <a:blip r:embed="rId8">
            <a:alphaModFix/>
          </a:blip>
          <a:stretch>
            <a:fillRect/>
          </a:stretch>
        </p:blipFill>
        <p:spPr>
          <a:xfrm>
            <a:off x="1635859" y="1624209"/>
            <a:ext cx="1582650" cy="1582650"/>
          </a:xfrm>
          <a:prstGeom prst="rect">
            <a:avLst/>
          </a:prstGeom>
          <a:noFill/>
          <a:ln>
            <a:noFill/>
          </a:ln>
        </p:spPr>
      </p:pic>
      <p:cxnSp>
        <p:nvCxnSpPr>
          <p:cNvPr id="266" name="Google Shape;266;g396692e0569_0_0"/>
          <p:cNvCxnSpPr/>
          <p:nvPr/>
        </p:nvCxnSpPr>
        <p:spPr>
          <a:xfrm flipH="1" rot="10800000">
            <a:off x="4109850" y="2414688"/>
            <a:ext cx="924300" cy="9300"/>
          </a:xfrm>
          <a:prstGeom prst="straightConnector1">
            <a:avLst/>
          </a:prstGeom>
          <a:noFill/>
          <a:ln cap="flat" cmpd="sng" w="28575">
            <a:solidFill>
              <a:schemeClr val="dk1"/>
            </a:solidFill>
            <a:prstDash val="solid"/>
            <a:round/>
            <a:headEnd len="med" w="med" type="none"/>
            <a:tailEnd len="med" w="med" type="triangle"/>
          </a:ln>
        </p:spPr>
      </p:cxnSp>
      <p:pic>
        <p:nvPicPr>
          <p:cNvPr id="267" name="Google Shape;267;g396692e0569_0_0"/>
          <p:cNvPicPr preferRelativeResize="0"/>
          <p:nvPr/>
        </p:nvPicPr>
        <p:blipFill>
          <a:blip r:embed="rId9">
            <a:alphaModFix/>
          </a:blip>
          <a:stretch>
            <a:fillRect/>
          </a:stretch>
        </p:blipFill>
        <p:spPr>
          <a:xfrm>
            <a:off x="5801575" y="1659775"/>
            <a:ext cx="1823949" cy="1823949"/>
          </a:xfrm>
          <a:prstGeom prst="rect">
            <a:avLst/>
          </a:prstGeom>
          <a:noFill/>
          <a:ln>
            <a:noFill/>
          </a:ln>
        </p:spPr>
      </p:pic>
      <p:sp>
        <p:nvSpPr>
          <p:cNvPr id="268" name="Google Shape;268;g396692e0569_0_0"/>
          <p:cNvSpPr txBox="1"/>
          <p:nvPr/>
        </p:nvSpPr>
        <p:spPr>
          <a:xfrm>
            <a:off x="1385125" y="1038025"/>
            <a:ext cx="2084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rPr>
              <a:t>Literature corpus</a:t>
            </a:r>
            <a:endParaRPr b="1" sz="1800">
              <a:solidFill>
                <a:schemeClr val="dk1"/>
              </a:solidFill>
            </a:endParaRPr>
          </a:p>
        </p:txBody>
      </p:sp>
      <p:sp>
        <p:nvSpPr>
          <p:cNvPr id="269" name="Google Shape;269;g396692e0569_0_0"/>
          <p:cNvSpPr txBox="1"/>
          <p:nvPr/>
        </p:nvSpPr>
        <p:spPr>
          <a:xfrm>
            <a:off x="5671500" y="1038025"/>
            <a:ext cx="2084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Searchable index</a:t>
            </a:r>
            <a:endParaRPr b="1"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1"/>
          <p:cNvSpPr txBox="1"/>
          <p:nvPr/>
        </p:nvSpPr>
        <p:spPr>
          <a:xfrm>
            <a:off x="-50" y="134150"/>
            <a:ext cx="91440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Semantic Scholar: a corpus for AI models in academia</a:t>
            </a:r>
            <a:endParaRPr b="0" i="0" sz="3200" u="none" cap="none" strike="noStrike">
              <a:solidFill>
                <a:schemeClr val="dk1"/>
              </a:solidFill>
              <a:latin typeface="Oswald"/>
              <a:ea typeface="Oswald"/>
              <a:cs typeface="Oswald"/>
              <a:sym typeface="Oswald"/>
            </a:endParaRPr>
          </a:p>
        </p:txBody>
      </p:sp>
      <p:pic>
        <p:nvPicPr>
          <p:cNvPr id="275" name="Google Shape;275;p21"/>
          <p:cNvPicPr preferRelativeResize="0"/>
          <p:nvPr/>
        </p:nvPicPr>
        <p:blipFill rotWithShape="1">
          <a:blip r:embed="rId3">
            <a:alphaModFix/>
          </a:blip>
          <a:srcRect b="39536" l="0" r="0" t="0"/>
          <a:stretch/>
        </p:blipFill>
        <p:spPr>
          <a:xfrm>
            <a:off x="579749" y="1451570"/>
            <a:ext cx="7984502" cy="30056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8904fd917d_0_41"/>
          <p:cNvSpPr txBox="1"/>
          <p:nvPr/>
        </p:nvSpPr>
        <p:spPr>
          <a:xfrm>
            <a:off x="411500" y="344100"/>
            <a:ext cx="84153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Different flavors of AI discovery tools</a:t>
            </a:r>
            <a:endParaRPr b="0" i="0" sz="3200" u="none" cap="none" strike="noStrike">
              <a:solidFill>
                <a:schemeClr val="dk1"/>
              </a:solidFill>
              <a:latin typeface="Oswald"/>
              <a:ea typeface="Oswald"/>
              <a:cs typeface="Oswald"/>
              <a:sym typeface="Oswald"/>
            </a:endParaRPr>
          </a:p>
        </p:txBody>
      </p:sp>
      <p:grpSp>
        <p:nvGrpSpPr>
          <p:cNvPr id="281" name="Google Shape;281;g38904fd917d_0_41"/>
          <p:cNvGrpSpPr/>
          <p:nvPr/>
        </p:nvGrpSpPr>
        <p:grpSpPr>
          <a:xfrm>
            <a:off x="106425" y="108050"/>
            <a:ext cx="476700" cy="502500"/>
            <a:chOff x="95250" y="112575"/>
            <a:chExt cx="476700" cy="502500"/>
          </a:xfrm>
        </p:grpSpPr>
        <p:cxnSp>
          <p:nvCxnSpPr>
            <p:cNvPr id="282" name="Google Shape;282;g38904fd917d_0_41"/>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283" name="Google Shape;283;g38904fd917d_0_41"/>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284" name="Google Shape;284;g38904fd917d_0_41"/>
          <p:cNvGrpSpPr/>
          <p:nvPr/>
        </p:nvGrpSpPr>
        <p:grpSpPr>
          <a:xfrm flipH="1">
            <a:off x="8560875" y="108050"/>
            <a:ext cx="476700" cy="502500"/>
            <a:chOff x="95250" y="112575"/>
            <a:chExt cx="476700" cy="502500"/>
          </a:xfrm>
        </p:grpSpPr>
        <p:cxnSp>
          <p:nvCxnSpPr>
            <p:cNvPr id="285" name="Google Shape;285;g38904fd917d_0_41"/>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286" name="Google Shape;286;g38904fd917d_0_41"/>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287" name="Google Shape;287;g38904fd917d_0_41"/>
          <p:cNvGrpSpPr/>
          <p:nvPr/>
        </p:nvGrpSpPr>
        <p:grpSpPr>
          <a:xfrm rot="-5400000">
            <a:off x="106425" y="4557750"/>
            <a:ext cx="476700" cy="502500"/>
            <a:chOff x="95250" y="112575"/>
            <a:chExt cx="476700" cy="502500"/>
          </a:xfrm>
        </p:grpSpPr>
        <p:cxnSp>
          <p:nvCxnSpPr>
            <p:cNvPr id="288" name="Google Shape;288;g38904fd917d_0_41"/>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289" name="Google Shape;289;g38904fd917d_0_41"/>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290" name="Google Shape;290;g38904fd917d_0_41"/>
          <p:cNvGrpSpPr/>
          <p:nvPr/>
        </p:nvGrpSpPr>
        <p:grpSpPr>
          <a:xfrm rot="10800000">
            <a:off x="8560875" y="4557750"/>
            <a:ext cx="476700" cy="502500"/>
            <a:chOff x="95250" y="112575"/>
            <a:chExt cx="476700" cy="502500"/>
          </a:xfrm>
        </p:grpSpPr>
        <p:cxnSp>
          <p:nvCxnSpPr>
            <p:cNvPr id="291" name="Google Shape;291;g38904fd917d_0_41"/>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292" name="Google Shape;292;g38904fd917d_0_41"/>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293" name="Google Shape;293;g38904fd917d_0_41"/>
          <p:cNvSpPr txBox="1"/>
          <p:nvPr/>
        </p:nvSpPr>
        <p:spPr>
          <a:xfrm>
            <a:off x="583125" y="3133948"/>
            <a:ext cx="2526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Arial"/>
                <a:ea typeface="Arial"/>
                <a:cs typeface="Arial"/>
                <a:sym typeface="Arial"/>
              </a:rPr>
              <a:t>Use their own corpus</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Arial"/>
                <a:ea typeface="Arial"/>
                <a:cs typeface="Arial"/>
                <a:sym typeface="Arial"/>
              </a:rPr>
              <a:t>(like SemanticScholar)</a:t>
            </a:r>
            <a:endParaRPr b="0" i="0" sz="1800" u="none" cap="none" strike="noStrike">
              <a:solidFill>
                <a:schemeClr val="lt1"/>
              </a:solidFill>
              <a:latin typeface="Arial"/>
              <a:ea typeface="Arial"/>
              <a:cs typeface="Arial"/>
              <a:sym typeface="Arial"/>
            </a:endParaRPr>
          </a:p>
        </p:txBody>
      </p:sp>
      <p:sp>
        <p:nvSpPr>
          <p:cNvPr id="294" name="Google Shape;294;g38904fd917d_0_41"/>
          <p:cNvSpPr txBox="1"/>
          <p:nvPr/>
        </p:nvSpPr>
        <p:spPr>
          <a:xfrm>
            <a:off x="3524321" y="3283634"/>
            <a:ext cx="2526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Arial"/>
                <a:ea typeface="Arial"/>
                <a:cs typeface="Arial"/>
                <a:sym typeface="Arial"/>
              </a:rPr>
              <a:t>You upload PDF</a:t>
            </a:r>
            <a:endParaRPr b="0" i="0" sz="1400" u="none" cap="none" strike="noStrike">
              <a:solidFill>
                <a:schemeClr val="lt1"/>
              </a:solidFill>
              <a:latin typeface="Arial"/>
              <a:ea typeface="Arial"/>
              <a:cs typeface="Arial"/>
              <a:sym typeface="Arial"/>
            </a:endParaRPr>
          </a:p>
        </p:txBody>
      </p:sp>
      <p:sp>
        <p:nvSpPr>
          <p:cNvPr id="295" name="Google Shape;295;g38904fd917d_0_41"/>
          <p:cNvSpPr txBox="1"/>
          <p:nvPr/>
        </p:nvSpPr>
        <p:spPr>
          <a:xfrm>
            <a:off x="3391932" y="3133947"/>
            <a:ext cx="2526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Arial"/>
                <a:ea typeface="Arial"/>
                <a:cs typeface="Arial"/>
                <a:sym typeface="Arial"/>
              </a:rPr>
              <a:t>You upload PDF</a:t>
            </a:r>
            <a:br>
              <a:rPr b="0" i="0" lang="en" sz="1800" u="none" cap="none" strike="noStrike">
                <a:solidFill>
                  <a:schemeClr val="lt1"/>
                </a:solidFill>
                <a:latin typeface="Arial"/>
                <a:ea typeface="Arial"/>
                <a:cs typeface="Arial"/>
                <a:sym typeface="Arial"/>
              </a:rPr>
            </a:br>
            <a:r>
              <a:rPr b="0" i="0" lang="en" sz="1800" u="none" cap="none" strike="noStrike">
                <a:solidFill>
                  <a:schemeClr val="lt1"/>
                </a:solidFill>
                <a:latin typeface="Arial"/>
                <a:ea typeface="Arial"/>
                <a:cs typeface="Arial"/>
                <a:sym typeface="Arial"/>
              </a:rPr>
              <a:t>(or copy-paste)</a:t>
            </a:r>
            <a:endParaRPr b="0" i="0" sz="1400" u="none" cap="none" strike="noStrike">
              <a:solidFill>
                <a:schemeClr val="lt1"/>
              </a:solidFill>
              <a:latin typeface="Arial"/>
              <a:ea typeface="Arial"/>
              <a:cs typeface="Arial"/>
              <a:sym typeface="Arial"/>
            </a:endParaRPr>
          </a:p>
        </p:txBody>
      </p:sp>
      <p:sp>
        <p:nvSpPr>
          <p:cNvPr id="296" name="Google Shape;296;g38904fd917d_0_41"/>
          <p:cNvSpPr/>
          <p:nvPr/>
        </p:nvSpPr>
        <p:spPr>
          <a:xfrm>
            <a:off x="1451216" y="1475615"/>
            <a:ext cx="2262000" cy="1353600"/>
          </a:xfrm>
          <a:prstGeom prst="roundRect">
            <a:avLst>
              <a:gd fmla="val 16667" name="adj"/>
            </a:avLst>
          </a:prstGeom>
          <a:solidFill>
            <a:schemeClr val="accent5"/>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Literature</a:t>
            </a:r>
            <a:br>
              <a:rPr b="1" i="0" lang="en" sz="2000" u="none" cap="none" strike="noStrike">
                <a:solidFill>
                  <a:schemeClr val="lt1"/>
                </a:solidFill>
                <a:latin typeface="Arial"/>
                <a:ea typeface="Arial"/>
                <a:cs typeface="Arial"/>
                <a:sym typeface="Arial"/>
              </a:rPr>
            </a:br>
            <a:r>
              <a:rPr b="1" i="0" lang="en" sz="2000" u="none" cap="none" strike="noStrike">
                <a:solidFill>
                  <a:schemeClr val="lt1"/>
                </a:solidFill>
                <a:latin typeface="Arial"/>
                <a:ea typeface="Arial"/>
                <a:cs typeface="Arial"/>
                <a:sym typeface="Arial"/>
              </a:rPr>
              <a:t>Discovery</a:t>
            </a:r>
            <a:br>
              <a:rPr b="1" i="0" lang="en" sz="2000" u="none" cap="none" strike="noStrike">
                <a:solidFill>
                  <a:schemeClr val="lt1"/>
                </a:solidFill>
                <a:latin typeface="Arial"/>
                <a:ea typeface="Arial"/>
                <a:cs typeface="Arial"/>
                <a:sym typeface="Arial"/>
              </a:rPr>
            </a:br>
            <a:r>
              <a:rPr b="1" i="0" lang="en" sz="2000" u="none" cap="none" strike="noStrike">
                <a:solidFill>
                  <a:schemeClr val="lt1"/>
                </a:solidFill>
                <a:latin typeface="Arial"/>
                <a:ea typeface="Arial"/>
                <a:cs typeface="Arial"/>
                <a:sym typeface="Arial"/>
              </a:rPr>
              <a:t>Via Chatbot</a:t>
            </a:r>
            <a:endParaRPr b="1" i="0" sz="1400" u="none" cap="none" strike="noStrike">
              <a:solidFill>
                <a:schemeClr val="lt1"/>
              </a:solidFill>
              <a:latin typeface="Arial"/>
              <a:ea typeface="Arial"/>
              <a:cs typeface="Arial"/>
              <a:sym typeface="Arial"/>
            </a:endParaRPr>
          </a:p>
        </p:txBody>
      </p:sp>
      <p:sp>
        <p:nvSpPr>
          <p:cNvPr id="297" name="Google Shape;297;g38904fd917d_0_41"/>
          <p:cNvSpPr/>
          <p:nvPr/>
        </p:nvSpPr>
        <p:spPr>
          <a:xfrm>
            <a:off x="5441575" y="1475610"/>
            <a:ext cx="2262000" cy="1353600"/>
          </a:xfrm>
          <a:prstGeom prst="roundRect">
            <a:avLst>
              <a:gd fmla="val 16667" name="adj"/>
            </a:avLst>
          </a:prstGeom>
          <a:solidFill>
            <a:schemeClr val="accent5"/>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Literature connectors </a:t>
            </a:r>
            <a:endParaRPr b="1" i="0" sz="1400" u="none" cap="none" strike="noStrike">
              <a:solidFill>
                <a:schemeClr val="lt1"/>
              </a:solidFill>
              <a:latin typeface="Arial"/>
              <a:ea typeface="Arial"/>
              <a:cs typeface="Arial"/>
              <a:sym typeface="Arial"/>
            </a:endParaRPr>
          </a:p>
        </p:txBody>
      </p:sp>
      <p:pic>
        <p:nvPicPr>
          <p:cNvPr descr="Image of ResearchRabbit logo" id="298" name="Google Shape;298;g38904fd917d_0_41"/>
          <p:cNvPicPr preferRelativeResize="0"/>
          <p:nvPr/>
        </p:nvPicPr>
        <p:blipFill rotWithShape="1">
          <a:blip r:embed="rId3">
            <a:alphaModFix/>
          </a:blip>
          <a:srcRect b="5482" l="19058" r="18946" t="0"/>
          <a:stretch/>
        </p:blipFill>
        <p:spPr>
          <a:xfrm>
            <a:off x="5441576" y="3133950"/>
            <a:ext cx="2105076" cy="801725"/>
          </a:xfrm>
          <a:prstGeom prst="rect">
            <a:avLst/>
          </a:prstGeom>
          <a:noFill/>
          <a:ln>
            <a:noFill/>
          </a:ln>
        </p:spPr>
      </p:pic>
      <p:pic>
        <p:nvPicPr>
          <p:cNvPr descr="Image of perplexity.ai logo" id="299" name="Google Shape;299;g38904fd917d_0_41"/>
          <p:cNvPicPr preferRelativeResize="0"/>
          <p:nvPr/>
        </p:nvPicPr>
        <p:blipFill rotWithShape="1">
          <a:blip r:embed="rId4">
            <a:alphaModFix/>
          </a:blip>
          <a:srcRect b="0" l="0" r="0" t="0"/>
          <a:stretch/>
        </p:blipFill>
        <p:spPr>
          <a:xfrm>
            <a:off x="1171812" y="3074025"/>
            <a:ext cx="2638075" cy="578900"/>
          </a:xfrm>
          <a:prstGeom prst="rect">
            <a:avLst/>
          </a:prstGeom>
          <a:noFill/>
          <a:ln>
            <a:noFill/>
          </a:ln>
        </p:spPr>
      </p:pic>
      <p:pic>
        <p:nvPicPr>
          <p:cNvPr id="300" name="Google Shape;300;g38904fd917d_0_41" title="Screenshot 2025-09-22 at 20.06.29.png"/>
          <p:cNvPicPr preferRelativeResize="0"/>
          <p:nvPr/>
        </p:nvPicPr>
        <p:blipFill rotWithShape="1">
          <a:blip r:embed="rId5">
            <a:alphaModFix/>
          </a:blip>
          <a:srcRect b="0" l="0" r="0" t="0"/>
          <a:stretch/>
        </p:blipFill>
        <p:spPr>
          <a:xfrm>
            <a:off x="1806634" y="3780447"/>
            <a:ext cx="1497433" cy="677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840b7833a0_0_0"/>
          <p:cNvSpPr txBox="1"/>
          <p:nvPr/>
        </p:nvSpPr>
        <p:spPr>
          <a:xfrm>
            <a:off x="452200" y="134150"/>
            <a:ext cx="55146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Chatbots for Literature Discovery</a:t>
            </a:r>
            <a:endParaRPr b="0" i="0" sz="3200" u="none" cap="none" strike="noStrike">
              <a:solidFill>
                <a:schemeClr val="dk1"/>
              </a:solidFill>
              <a:latin typeface="Oswald"/>
              <a:ea typeface="Oswald"/>
              <a:cs typeface="Oswald"/>
              <a:sym typeface="Oswald"/>
            </a:endParaRPr>
          </a:p>
        </p:txBody>
      </p:sp>
      <p:grpSp>
        <p:nvGrpSpPr>
          <p:cNvPr id="306" name="Google Shape;306;g3840b7833a0_0_0"/>
          <p:cNvGrpSpPr/>
          <p:nvPr/>
        </p:nvGrpSpPr>
        <p:grpSpPr>
          <a:xfrm rot="-5400000">
            <a:off x="106425" y="4557750"/>
            <a:ext cx="476700" cy="502500"/>
            <a:chOff x="95250" y="112575"/>
            <a:chExt cx="476700" cy="502500"/>
          </a:xfrm>
        </p:grpSpPr>
        <p:cxnSp>
          <p:nvCxnSpPr>
            <p:cNvPr id="307" name="Google Shape;307;g3840b7833a0_0_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308" name="Google Shape;308;g3840b7833a0_0_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309" name="Google Shape;309;g3840b7833a0_0_0"/>
          <p:cNvGrpSpPr/>
          <p:nvPr/>
        </p:nvGrpSpPr>
        <p:grpSpPr>
          <a:xfrm rot="10800000">
            <a:off x="8560875" y="4557750"/>
            <a:ext cx="476700" cy="502500"/>
            <a:chOff x="95250" y="112575"/>
            <a:chExt cx="476700" cy="502500"/>
          </a:xfrm>
        </p:grpSpPr>
        <p:cxnSp>
          <p:nvCxnSpPr>
            <p:cNvPr id="310" name="Google Shape;310;g3840b7833a0_0_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311" name="Google Shape;311;g3840b7833a0_0_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pic>
        <p:nvPicPr>
          <p:cNvPr descr="Screenshot of perplexity.ai prompt area" id="312" name="Google Shape;312;g3840b7833a0_0_0"/>
          <p:cNvPicPr preferRelativeResize="0"/>
          <p:nvPr/>
        </p:nvPicPr>
        <p:blipFill rotWithShape="1">
          <a:blip r:embed="rId3">
            <a:alphaModFix/>
          </a:blip>
          <a:srcRect b="2267" l="729" r="2032" t="0"/>
          <a:stretch/>
        </p:blipFill>
        <p:spPr>
          <a:xfrm>
            <a:off x="2193207" y="2196225"/>
            <a:ext cx="4757604" cy="1419475"/>
          </a:xfrm>
          <a:prstGeom prst="rect">
            <a:avLst/>
          </a:prstGeom>
          <a:noFill/>
          <a:ln cap="flat" cmpd="sng" w="9525">
            <a:solidFill>
              <a:srgbClr val="D9D9D9"/>
            </a:solidFill>
            <a:prstDash val="solid"/>
            <a:round/>
            <a:headEnd len="sm" w="sm" type="none"/>
            <a:tailEnd len="sm" w="sm" type="none"/>
          </a:ln>
        </p:spPr>
      </p:pic>
      <p:pic>
        <p:nvPicPr>
          <p:cNvPr descr="Image of perplexity.ai logo" id="313" name="Google Shape;313;g3840b7833a0_0_0"/>
          <p:cNvPicPr preferRelativeResize="0"/>
          <p:nvPr/>
        </p:nvPicPr>
        <p:blipFill rotWithShape="1">
          <a:blip r:embed="rId4">
            <a:alphaModFix/>
          </a:blip>
          <a:srcRect b="0" l="0" r="0" t="0"/>
          <a:stretch/>
        </p:blipFill>
        <p:spPr>
          <a:xfrm>
            <a:off x="3252962" y="1527800"/>
            <a:ext cx="2638075" cy="578900"/>
          </a:xfrm>
          <a:prstGeom prst="rect">
            <a:avLst/>
          </a:prstGeom>
          <a:noFill/>
          <a:ln>
            <a:noFill/>
          </a:ln>
        </p:spPr>
      </p:pic>
      <p:pic>
        <p:nvPicPr>
          <p:cNvPr descr="Image of Consensus logo" id="314" name="Google Shape;314;g3840b7833a0_0_0"/>
          <p:cNvPicPr preferRelativeResize="0"/>
          <p:nvPr/>
        </p:nvPicPr>
        <p:blipFill rotWithShape="1">
          <a:blip r:embed="rId5">
            <a:alphaModFix/>
          </a:blip>
          <a:srcRect b="0" l="0" r="0" t="0"/>
          <a:stretch/>
        </p:blipFill>
        <p:spPr>
          <a:xfrm>
            <a:off x="1677262" y="3931275"/>
            <a:ext cx="1531817" cy="868725"/>
          </a:xfrm>
          <a:prstGeom prst="rect">
            <a:avLst/>
          </a:prstGeom>
          <a:noFill/>
          <a:ln>
            <a:noFill/>
          </a:ln>
        </p:spPr>
      </p:pic>
      <p:pic>
        <p:nvPicPr>
          <p:cNvPr id="315" name="Google Shape;315;g3840b7833a0_0_0" title="Screenshot 2025-09-22 at 20.06.29.png"/>
          <p:cNvPicPr preferRelativeResize="0"/>
          <p:nvPr/>
        </p:nvPicPr>
        <p:blipFill rotWithShape="1">
          <a:blip r:embed="rId6">
            <a:alphaModFix/>
          </a:blip>
          <a:srcRect b="0" l="0" r="0" t="0"/>
          <a:stretch/>
        </p:blipFill>
        <p:spPr>
          <a:xfrm>
            <a:off x="4789604" y="3870338"/>
            <a:ext cx="2190750" cy="990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3"/>
          <p:cNvSpPr txBox="1"/>
          <p:nvPr/>
        </p:nvSpPr>
        <p:spPr>
          <a:xfrm>
            <a:off x="127450" y="134150"/>
            <a:ext cx="82476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Activity - Comparison of discovery tools</a:t>
            </a:r>
            <a:endParaRPr b="0" i="0" sz="3200" u="none" cap="none" strike="noStrike">
              <a:solidFill>
                <a:schemeClr val="dk1"/>
              </a:solidFill>
              <a:latin typeface="Oswald"/>
              <a:ea typeface="Oswald"/>
              <a:cs typeface="Oswald"/>
              <a:sym typeface="Oswald"/>
            </a:endParaRPr>
          </a:p>
        </p:txBody>
      </p:sp>
      <p:sp>
        <p:nvSpPr>
          <p:cNvPr id="321" name="Google Shape;321;p23"/>
          <p:cNvSpPr txBox="1"/>
          <p:nvPr/>
        </p:nvSpPr>
        <p:spPr>
          <a:xfrm>
            <a:off x="261900" y="2463600"/>
            <a:ext cx="8113200" cy="1929300"/>
          </a:xfrm>
          <a:prstGeom prst="rect">
            <a:avLst/>
          </a:prstGeom>
          <a:noFill/>
          <a:ln cap="flat" cmpd="sng" w="9525">
            <a:solidFill>
              <a:srgbClr val="0097A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i="1" lang="en" sz="1500">
                <a:solidFill>
                  <a:schemeClr val="dk1"/>
                </a:solidFill>
                <a:latin typeface="Corbel"/>
                <a:ea typeface="Corbel"/>
                <a:cs typeface="Corbel"/>
                <a:sym typeface="Corbel"/>
              </a:rPr>
              <a:t>“</a:t>
            </a:r>
            <a:r>
              <a:rPr b="0" i="1" lang="en" sz="1500" u="none" cap="none" strike="noStrike">
                <a:solidFill>
                  <a:schemeClr val="dk1"/>
                </a:solidFill>
                <a:latin typeface="Corbel"/>
                <a:ea typeface="Corbel"/>
                <a:cs typeface="Corbel"/>
                <a:sym typeface="Corbel"/>
              </a:rPr>
              <a:t>Try to come up with concrete practical recipes which would help to make training material FAIR.</a:t>
            </a:r>
            <a:r>
              <a:rPr i="1" lang="en" sz="1500">
                <a:solidFill>
                  <a:schemeClr val="dk1"/>
                </a:solidFill>
                <a:latin typeface="Corbel"/>
                <a:ea typeface="Corbel"/>
                <a:cs typeface="Corbel"/>
                <a:sym typeface="Corbel"/>
              </a:rPr>
              <a:t>”</a:t>
            </a:r>
            <a:endParaRPr b="1" i="0" sz="1500" u="none" cap="none" strike="noStrike">
              <a:solidFill>
                <a:schemeClr val="accent5"/>
              </a:solidFill>
              <a:latin typeface="Corbel"/>
              <a:ea typeface="Corbel"/>
              <a:cs typeface="Corbel"/>
              <a:sym typeface="Corbel"/>
            </a:endParaRPr>
          </a:p>
          <a:p>
            <a:pPr indent="0" lvl="0" marL="0" marR="0" rtl="0" algn="l">
              <a:lnSpc>
                <a:spcPct val="150000"/>
              </a:lnSpc>
              <a:spcBef>
                <a:spcPts val="1000"/>
              </a:spcBef>
              <a:spcAft>
                <a:spcPts val="0"/>
              </a:spcAft>
              <a:buClr>
                <a:schemeClr val="dk1"/>
              </a:buClr>
              <a:buSzPts val="1100"/>
              <a:buFont typeface="Arial"/>
              <a:buNone/>
            </a:pPr>
            <a:r>
              <a:rPr b="1" i="1" lang="en" sz="1500" u="none" cap="none" strike="noStrike">
                <a:solidFill>
                  <a:schemeClr val="accent5"/>
                </a:solidFill>
                <a:latin typeface="Corbel"/>
                <a:ea typeface="Corbel"/>
                <a:cs typeface="Corbel"/>
                <a:sym typeface="Corbel"/>
              </a:rPr>
              <a:t>Questions to address:</a:t>
            </a:r>
            <a:endParaRPr b="1" i="1" sz="1500" u="none" cap="none" strike="noStrike">
              <a:solidFill>
                <a:schemeClr val="accent5"/>
              </a:solidFill>
              <a:latin typeface="Corbel"/>
              <a:ea typeface="Corbel"/>
              <a:cs typeface="Corbel"/>
              <a:sym typeface="Corbel"/>
            </a:endParaRPr>
          </a:p>
          <a:p>
            <a:pPr indent="0" lvl="0" marL="0" marR="0" rtl="0" algn="l">
              <a:lnSpc>
                <a:spcPct val="150000"/>
              </a:lnSpc>
              <a:spcBef>
                <a:spcPts val="0"/>
              </a:spcBef>
              <a:spcAft>
                <a:spcPts val="0"/>
              </a:spcAft>
              <a:buClr>
                <a:schemeClr val="dk1"/>
              </a:buClr>
              <a:buSzPts val="1100"/>
              <a:buFont typeface="Arial"/>
              <a:buNone/>
            </a:pPr>
            <a:r>
              <a:rPr b="0" i="1" lang="en" sz="1500" u="none" cap="none" strike="noStrike">
                <a:solidFill>
                  <a:schemeClr val="dk1"/>
                </a:solidFill>
                <a:latin typeface="Corbel"/>
                <a:ea typeface="Corbel"/>
                <a:cs typeface="Corbel"/>
                <a:sym typeface="Corbel"/>
              </a:rPr>
              <a:t>How to make training events and material more findable, accessible, interoperable and re-usable?</a:t>
            </a:r>
            <a:endParaRPr b="0" i="1" sz="1500" u="none" cap="none" strike="noStrike">
              <a:solidFill>
                <a:schemeClr val="dk1"/>
              </a:solidFill>
              <a:latin typeface="Corbel"/>
              <a:ea typeface="Corbel"/>
              <a:cs typeface="Corbel"/>
              <a:sym typeface="Corbel"/>
            </a:endParaRPr>
          </a:p>
          <a:p>
            <a:pPr indent="0" lvl="0" marL="0" marR="0" rtl="0" algn="l">
              <a:lnSpc>
                <a:spcPct val="150000"/>
              </a:lnSpc>
              <a:spcBef>
                <a:spcPts val="0"/>
              </a:spcBef>
              <a:spcAft>
                <a:spcPts val="0"/>
              </a:spcAft>
              <a:buClr>
                <a:schemeClr val="dk1"/>
              </a:buClr>
              <a:buSzPts val="1100"/>
              <a:buFont typeface="Arial"/>
              <a:buNone/>
            </a:pPr>
            <a:r>
              <a:rPr b="0" i="1" lang="en" sz="1500" u="none" cap="none" strike="noStrike">
                <a:solidFill>
                  <a:schemeClr val="dk1"/>
                </a:solidFill>
                <a:latin typeface="Corbel"/>
                <a:ea typeface="Corbel"/>
                <a:cs typeface="Corbel"/>
                <a:sym typeface="Corbel"/>
              </a:rPr>
              <a:t>List practical recipes to make training events and material more findable, accessible, interoperable and re-usable.</a:t>
            </a:r>
            <a:endParaRPr b="0" i="1" sz="1800" u="none" cap="none" strike="noStrike">
              <a:solidFill>
                <a:schemeClr val="dk1"/>
              </a:solidFill>
              <a:latin typeface="Oswald"/>
              <a:ea typeface="Oswald"/>
              <a:cs typeface="Oswald"/>
              <a:sym typeface="Oswald"/>
            </a:endParaRPr>
          </a:p>
        </p:txBody>
      </p:sp>
      <p:sp>
        <p:nvSpPr>
          <p:cNvPr id="322" name="Google Shape;322;p23"/>
          <p:cNvSpPr txBox="1"/>
          <p:nvPr/>
        </p:nvSpPr>
        <p:spPr>
          <a:xfrm>
            <a:off x="261900" y="1056250"/>
            <a:ext cx="8423700" cy="11082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chemeClr val="dk1"/>
              </a:buClr>
              <a:buSzPts val="1500"/>
              <a:buFont typeface="Corbel"/>
              <a:buChar char="●"/>
            </a:pPr>
            <a:r>
              <a:rPr lang="en" sz="1500">
                <a:solidFill>
                  <a:schemeClr val="dk1"/>
                </a:solidFill>
                <a:latin typeface="Corbel"/>
                <a:ea typeface="Corbel"/>
                <a:cs typeface="Corbel"/>
                <a:sym typeface="Corbel"/>
              </a:rPr>
              <a:t>Open your browser and surf to </a:t>
            </a:r>
            <a:r>
              <a:rPr lang="en" sz="1500" u="sng">
                <a:solidFill>
                  <a:schemeClr val="accent5"/>
                </a:solidFill>
                <a:latin typeface="Corbel"/>
                <a:ea typeface="Corbel"/>
                <a:cs typeface="Corbel"/>
                <a:sym typeface="Corbel"/>
                <a:hlinkClick r:id="rId3">
                  <a:extLst>
                    <a:ext uri="{A12FA001-AC4F-418D-AE19-62706E023703}">
                      <ahyp:hlinkClr val="tx"/>
                    </a:ext>
                  </a:extLst>
                </a:hlinkClick>
              </a:rPr>
              <a:t>https://perplexity.ai</a:t>
            </a:r>
            <a:r>
              <a:rPr lang="en" sz="1500">
                <a:solidFill>
                  <a:schemeClr val="dk1"/>
                </a:solidFill>
                <a:latin typeface="Corbel"/>
                <a:ea typeface="Corbel"/>
                <a:cs typeface="Corbel"/>
                <a:sym typeface="Corbel"/>
              </a:rPr>
              <a:t> </a:t>
            </a:r>
            <a:endParaRPr sz="1500">
              <a:solidFill>
                <a:schemeClr val="dk1"/>
              </a:solidFill>
              <a:latin typeface="Corbel"/>
              <a:ea typeface="Corbel"/>
              <a:cs typeface="Corbel"/>
              <a:sym typeface="Corbel"/>
            </a:endParaRPr>
          </a:p>
          <a:p>
            <a:pPr indent="-323850" lvl="0" marL="457200" rtl="0" algn="l">
              <a:lnSpc>
                <a:spcPct val="150000"/>
              </a:lnSpc>
              <a:spcBef>
                <a:spcPts val="0"/>
              </a:spcBef>
              <a:spcAft>
                <a:spcPts val="0"/>
              </a:spcAft>
              <a:buClr>
                <a:schemeClr val="dk1"/>
              </a:buClr>
              <a:buSzPts val="1500"/>
              <a:buFont typeface="Corbel"/>
              <a:buChar char="●"/>
            </a:pPr>
            <a:r>
              <a:rPr lang="en" sz="1500">
                <a:solidFill>
                  <a:schemeClr val="dk1"/>
                </a:solidFill>
                <a:latin typeface="Corbel"/>
                <a:ea typeface="Corbel"/>
                <a:cs typeface="Corbel"/>
                <a:sym typeface="Corbel"/>
              </a:rPr>
              <a:t>Ask details about a research topic that interests you (scientific topic you want to discover, something you want to write a report on, something you recently worked on, …)</a:t>
            </a:r>
            <a:endParaRPr sz="1500">
              <a:solidFill>
                <a:schemeClr val="dk1"/>
              </a:solidFill>
              <a:latin typeface="Corbel"/>
              <a:ea typeface="Corbel"/>
              <a:cs typeface="Corbel"/>
              <a:sym typeface="Corbe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4"/>
          <p:cNvSpPr txBox="1"/>
          <p:nvPr/>
        </p:nvSpPr>
        <p:spPr>
          <a:xfrm>
            <a:off x="127450" y="134150"/>
            <a:ext cx="88821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Interrogate new tools that have a chatbot</a:t>
            </a:r>
            <a:endParaRPr b="0" i="0" sz="3200" u="none" cap="none" strike="noStrike">
              <a:solidFill>
                <a:schemeClr val="dk1"/>
              </a:solidFill>
              <a:latin typeface="Oswald"/>
              <a:ea typeface="Oswald"/>
              <a:cs typeface="Oswald"/>
              <a:sym typeface="Oswald"/>
            </a:endParaRPr>
          </a:p>
        </p:txBody>
      </p:sp>
      <p:sp>
        <p:nvSpPr>
          <p:cNvPr id="328" name="Google Shape;328;p24"/>
          <p:cNvSpPr txBox="1"/>
          <p:nvPr/>
        </p:nvSpPr>
        <p:spPr>
          <a:xfrm>
            <a:off x="261900" y="811245"/>
            <a:ext cx="8882100" cy="338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chemeClr val="dk1"/>
              </a:solidFill>
              <a:latin typeface="Oswald"/>
              <a:ea typeface="Oswald"/>
              <a:cs typeface="Oswald"/>
              <a:sym typeface="Oswald"/>
            </a:endParaRPr>
          </a:p>
          <a:p>
            <a:pPr indent="-355600" lvl="0" marL="457200" marR="0" rtl="0" algn="l">
              <a:lnSpc>
                <a:spcPct val="100000"/>
              </a:lnSpc>
              <a:spcBef>
                <a:spcPts val="0"/>
              </a:spcBef>
              <a:spcAft>
                <a:spcPts val="0"/>
              </a:spcAft>
              <a:buClr>
                <a:schemeClr val="accent5"/>
              </a:buClr>
              <a:buSzPts val="2000"/>
              <a:buFont typeface="Oswald"/>
              <a:buChar char="●"/>
            </a:pPr>
            <a:r>
              <a:rPr lang="en" sz="1700">
                <a:solidFill>
                  <a:schemeClr val="dk1"/>
                </a:solidFill>
                <a:latin typeface="Corbel"/>
                <a:ea typeface="Corbel"/>
                <a:cs typeface="Corbel"/>
                <a:sym typeface="Corbel"/>
              </a:rPr>
              <a:t>Want to know more about a new tool? → Ask Perplexity, </a:t>
            </a:r>
            <a:r>
              <a:rPr i="1" lang="en" sz="1700">
                <a:solidFill>
                  <a:schemeClr val="dk1"/>
                </a:solidFill>
                <a:latin typeface="Corbel"/>
                <a:ea typeface="Corbel"/>
                <a:cs typeface="Corbel"/>
                <a:sym typeface="Corbel"/>
              </a:rPr>
              <a:t>or the tool itself</a:t>
            </a:r>
            <a:endParaRPr i="1" sz="1700">
              <a:solidFill>
                <a:schemeClr val="dk1"/>
              </a:solidFill>
              <a:latin typeface="Corbel"/>
              <a:ea typeface="Corbel"/>
              <a:cs typeface="Corbel"/>
              <a:sym typeface="Corbel"/>
            </a:endParaRPr>
          </a:p>
          <a:p>
            <a:pPr indent="0" lvl="0" marL="0" marR="0" rtl="0" algn="l">
              <a:lnSpc>
                <a:spcPct val="100000"/>
              </a:lnSpc>
              <a:spcBef>
                <a:spcPts val="0"/>
              </a:spcBef>
              <a:spcAft>
                <a:spcPts val="0"/>
              </a:spcAft>
              <a:buNone/>
            </a:pPr>
            <a:r>
              <a:t/>
            </a:r>
            <a:endParaRPr i="1" sz="1700">
              <a:solidFill>
                <a:schemeClr val="dk1"/>
              </a:solidFill>
              <a:latin typeface="Corbel"/>
              <a:ea typeface="Corbel"/>
              <a:cs typeface="Corbel"/>
              <a:sym typeface="Corbel"/>
            </a:endParaRPr>
          </a:p>
          <a:p>
            <a:pPr indent="0" lvl="0" marL="0" marR="0" rtl="0" algn="l">
              <a:lnSpc>
                <a:spcPct val="100000"/>
              </a:lnSpc>
              <a:spcBef>
                <a:spcPts val="0"/>
              </a:spcBef>
              <a:spcAft>
                <a:spcPts val="0"/>
              </a:spcAft>
              <a:buNone/>
            </a:pPr>
            <a:r>
              <a:t/>
            </a:r>
            <a:endParaRPr i="1" sz="1700">
              <a:solidFill>
                <a:schemeClr val="dk1"/>
              </a:solidFill>
              <a:latin typeface="Corbel"/>
              <a:ea typeface="Corbel"/>
              <a:cs typeface="Corbel"/>
              <a:sym typeface="Corbel"/>
            </a:endParaRPr>
          </a:p>
          <a:p>
            <a:pPr indent="-228600" lvl="0" marL="457200" marR="0" rtl="0" algn="l">
              <a:lnSpc>
                <a:spcPct val="100000"/>
              </a:lnSpc>
              <a:spcBef>
                <a:spcPts val="0"/>
              </a:spcBef>
              <a:spcAft>
                <a:spcPts val="0"/>
              </a:spcAft>
              <a:buClr>
                <a:srgbClr val="F3F3F3"/>
              </a:buClr>
              <a:buSzPts val="1800"/>
              <a:buFont typeface="Oswald"/>
              <a:buNone/>
            </a:pPr>
            <a:r>
              <a:t/>
            </a:r>
            <a:endParaRPr sz="1700">
              <a:solidFill>
                <a:schemeClr val="dk1"/>
              </a:solidFill>
              <a:latin typeface="Corbel"/>
              <a:ea typeface="Corbel"/>
              <a:cs typeface="Corbel"/>
              <a:sym typeface="Corbel"/>
            </a:endParaRPr>
          </a:p>
          <a:p>
            <a:pPr indent="-228600" lvl="0" marL="457200" marR="0" rtl="0" algn="l">
              <a:lnSpc>
                <a:spcPct val="100000"/>
              </a:lnSpc>
              <a:spcBef>
                <a:spcPts val="0"/>
              </a:spcBef>
              <a:spcAft>
                <a:spcPts val="0"/>
              </a:spcAft>
              <a:buClr>
                <a:srgbClr val="F3F3F3"/>
              </a:buClr>
              <a:buSzPts val="1800"/>
              <a:buFont typeface="Oswald"/>
              <a:buNone/>
            </a:pPr>
            <a:r>
              <a:t/>
            </a:r>
            <a:endParaRPr sz="1700">
              <a:solidFill>
                <a:schemeClr val="dk1"/>
              </a:solidFill>
              <a:latin typeface="Corbel"/>
              <a:ea typeface="Corbel"/>
              <a:cs typeface="Corbel"/>
              <a:sym typeface="Corbel"/>
            </a:endParaRPr>
          </a:p>
          <a:p>
            <a:pPr indent="-355600" lvl="0" marL="457200" marR="0" rtl="0" algn="l">
              <a:lnSpc>
                <a:spcPct val="100000"/>
              </a:lnSpc>
              <a:spcBef>
                <a:spcPts val="0"/>
              </a:spcBef>
              <a:spcAft>
                <a:spcPts val="0"/>
              </a:spcAft>
              <a:buClr>
                <a:schemeClr val="accent5"/>
              </a:buClr>
              <a:buSzPts val="2000"/>
              <a:buFont typeface="Oswald"/>
              <a:buChar char="●"/>
            </a:pPr>
            <a:r>
              <a:rPr b="0" i="0" lang="en" sz="1700" u="none" cap="none" strike="noStrike">
                <a:solidFill>
                  <a:schemeClr val="dk1"/>
                </a:solidFill>
                <a:latin typeface="Corbel"/>
                <a:ea typeface="Corbel"/>
                <a:cs typeface="Corbel"/>
                <a:sym typeface="Corbel"/>
              </a:rPr>
              <a:t>What can you do for free and what can you do with paid accounts?</a:t>
            </a:r>
            <a:endParaRPr b="0" i="0" sz="1700" u="none" cap="none" strike="noStrike">
              <a:solidFill>
                <a:schemeClr val="dk1"/>
              </a:solidFill>
              <a:latin typeface="Corbel"/>
              <a:ea typeface="Corbel"/>
              <a:cs typeface="Corbel"/>
              <a:sym typeface="Corbel"/>
            </a:endParaRPr>
          </a:p>
          <a:p>
            <a:pPr indent="-355600" lvl="0" marL="457200" marR="0" rtl="0" algn="l">
              <a:lnSpc>
                <a:spcPct val="100000"/>
              </a:lnSpc>
              <a:spcBef>
                <a:spcPts val="0"/>
              </a:spcBef>
              <a:spcAft>
                <a:spcPts val="0"/>
              </a:spcAft>
              <a:buClr>
                <a:schemeClr val="accent5"/>
              </a:buClr>
              <a:buSzPts val="2000"/>
              <a:buFont typeface="Oswald"/>
              <a:buChar char="●"/>
            </a:pPr>
            <a:r>
              <a:rPr b="0" i="0" lang="en" sz="1700" u="none" cap="none" strike="noStrike">
                <a:solidFill>
                  <a:schemeClr val="dk1"/>
                </a:solidFill>
                <a:latin typeface="Corbel"/>
                <a:ea typeface="Corbel"/>
                <a:cs typeface="Corbel"/>
                <a:sym typeface="Corbel"/>
              </a:rPr>
              <a:t>What are the data sources the to</a:t>
            </a:r>
            <a:r>
              <a:rPr lang="en" sz="1700">
                <a:solidFill>
                  <a:schemeClr val="dk1"/>
                </a:solidFill>
                <a:latin typeface="Corbel"/>
                <a:ea typeface="Corbel"/>
                <a:cs typeface="Corbel"/>
                <a:sym typeface="Corbel"/>
              </a:rPr>
              <a:t>ol is u</a:t>
            </a:r>
            <a:r>
              <a:rPr b="0" i="0" lang="en" sz="1700" u="none" cap="none" strike="noStrike">
                <a:solidFill>
                  <a:schemeClr val="dk1"/>
                </a:solidFill>
                <a:latin typeface="Corbel"/>
                <a:ea typeface="Corbel"/>
                <a:cs typeface="Corbel"/>
                <a:sym typeface="Corbel"/>
              </a:rPr>
              <a:t>sing?</a:t>
            </a:r>
            <a:endParaRPr b="0" i="0" sz="1700" u="none" cap="none" strike="noStrike">
              <a:solidFill>
                <a:schemeClr val="dk1"/>
              </a:solidFill>
              <a:latin typeface="Corbel"/>
              <a:ea typeface="Corbel"/>
              <a:cs typeface="Corbel"/>
              <a:sym typeface="Corbel"/>
            </a:endParaRPr>
          </a:p>
          <a:p>
            <a:pPr indent="-355600" lvl="0" marL="457200" marR="0" rtl="0" algn="l">
              <a:lnSpc>
                <a:spcPct val="100000"/>
              </a:lnSpc>
              <a:spcBef>
                <a:spcPts val="0"/>
              </a:spcBef>
              <a:spcAft>
                <a:spcPts val="0"/>
              </a:spcAft>
              <a:buClr>
                <a:schemeClr val="accent5"/>
              </a:buClr>
              <a:buSzPts val="2000"/>
              <a:buFont typeface="Oswald"/>
              <a:buChar char="●"/>
            </a:pPr>
            <a:r>
              <a:rPr b="0" i="0" lang="en" sz="1700" u="none" cap="none" strike="noStrike">
                <a:solidFill>
                  <a:schemeClr val="dk1"/>
                </a:solidFill>
                <a:latin typeface="Corbel"/>
                <a:ea typeface="Corbel"/>
                <a:cs typeface="Corbel"/>
                <a:sym typeface="Corbel"/>
              </a:rPr>
              <a:t>What models is the tool relying on?</a:t>
            </a:r>
            <a:endParaRPr b="0" i="0" sz="1700" u="none" cap="none" strike="noStrike">
              <a:solidFill>
                <a:schemeClr val="dk1"/>
              </a:solidFill>
              <a:latin typeface="Corbel"/>
              <a:ea typeface="Corbel"/>
              <a:cs typeface="Corbel"/>
              <a:sym typeface="Corbel"/>
            </a:endParaRPr>
          </a:p>
          <a:p>
            <a:pPr indent="-355600" lvl="0" marL="457200" marR="0" rtl="0" algn="l">
              <a:lnSpc>
                <a:spcPct val="100000"/>
              </a:lnSpc>
              <a:spcBef>
                <a:spcPts val="0"/>
              </a:spcBef>
              <a:spcAft>
                <a:spcPts val="0"/>
              </a:spcAft>
              <a:buClr>
                <a:schemeClr val="accent5"/>
              </a:buClr>
              <a:buSzPts val="2000"/>
              <a:buFont typeface="Oswald"/>
              <a:buChar char="●"/>
            </a:pPr>
            <a:r>
              <a:rPr b="0" i="0" lang="en" sz="1700" u="none" cap="none" strike="noStrike">
                <a:solidFill>
                  <a:schemeClr val="dk1"/>
                </a:solidFill>
                <a:latin typeface="Corbel"/>
                <a:ea typeface="Corbel"/>
                <a:cs typeface="Corbel"/>
                <a:sym typeface="Corbel"/>
              </a:rPr>
              <a:t>What other things will this tool do?</a:t>
            </a:r>
            <a:r>
              <a:rPr lang="en" sz="1700">
                <a:solidFill>
                  <a:schemeClr val="dk1"/>
                </a:solidFill>
                <a:latin typeface="Corbel"/>
                <a:ea typeface="Corbel"/>
                <a:cs typeface="Corbel"/>
                <a:sym typeface="Corbel"/>
              </a:rPr>
              <a:t> (</a:t>
            </a:r>
            <a:r>
              <a:rPr b="0" i="0" lang="en" sz="1700" u="none" cap="none" strike="noStrike">
                <a:solidFill>
                  <a:schemeClr val="dk1"/>
                </a:solidFill>
                <a:latin typeface="Corbel"/>
                <a:ea typeface="Corbel"/>
                <a:cs typeface="Corbel"/>
                <a:sym typeface="Corbel"/>
              </a:rPr>
              <a:t>Summarise</a:t>
            </a:r>
            <a:r>
              <a:rPr lang="en" sz="1700">
                <a:solidFill>
                  <a:schemeClr val="dk1"/>
                </a:solidFill>
                <a:latin typeface="Corbel"/>
                <a:ea typeface="Corbel"/>
                <a:cs typeface="Corbel"/>
                <a:sym typeface="Corbel"/>
              </a:rPr>
              <a:t>, a</a:t>
            </a:r>
            <a:r>
              <a:rPr b="0" i="0" lang="en" sz="1700" u="none" cap="none" strike="noStrike">
                <a:solidFill>
                  <a:schemeClr val="dk1"/>
                </a:solidFill>
                <a:latin typeface="Corbel"/>
                <a:ea typeface="Corbel"/>
                <a:cs typeface="Corbel"/>
                <a:sym typeface="Corbel"/>
              </a:rPr>
              <a:t>lerts</a:t>
            </a:r>
            <a:r>
              <a:rPr lang="en" sz="1700">
                <a:solidFill>
                  <a:schemeClr val="dk1"/>
                </a:solidFill>
                <a:latin typeface="Corbel"/>
                <a:ea typeface="Corbel"/>
                <a:cs typeface="Corbel"/>
                <a:sym typeface="Corbel"/>
              </a:rPr>
              <a:t>, c</a:t>
            </a:r>
            <a:r>
              <a:rPr b="0" i="0" lang="en" sz="1700" u="none" cap="none" strike="noStrike">
                <a:solidFill>
                  <a:schemeClr val="dk1"/>
                </a:solidFill>
                <a:latin typeface="Corbel"/>
                <a:ea typeface="Corbel"/>
                <a:cs typeface="Corbel"/>
                <a:sym typeface="Corbel"/>
              </a:rPr>
              <a:t>itations connected to Zotero</a:t>
            </a:r>
            <a:r>
              <a:rPr lang="en" sz="1700">
                <a:solidFill>
                  <a:schemeClr val="dk1"/>
                </a:solidFill>
                <a:latin typeface="Corbel"/>
                <a:ea typeface="Corbel"/>
                <a:cs typeface="Corbel"/>
                <a:sym typeface="Corbel"/>
              </a:rPr>
              <a:t>, </a:t>
            </a:r>
            <a:r>
              <a:rPr b="0" i="0" lang="en" sz="1700" u="none" cap="none" strike="noStrike">
                <a:solidFill>
                  <a:schemeClr val="dk1"/>
                </a:solidFill>
                <a:latin typeface="Corbel"/>
                <a:ea typeface="Corbel"/>
                <a:cs typeface="Corbel"/>
                <a:sym typeface="Corbel"/>
              </a:rPr>
              <a:t>etc.)</a:t>
            </a:r>
            <a:endParaRPr b="0" i="0" sz="2000" u="none" cap="none" strike="noStrike">
              <a:solidFill>
                <a:schemeClr val="dk1"/>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chemeClr val="dk1"/>
              </a:solidFill>
              <a:latin typeface="Oswald"/>
              <a:ea typeface="Oswald"/>
              <a:cs typeface="Oswald"/>
              <a:sym typeface="Oswald"/>
            </a:endParaRPr>
          </a:p>
        </p:txBody>
      </p:sp>
      <p:sp>
        <p:nvSpPr>
          <p:cNvPr id="329" name="Google Shape;329;p24"/>
          <p:cNvSpPr txBox="1"/>
          <p:nvPr/>
        </p:nvSpPr>
        <p:spPr>
          <a:xfrm>
            <a:off x="1188275" y="1839000"/>
            <a:ext cx="6477300" cy="461700"/>
          </a:xfrm>
          <a:prstGeom prst="rect">
            <a:avLst/>
          </a:prstGeom>
          <a:noFill/>
          <a:ln cap="flat" cmpd="sng" w="9525">
            <a:solidFill>
              <a:srgbClr val="0097A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What can you tell me about the ASTA scientific research tool?</a:t>
            </a:r>
            <a:endParaRPr sz="1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96692e0569_2_27"/>
          <p:cNvSpPr txBox="1"/>
          <p:nvPr/>
        </p:nvSpPr>
        <p:spPr>
          <a:xfrm>
            <a:off x="127450" y="134150"/>
            <a:ext cx="8247600" cy="677100"/>
          </a:xfrm>
          <a:prstGeom prst="rect">
            <a:avLst/>
          </a:prstGeom>
          <a:noFill/>
          <a:ln>
            <a:noFill/>
          </a:ln>
          <a:effectLst>
            <a:outerShdw blurRad="57150" rotWithShape="0" algn="bl" dir="5400000" dist="19050">
              <a:srgbClr val="D9D9D9">
                <a:alpha val="4863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Activity - Comparison of discovery tools</a:t>
            </a:r>
            <a:endParaRPr b="0" i="0" sz="3200" u="none" cap="none" strike="noStrike">
              <a:solidFill>
                <a:schemeClr val="dk1"/>
              </a:solidFill>
              <a:latin typeface="Oswald"/>
              <a:ea typeface="Oswald"/>
              <a:cs typeface="Oswald"/>
              <a:sym typeface="Oswald"/>
            </a:endParaRPr>
          </a:p>
        </p:txBody>
      </p:sp>
      <p:sp>
        <p:nvSpPr>
          <p:cNvPr id="335" name="Google Shape;335;g396692e0569_2_27"/>
          <p:cNvSpPr txBox="1"/>
          <p:nvPr/>
        </p:nvSpPr>
        <p:spPr>
          <a:xfrm>
            <a:off x="261900" y="1056250"/>
            <a:ext cx="8423700" cy="25398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Corbel"/>
              <a:buChar char="●"/>
            </a:pPr>
            <a:r>
              <a:rPr lang="en" sz="1800">
                <a:solidFill>
                  <a:schemeClr val="dk1"/>
                </a:solidFill>
                <a:latin typeface="Corbel"/>
                <a:ea typeface="Corbel"/>
                <a:cs typeface="Corbel"/>
                <a:sym typeface="Corbel"/>
              </a:rPr>
              <a:t>Open your browser and surf to </a:t>
            </a:r>
            <a:r>
              <a:rPr lang="en" sz="1800" u="sng">
                <a:solidFill>
                  <a:schemeClr val="hlink"/>
                </a:solidFill>
                <a:latin typeface="Corbel"/>
                <a:ea typeface="Corbel"/>
                <a:cs typeface="Corbel"/>
                <a:sym typeface="Corbel"/>
                <a:hlinkClick r:id="rId3"/>
              </a:rPr>
              <a:t>https://asta.allen.ai</a:t>
            </a:r>
            <a:r>
              <a:rPr lang="en" sz="1800">
                <a:solidFill>
                  <a:schemeClr val="dk1"/>
                </a:solidFill>
                <a:latin typeface="Corbel"/>
                <a:ea typeface="Corbel"/>
                <a:cs typeface="Corbel"/>
                <a:sym typeface="Corbel"/>
              </a:rPr>
              <a:t> </a:t>
            </a:r>
            <a:endParaRPr sz="1800">
              <a:solidFill>
                <a:schemeClr val="dk1"/>
              </a:solidFill>
              <a:latin typeface="Corbel"/>
              <a:ea typeface="Corbel"/>
              <a:cs typeface="Corbel"/>
              <a:sym typeface="Corbel"/>
            </a:endParaRPr>
          </a:p>
          <a:p>
            <a:pPr indent="0" lvl="0" marL="457200" rtl="0" algn="l">
              <a:lnSpc>
                <a:spcPct val="150000"/>
              </a:lnSpc>
              <a:spcBef>
                <a:spcPts val="0"/>
              </a:spcBef>
              <a:spcAft>
                <a:spcPts val="0"/>
              </a:spcAft>
              <a:buNone/>
            </a:pPr>
            <a:r>
              <a:t/>
            </a:r>
            <a:endParaRPr sz="1800">
              <a:solidFill>
                <a:schemeClr val="dk1"/>
              </a:solidFill>
              <a:latin typeface="Corbel"/>
              <a:ea typeface="Corbel"/>
              <a:cs typeface="Corbel"/>
              <a:sym typeface="Corbel"/>
            </a:endParaRPr>
          </a:p>
          <a:p>
            <a:pPr indent="-342900" lvl="0" marL="457200" rtl="0" algn="l">
              <a:lnSpc>
                <a:spcPct val="150000"/>
              </a:lnSpc>
              <a:spcBef>
                <a:spcPts val="0"/>
              </a:spcBef>
              <a:spcAft>
                <a:spcPts val="0"/>
              </a:spcAft>
              <a:buClr>
                <a:schemeClr val="dk1"/>
              </a:buClr>
              <a:buSzPts val="1800"/>
              <a:buFont typeface="Corbel"/>
              <a:buChar char="●"/>
            </a:pPr>
            <a:r>
              <a:rPr lang="en" sz="1800">
                <a:solidFill>
                  <a:schemeClr val="dk1"/>
                </a:solidFill>
                <a:latin typeface="Corbel"/>
                <a:ea typeface="Corbel"/>
                <a:cs typeface="Corbel"/>
                <a:sym typeface="Corbel"/>
              </a:rPr>
              <a:t>Use the Paper Finder agent to find relevant papers about your research topic</a:t>
            </a:r>
            <a:endParaRPr sz="1800">
              <a:solidFill>
                <a:schemeClr val="dk1"/>
              </a:solidFill>
              <a:latin typeface="Corbel"/>
              <a:ea typeface="Corbel"/>
              <a:cs typeface="Corbel"/>
              <a:sym typeface="Corbel"/>
            </a:endParaRPr>
          </a:p>
          <a:p>
            <a:pPr indent="0" lvl="0" marL="457200" rtl="0" algn="l">
              <a:lnSpc>
                <a:spcPct val="150000"/>
              </a:lnSpc>
              <a:spcBef>
                <a:spcPts val="0"/>
              </a:spcBef>
              <a:spcAft>
                <a:spcPts val="0"/>
              </a:spcAft>
              <a:buNone/>
            </a:pPr>
            <a:r>
              <a:t/>
            </a:r>
            <a:endParaRPr sz="1800">
              <a:solidFill>
                <a:schemeClr val="dk1"/>
              </a:solidFill>
              <a:latin typeface="Corbel"/>
              <a:ea typeface="Corbel"/>
              <a:cs typeface="Corbel"/>
              <a:sym typeface="Corbel"/>
            </a:endParaRPr>
          </a:p>
          <a:p>
            <a:pPr indent="-342900" lvl="0" marL="457200" rtl="0" algn="l">
              <a:lnSpc>
                <a:spcPct val="150000"/>
              </a:lnSpc>
              <a:spcBef>
                <a:spcPts val="0"/>
              </a:spcBef>
              <a:spcAft>
                <a:spcPts val="0"/>
              </a:spcAft>
              <a:buClr>
                <a:schemeClr val="dk1"/>
              </a:buClr>
              <a:buSzPts val="1800"/>
              <a:buFont typeface="Corbel"/>
              <a:buChar char="●"/>
            </a:pPr>
            <a:r>
              <a:rPr lang="en" sz="1800">
                <a:solidFill>
                  <a:schemeClr val="dk1"/>
                </a:solidFill>
                <a:latin typeface="Corbel"/>
                <a:ea typeface="Corbel"/>
                <a:cs typeface="Corbel"/>
                <a:sym typeface="Corbel"/>
              </a:rPr>
              <a:t>Use Report Generator agent to summarize literature about your research topic</a:t>
            </a:r>
            <a:endParaRPr sz="1800">
              <a:solidFill>
                <a:schemeClr val="dk1"/>
              </a:solidFill>
              <a:latin typeface="Corbel"/>
              <a:ea typeface="Corbel"/>
              <a:cs typeface="Corbel"/>
              <a:sym typeface="Corbel"/>
            </a:endParaRPr>
          </a:p>
          <a:p>
            <a:pPr indent="0" lvl="0" marL="0" rtl="0" algn="l">
              <a:lnSpc>
                <a:spcPct val="150000"/>
              </a:lnSpc>
              <a:spcBef>
                <a:spcPts val="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8"/>
          <p:cNvSpPr txBox="1"/>
          <p:nvPr/>
        </p:nvSpPr>
        <p:spPr>
          <a:xfrm>
            <a:off x="452200" y="134150"/>
            <a:ext cx="55146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 tools for Literature Discovery</a:t>
            </a:r>
            <a:endParaRPr b="0" i="0" sz="3200" u="none" cap="none" strike="noStrike">
              <a:solidFill>
                <a:schemeClr val="dk1"/>
              </a:solidFill>
              <a:latin typeface="Oswald"/>
              <a:ea typeface="Oswald"/>
              <a:cs typeface="Oswald"/>
              <a:sym typeface="Oswald"/>
            </a:endParaRPr>
          </a:p>
        </p:txBody>
      </p:sp>
      <p:pic>
        <p:nvPicPr>
          <p:cNvPr id="341" name="Google Shape;341;p28"/>
          <p:cNvPicPr preferRelativeResize="0"/>
          <p:nvPr/>
        </p:nvPicPr>
        <p:blipFill rotWithShape="1">
          <a:blip r:embed="rId3">
            <a:alphaModFix/>
          </a:blip>
          <a:srcRect b="30331" l="2984" r="14321" t="24234"/>
          <a:stretch/>
        </p:blipFill>
        <p:spPr>
          <a:xfrm>
            <a:off x="344775" y="1289200"/>
            <a:ext cx="1151850" cy="236350"/>
          </a:xfrm>
          <a:prstGeom prst="rect">
            <a:avLst/>
          </a:prstGeom>
          <a:noFill/>
          <a:ln>
            <a:noFill/>
          </a:ln>
        </p:spPr>
      </p:pic>
      <p:grpSp>
        <p:nvGrpSpPr>
          <p:cNvPr id="342" name="Google Shape;342;p28"/>
          <p:cNvGrpSpPr/>
          <p:nvPr/>
        </p:nvGrpSpPr>
        <p:grpSpPr>
          <a:xfrm rot="-5400000">
            <a:off x="106425" y="4557750"/>
            <a:ext cx="476700" cy="502500"/>
            <a:chOff x="95250" y="112575"/>
            <a:chExt cx="476700" cy="502500"/>
          </a:xfrm>
        </p:grpSpPr>
        <p:cxnSp>
          <p:nvCxnSpPr>
            <p:cNvPr id="343" name="Google Shape;343;p28"/>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344" name="Google Shape;344;p28"/>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345" name="Google Shape;345;p28"/>
          <p:cNvGrpSpPr/>
          <p:nvPr/>
        </p:nvGrpSpPr>
        <p:grpSpPr>
          <a:xfrm rot="10800000">
            <a:off x="8560875" y="4557750"/>
            <a:ext cx="476700" cy="502500"/>
            <a:chOff x="95250" y="112575"/>
            <a:chExt cx="476700" cy="502500"/>
          </a:xfrm>
        </p:grpSpPr>
        <p:cxnSp>
          <p:nvCxnSpPr>
            <p:cNvPr id="346" name="Google Shape;346;p28"/>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347" name="Google Shape;347;p28"/>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pic>
        <p:nvPicPr>
          <p:cNvPr descr="Screenshot of Connected Papers search bar" id="348" name="Google Shape;348;p28"/>
          <p:cNvPicPr preferRelativeResize="0"/>
          <p:nvPr/>
        </p:nvPicPr>
        <p:blipFill rotWithShape="1">
          <a:blip r:embed="rId4">
            <a:alphaModFix/>
          </a:blip>
          <a:srcRect b="12486" l="704" r="2723" t="7575"/>
          <a:stretch/>
        </p:blipFill>
        <p:spPr>
          <a:xfrm>
            <a:off x="4323587" y="1972375"/>
            <a:ext cx="4546202" cy="1429400"/>
          </a:xfrm>
          <a:prstGeom prst="rect">
            <a:avLst/>
          </a:prstGeom>
          <a:noFill/>
          <a:ln cap="flat" cmpd="sng" w="9525">
            <a:solidFill>
              <a:srgbClr val="D9D9D9"/>
            </a:solidFill>
            <a:prstDash val="solid"/>
            <a:round/>
            <a:headEnd len="sm" w="sm" type="none"/>
            <a:tailEnd len="sm" w="sm" type="none"/>
          </a:ln>
        </p:spPr>
      </p:pic>
      <p:pic>
        <p:nvPicPr>
          <p:cNvPr descr="Image of Connected Papers logo" id="349" name="Google Shape;349;p28"/>
          <p:cNvPicPr preferRelativeResize="0"/>
          <p:nvPr/>
        </p:nvPicPr>
        <p:blipFill rotWithShape="1">
          <a:blip r:embed="rId5">
            <a:alphaModFix/>
          </a:blip>
          <a:srcRect b="4295" l="0" r="0" t="4287"/>
          <a:stretch/>
        </p:blipFill>
        <p:spPr>
          <a:xfrm>
            <a:off x="4323575" y="1494075"/>
            <a:ext cx="2262946" cy="336775"/>
          </a:xfrm>
          <a:prstGeom prst="rect">
            <a:avLst/>
          </a:prstGeom>
          <a:noFill/>
          <a:ln>
            <a:noFill/>
          </a:ln>
        </p:spPr>
      </p:pic>
      <p:pic>
        <p:nvPicPr>
          <p:cNvPr descr="Image of ResearchRabbit logo" id="350" name="Google Shape;350;p28"/>
          <p:cNvPicPr preferRelativeResize="0"/>
          <p:nvPr/>
        </p:nvPicPr>
        <p:blipFill rotWithShape="1">
          <a:blip r:embed="rId6">
            <a:alphaModFix/>
          </a:blip>
          <a:srcRect b="5479" l="19056" r="18948" t="0"/>
          <a:stretch/>
        </p:blipFill>
        <p:spPr>
          <a:xfrm>
            <a:off x="1750113" y="3695700"/>
            <a:ext cx="3307225" cy="1259585"/>
          </a:xfrm>
          <a:prstGeom prst="rect">
            <a:avLst/>
          </a:prstGeom>
          <a:noFill/>
          <a:ln>
            <a:noFill/>
          </a:ln>
        </p:spPr>
      </p:pic>
      <p:pic>
        <p:nvPicPr>
          <p:cNvPr descr="Screenshot of the text &quot;Reimagine Research: We're rethinking everything: literature search, alerts, and more&quot;" id="351" name="Google Shape;351;p28"/>
          <p:cNvPicPr preferRelativeResize="0"/>
          <p:nvPr/>
        </p:nvPicPr>
        <p:blipFill rotWithShape="1">
          <a:blip r:embed="rId7">
            <a:alphaModFix/>
          </a:blip>
          <a:srcRect b="0" l="0" r="0" t="0"/>
          <a:stretch/>
        </p:blipFill>
        <p:spPr>
          <a:xfrm>
            <a:off x="5238397" y="3766965"/>
            <a:ext cx="2155490" cy="1259585"/>
          </a:xfrm>
          <a:prstGeom prst="rect">
            <a:avLst/>
          </a:prstGeom>
          <a:noFill/>
          <a:ln cap="flat" cmpd="sng" w="9525">
            <a:solidFill>
              <a:srgbClr val="D9D9D9"/>
            </a:solidFill>
            <a:prstDash val="solid"/>
            <a:round/>
            <a:headEnd len="sm" w="sm" type="none"/>
            <a:tailEnd len="sm" w="sm" type="none"/>
          </a:ln>
        </p:spPr>
      </p:pic>
      <p:pic>
        <p:nvPicPr>
          <p:cNvPr descr="Screenshot of Litmaps search area" id="352" name="Google Shape;352;p28"/>
          <p:cNvPicPr preferRelativeResize="0"/>
          <p:nvPr/>
        </p:nvPicPr>
        <p:blipFill rotWithShape="1">
          <a:blip r:embed="rId8">
            <a:alphaModFix/>
          </a:blip>
          <a:srcRect b="8371" l="0" r="0" t="0"/>
          <a:stretch/>
        </p:blipFill>
        <p:spPr>
          <a:xfrm>
            <a:off x="216825" y="1648600"/>
            <a:ext cx="3922725" cy="1771650"/>
          </a:xfrm>
          <a:prstGeom prst="rect">
            <a:avLst/>
          </a:prstGeom>
          <a:noFill/>
          <a:ln cap="flat" cmpd="sng" w="9525">
            <a:solidFill>
              <a:srgbClr val="D9D9D9"/>
            </a:solidFill>
            <a:prstDash val="solid"/>
            <a:round/>
            <a:headEnd len="sm" w="sm" type="none"/>
            <a:tailEnd len="sm" w="sm" type="none"/>
          </a:ln>
        </p:spPr>
      </p:pic>
      <p:pic>
        <p:nvPicPr>
          <p:cNvPr descr="Image of Litmaps logo" id="353" name="Google Shape;353;p28"/>
          <p:cNvPicPr preferRelativeResize="0"/>
          <p:nvPr/>
        </p:nvPicPr>
        <p:blipFill rotWithShape="1">
          <a:blip r:embed="rId3">
            <a:alphaModFix/>
          </a:blip>
          <a:srcRect b="26677" l="0" r="14138" t="21500"/>
          <a:stretch/>
        </p:blipFill>
        <p:spPr>
          <a:xfrm>
            <a:off x="274200" y="1238988"/>
            <a:ext cx="1493969" cy="336775"/>
          </a:xfrm>
          <a:prstGeom prst="rect">
            <a:avLst/>
          </a:prstGeom>
          <a:noFill/>
          <a:ln>
            <a:noFill/>
          </a:ln>
        </p:spPr>
      </p:pic>
      <p:pic>
        <p:nvPicPr>
          <p:cNvPr descr="Robot doing repeatable tasks with a lot of folders and magnifier. Robotic process automation, service robots profit, automated processing concept" id="354" name="Google Shape;354;p28"/>
          <p:cNvPicPr preferRelativeResize="0"/>
          <p:nvPr/>
        </p:nvPicPr>
        <p:blipFill rotWithShape="1">
          <a:blip r:embed="rId9">
            <a:alphaModFix/>
          </a:blip>
          <a:srcRect b="0" l="0" r="0" t="0"/>
          <a:stretch/>
        </p:blipFill>
        <p:spPr>
          <a:xfrm>
            <a:off x="7906128" y="211021"/>
            <a:ext cx="1131450" cy="75367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9">
            <a:hlinkClick r:id="rId3"/>
          </p:cNvPr>
          <p:cNvSpPr txBox="1"/>
          <p:nvPr/>
        </p:nvSpPr>
        <p:spPr>
          <a:xfrm>
            <a:off x="2381350" y="2508950"/>
            <a:ext cx="4381200" cy="569400"/>
          </a:xfrm>
          <a:prstGeom prst="rect">
            <a:avLst/>
          </a:prstGeom>
          <a:noFill/>
          <a:ln cap="flat" cmpd="sng" w="9525">
            <a:solidFill>
              <a:srgbClr val="E1D1D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chemeClr val="dk1"/>
                </a:solidFill>
                <a:latin typeface="JetBrains Mono"/>
                <a:ea typeface="JetBrains Mono"/>
                <a:cs typeface="JetBrains Mono"/>
                <a:sym typeface="JetBrains Mono"/>
              </a:rPr>
              <a:t>www.researchrabbit.ai</a:t>
            </a:r>
            <a:endParaRPr b="0" i="0" sz="2500" u="none" cap="none" strike="noStrike">
              <a:solidFill>
                <a:schemeClr val="dk1"/>
              </a:solidFill>
              <a:latin typeface="JetBrains Mono"/>
              <a:ea typeface="JetBrains Mono"/>
              <a:cs typeface="JetBrains Mono"/>
              <a:sym typeface="JetBrains Mono"/>
            </a:endParaRPr>
          </a:p>
        </p:txBody>
      </p:sp>
      <p:pic>
        <p:nvPicPr>
          <p:cNvPr descr="Image of ResearchRabbit logo" id="360" name="Google Shape;360;p29"/>
          <p:cNvPicPr preferRelativeResize="0"/>
          <p:nvPr/>
        </p:nvPicPr>
        <p:blipFill rotWithShape="1">
          <a:blip r:embed="rId4">
            <a:alphaModFix/>
          </a:blip>
          <a:srcRect b="0" l="19118" r="18644" t="0"/>
          <a:stretch/>
        </p:blipFill>
        <p:spPr>
          <a:xfrm>
            <a:off x="2381456" y="726850"/>
            <a:ext cx="4381088" cy="1758475"/>
          </a:xfrm>
          <a:prstGeom prst="rect">
            <a:avLst/>
          </a:prstGeom>
          <a:noFill/>
          <a:ln>
            <a:noFill/>
          </a:ln>
        </p:spPr>
      </p:pic>
      <p:sp>
        <p:nvSpPr>
          <p:cNvPr id="361" name="Google Shape;361;p29"/>
          <p:cNvSpPr txBox="1"/>
          <p:nvPr/>
        </p:nvSpPr>
        <p:spPr>
          <a:xfrm>
            <a:off x="1327600" y="3465402"/>
            <a:ext cx="1829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5"/>
                </a:solidFill>
                <a:latin typeface="Arial"/>
                <a:ea typeface="Arial"/>
                <a:cs typeface="Arial"/>
                <a:sym typeface="Arial"/>
              </a:rPr>
              <a:t>VIB POLICY</a:t>
            </a:r>
            <a:endParaRPr b="1" i="0" sz="1500" u="none" cap="none" strike="noStrike">
              <a:solidFill>
                <a:schemeClr val="accent5"/>
              </a:solidFill>
              <a:latin typeface="Arial"/>
              <a:ea typeface="Arial"/>
              <a:cs typeface="Arial"/>
              <a:sym typeface="Arial"/>
            </a:endParaRPr>
          </a:p>
        </p:txBody>
      </p:sp>
      <p:sp>
        <p:nvSpPr>
          <p:cNvPr id="362" name="Google Shape;362;p29"/>
          <p:cNvSpPr txBox="1"/>
          <p:nvPr/>
        </p:nvSpPr>
        <p:spPr>
          <a:xfrm>
            <a:off x="1371043" y="3880900"/>
            <a:ext cx="670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Clr>
                <a:srgbClr val="000000"/>
              </a:buClr>
              <a:buSzPts val="1400"/>
              <a:buFont typeface="Arial"/>
              <a:buNone/>
            </a:pPr>
            <a:r>
              <a:rPr b="0" i="0" lang="en" sz="1400" u="none" cap="none" strike="noStrike">
                <a:solidFill>
                  <a:schemeClr val="dk1"/>
                </a:solidFill>
                <a:latin typeface="Open Sans"/>
                <a:ea typeface="Open Sans"/>
                <a:cs typeface="Open Sans"/>
                <a:sym typeface="Open Sans"/>
              </a:rPr>
              <a:t>“Do not use for proprietary, confidential, and personal information ”</a:t>
            </a:r>
            <a:endParaRPr b="0" i="0" sz="1400" u="none" cap="none" strike="noStrike">
              <a:solidFill>
                <a:schemeClr val="dk1"/>
              </a:solidFill>
              <a:latin typeface="Open Sans"/>
              <a:ea typeface="Open Sans"/>
              <a:cs typeface="Open Sans"/>
              <a:sym typeface="Open Sans"/>
            </a:endParaRPr>
          </a:p>
        </p:txBody>
      </p:sp>
      <p:pic>
        <p:nvPicPr>
          <p:cNvPr descr="Robot doing repeatable tasks with a lot of folders and magnifier. Robotic process automation, service robots profit, automated processing concept" id="363" name="Google Shape;363;p29"/>
          <p:cNvPicPr preferRelativeResize="0"/>
          <p:nvPr/>
        </p:nvPicPr>
        <p:blipFill rotWithShape="1">
          <a:blip r:embed="rId5">
            <a:alphaModFix/>
          </a:blip>
          <a:srcRect b="0" l="0" r="0" t="0"/>
          <a:stretch/>
        </p:blipFill>
        <p:spPr>
          <a:xfrm>
            <a:off x="7906128" y="211021"/>
            <a:ext cx="1131450" cy="75367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7" name="Shape 367"/>
        <p:cNvGrpSpPr/>
        <p:nvPr/>
      </p:nvGrpSpPr>
      <p:grpSpPr>
        <a:xfrm>
          <a:off x="0" y="0"/>
          <a:ext cx="0" cy="0"/>
          <a:chOff x="0" y="0"/>
          <a:chExt cx="0" cy="0"/>
        </a:xfrm>
      </p:grpSpPr>
      <p:pic>
        <p:nvPicPr>
          <p:cNvPr descr="A screenshot of a computer&#10;&#10;Description automatically generated" id="368" name="Google Shape;368;p32"/>
          <p:cNvPicPr preferRelativeResize="0"/>
          <p:nvPr/>
        </p:nvPicPr>
        <p:blipFill rotWithShape="1">
          <a:blip r:embed="rId3">
            <a:alphaModFix/>
          </a:blip>
          <a:srcRect b="0" l="90830" r="0" t="0"/>
          <a:stretch/>
        </p:blipFill>
        <p:spPr>
          <a:xfrm>
            <a:off x="4483539" y="0"/>
            <a:ext cx="4660425" cy="5143501"/>
          </a:xfrm>
          <a:prstGeom prst="rect">
            <a:avLst/>
          </a:prstGeom>
          <a:noFill/>
          <a:ln>
            <a:noFill/>
          </a:ln>
        </p:spPr>
      </p:pic>
      <p:pic>
        <p:nvPicPr>
          <p:cNvPr descr="A screenshot of a computer&#10;&#10;Description automatically generated" id="369" name="Google Shape;369;p32"/>
          <p:cNvPicPr preferRelativeResize="0"/>
          <p:nvPr/>
        </p:nvPicPr>
        <p:blipFill rotWithShape="1">
          <a:blip r:embed="rId3">
            <a:alphaModFix/>
          </a:blip>
          <a:srcRect b="0" l="0" r="0" t="0"/>
          <a:stretch/>
        </p:blipFill>
        <p:spPr>
          <a:xfrm>
            <a:off x="10852" y="0"/>
            <a:ext cx="4733177" cy="5143501"/>
          </a:xfrm>
          <a:prstGeom prst="rect">
            <a:avLst/>
          </a:prstGeom>
          <a:noFill/>
          <a:ln>
            <a:noFill/>
          </a:ln>
        </p:spPr>
      </p:pic>
      <p:sp>
        <p:nvSpPr>
          <p:cNvPr id="370" name="Google Shape;370;p32"/>
          <p:cNvSpPr/>
          <p:nvPr/>
        </p:nvSpPr>
        <p:spPr>
          <a:xfrm>
            <a:off x="-22050" y="-51650"/>
            <a:ext cx="9249900" cy="5238300"/>
          </a:xfrm>
          <a:prstGeom prst="rect">
            <a:avLst/>
          </a:prstGeom>
          <a:solidFill>
            <a:srgbClr val="FFFFFF">
              <a:alpha val="643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screenshot of a computer&#10;&#10;Description automatically generated" id="371" name="Google Shape;371;p32"/>
          <p:cNvPicPr preferRelativeResize="0"/>
          <p:nvPr/>
        </p:nvPicPr>
        <p:blipFill rotWithShape="1">
          <a:blip r:embed="rId4">
            <a:alphaModFix/>
          </a:blip>
          <a:srcRect b="4270" l="6691" r="1533" t="40199"/>
          <a:stretch/>
        </p:blipFill>
        <p:spPr>
          <a:xfrm>
            <a:off x="1881025" y="1442400"/>
            <a:ext cx="7133175" cy="2623828"/>
          </a:xfrm>
          <a:prstGeom prst="rect">
            <a:avLst/>
          </a:prstGeom>
          <a:noFill/>
          <a:ln cap="flat" cmpd="sng" w="114300">
            <a:solidFill>
              <a:srgbClr val="000000"/>
            </a:solidFill>
            <a:prstDash val="solid"/>
            <a:round/>
            <a:headEnd len="sm" w="sm" type="none"/>
            <a:tailEnd len="sm" w="sm" type="none"/>
          </a:ln>
        </p:spPr>
      </p:pic>
      <p:sp>
        <p:nvSpPr>
          <p:cNvPr id="372" name="Google Shape;372;p32"/>
          <p:cNvSpPr/>
          <p:nvPr/>
        </p:nvSpPr>
        <p:spPr>
          <a:xfrm>
            <a:off x="1827150" y="1383850"/>
            <a:ext cx="7249500" cy="2745900"/>
          </a:xfrm>
          <a:prstGeom prst="rect">
            <a:avLst/>
          </a:prstGeom>
          <a:noFill/>
          <a:ln cap="flat" cmpd="sng" w="9525">
            <a:solidFill>
              <a:srgbClr val="FCEE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3" name="Google Shape;373;p32"/>
          <p:cNvGrpSpPr/>
          <p:nvPr/>
        </p:nvGrpSpPr>
        <p:grpSpPr>
          <a:xfrm>
            <a:off x="2598490" y="3899200"/>
            <a:ext cx="1799794" cy="1287290"/>
            <a:chOff x="2598490" y="3899200"/>
            <a:chExt cx="1799794" cy="1287290"/>
          </a:xfrm>
        </p:grpSpPr>
        <p:sp>
          <p:nvSpPr>
            <p:cNvPr id="374" name="Google Shape;374;p32"/>
            <p:cNvSpPr/>
            <p:nvPr/>
          </p:nvSpPr>
          <p:spPr>
            <a:xfrm rot="-5400000">
              <a:off x="3653084" y="4063900"/>
              <a:ext cx="909900" cy="580500"/>
            </a:xfrm>
            <a:prstGeom prst="rightArrow">
              <a:avLst>
                <a:gd fmla="val 50000" name="adj1"/>
                <a:gd fmla="val 79521" name="adj2"/>
              </a:avLst>
            </a:prstGeom>
            <a:solidFill>
              <a:srgbClr val="A64D7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2"/>
            <p:cNvSpPr/>
            <p:nvPr/>
          </p:nvSpPr>
          <p:spPr>
            <a:xfrm rot="10800000">
              <a:off x="2598490" y="4512390"/>
              <a:ext cx="1654800" cy="674100"/>
            </a:xfrm>
            <a:prstGeom prst="rightArrow">
              <a:avLst>
                <a:gd fmla="val 50000" name="adj1"/>
                <a:gd fmla="val 79521" name="adj2"/>
              </a:avLst>
            </a:prstGeom>
            <a:solidFill>
              <a:srgbClr val="A64D7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Robot doing repeatable tasks with a lot of folders and magnifier. Robotic process automation, service robots profit, automated processing concept" id="376" name="Google Shape;376;p32"/>
          <p:cNvPicPr preferRelativeResize="0"/>
          <p:nvPr/>
        </p:nvPicPr>
        <p:blipFill rotWithShape="1">
          <a:blip r:embed="rId5">
            <a:alphaModFix/>
          </a:blip>
          <a:srcRect b="0" l="0" r="0" t="0"/>
          <a:stretch/>
        </p:blipFill>
        <p:spPr>
          <a:xfrm>
            <a:off x="7906128" y="211021"/>
            <a:ext cx="1131450" cy="75367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0" name="Shape 380"/>
        <p:cNvGrpSpPr/>
        <p:nvPr/>
      </p:nvGrpSpPr>
      <p:grpSpPr>
        <a:xfrm>
          <a:off x="0" y="0"/>
          <a:ext cx="0" cy="0"/>
          <a:chOff x="0" y="0"/>
          <a:chExt cx="0" cy="0"/>
        </a:xfrm>
      </p:grpSpPr>
      <p:pic>
        <p:nvPicPr>
          <p:cNvPr descr="A screenshot of a computer&#10;&#10;Description automatically generated" id="381" name="Google Shape;381;p30"/>
          <p:cNvPicPr preferRelativeResize="0"/>
          <p:nvPr/>
        </p:nvPicPr>
        <p:blipFill rotWithShape="1">
          <a:blip r:embed="rId3">
            <a:alphaModFix/>
          </a:blip>
          <a:srcRect b="0" l="0" r="0" t="0"/>
          <a:stretch/>
        </p:blipFill>
        <p:spPr>
          <a:xfrm>
            <a:off x="2205412" y="0"/>
            <a:ext cx="4733177" cy="5143501"/>
          </a:xfrm>
          <a:prstGeom prst="rect">
            <a:avLst/>
          </a:prstGeom>
          <a:noFill/>
          <a:ln>
            <a:noFill/>
          </a:ln>
        </p:spPr>
      </p:pic>
      <p:pic>
        <p:nvPicPr>
          <p:cNvPr descr="Robot doing repeatable tasks with a lot of folders and magnifier. Robotic process automation, service robots profit, automated processing concept" id="382" name="Google Shape;382;p30"/>
          <p:cNvPicPr preferRelativeResize="0"/>
          <p:nvPr/>
        </p:nvPicPr>
        <p:blipFill rotWithShape="1">
          <a:blip r:embed="rId4">
            <a:alphaModFix/>
          </a:blip>
          <a:srcRect b="0" l="0" r="0" t="0"/>
          <a:stretch/>
        </p:blipFill>
        <p:spPr>
          <a:xfrm>
            <a:off x="7906128" y="211021"/>
            <a:ext cx="1131450" cy="75367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pic>
        <p:nvPicPr>
          <p:cNvPr descr="A screenshot of a computer&#10;&#10;Description automatically generated" id="387" name="Google Shape;387;p33"/>
          <p:cNvPicPr preferRelativeResize="0"/>
          <p:nvPr/>
        </p:nvPicPr>
        <p:blipFill rotWithShape="1">
          <a:blip r:embed="rId3">
            <a:alphaModFix/>
          </a:blip>
          <a:srcRect b="0" l="0" r="0" t="0"/>
          <a:stretch/>
        </p:blipFill>
        <p:spPr>
          <a:xfrm>
            <a:off x="0" y="53823"/>
            <a:ext cx="9144000" cy="5035851"/>
          </a:xfrm>
          <a:prstGeom prst="rect">
            <a:avLst/>
          </a:prstGeom>
          <a:noFill/>
          <a:ln>
            <a:noFill/>
          </a:ln>
        </p:spPr>
      </p:pic>
      <p:pic>
        <p:nvPicPr>
          <p:cNvPr descr="Robot doing repeatable tasks with a lot of folders and magnifier. Robotic process automation, service robots profit, automated processing concept" id="388" name="Google Shape;388;p33"/>
          <p:cNvPicPr preferRelativeResize="0"/>
          <p:nvPr/>
        </p:nvPicPr>
        <p:blipFill rotWithShape="1">
          <a:blip r:embed="rId4">
            <a:alphaModFix/>
          </a:blip>
          <a:srcRect b="0" l="0" r="0" t="0"/>
          <a:stretch/>
        </p:blipFill>
        <p:spPr>
          <a:xfrm>
            <a:off x="7906128" y="211021"/>
            <a:ext cx="1131450" cy="75367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2" name="Shape 392"/>
        <p:cNvGrpSpPr/>
        <p:nvPr/>
      </p:nvGrpSpPr>
      <p:grpSpPr>
        <a:xfrm>
          <a:off x="0" y="0"/>
          <a:ext cx="0" cy="0"/>
          <a:chOff x="0" y="0"/>
          <a:chExt cx="0" cy="0"/>
        </a:xfrm>
      </p:grpSpPr>
      <p:pic>
        <p:nvPicPr>
          <p:cNvPr descr="A screenshot of a cell phone&#10;&#10;Description automatically generated" id="393" name="Google Shape;393;p34"/>
          <p:cNvPicPr preferRelativeResize="0"/>
          <p:nvPr/>
        </p:nvPicPr>
        <p:blipFill rotWithShape="1">
          <a:blip r:embed="rId3">
            <a:alphaModFix/>
          </a:blip>
          <a:srcRect b="72120" l="0" r="0" t="0"/>
          <a:stretch/>
        </p:blipFill>
        <p:spPr>
          <a:xfrm>
            <a:off x="5183600" y="615450"/>
            <a:ext cx="2969725" cy="1433974"/>
          </a:xfrm>
          <a:prstGeom prst="rect">
            <a:avLst/>
          </a:prstGeom>
          <a:noFill/>
          <a:ln>
            <a:noFill/>
          </a:ln>
        </p:spPr>
      </p:pic>
      <p:pic>
        <p:nvPicPr>
          <p:cNvPr descr="A screenshot of a computer&#10;&#10;Description automatically generated" id="394" name="Google Shape;394;p34"/>
          <p:cNvPicPr preferRelativeResize="0"/>
          <p:nvPr/>
        </p:nvPicPr>
        <p:blipFill rotWithShape="1">
          <a:blip r:embed="rId4">
            <a:alphaModFix/>
          </a:blip>
          <a:srcRect b="51496" l="0" r="0" t="0"/>
          <a:stretch/>
        </p:blipFill>
        <p:spPr>
          <a:xfrm>
            <a:off x="598800" y="580900"/>
            <a:ext cx="2969725" cy="2494724"/>
          </a:xfrm>
          <a:prstGeom prst="rect">
            <a:avLst/>
          </a:prstGeom>
          <a:noFill/>
          <a:ln>
            <a:noFill/>
          </a:ln>
        </p:spPr>
      </p:pic>
      <p:sp>
        <p:nvSpPr>
          <p:cNvPr id="395" name="Google Shape;395;p34"/>
          <p:cNvSpPr txBox="1"/>
          <p:nvPr/>
        </p:nvSpPr>
        <p:spPr>
          <a:xfrm>
            <a:off x="598725" y="143575"/>
            <a:ext cx="29697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2E0359"/>
                </a:solidFill>
                <a:latin typeface="Courier New"/>
                <a:ea typeface="Courier New"/>
                <a:cs typeface="Courier New"/>
                <a:sym typeface="Courier New"/>
              </a:rPr>
              <a:t>NETWORK VISUALIZATION</a:t>
            </a:r>
            <a:endParaRPr b="1" i="0" sz="1600" u="none" cap="none" strike="noStrike">
              <a:solidFill>
                <a:srgbClr val="2E0359"/>
              </a:solidFill>
              <a:latin typeface="Courier New"/>
              <a:ea typeface="Courier New"/>
              <a:cs typeface="Courier New"/>
              <a:sym typeface="Courier New"/>
            </a:endParaRPr>
          </a:p>
        </p:txBody>
      </p:sp>
      <p:sp>
        <p:nvSpPr>
          <p:cNvPr id="396" name="Google Shape;396;p34"/>
          <p:cNvSpPr txBox="1"/>
          <p:nvPr/>
        </p:nvSpPr>
        <p:spPr>
          <a:xfrm>
            <a:off x="5183600" y="143575"/>
            <a:ext cx="29697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accent5"/>
                </a:solidFill>
                <a:latin typeface="Courier New"/>
                <a:ea typeface="Courier New"/>
                <a:cs typeface="Courier New"/>
                <a:sym typeface="Courier New"/>
              </a:rPr>
              <a:t>TIMELINE VISUALIZATION</a:t>
            </a:r>
            <a:endParaRPr b="1" i="0" sz="1600" u="none" cap="none" strike="noStrike">
              <a:solidFill>
                <a:schemeClr val="accent5"/>
              </a:solidFill>
              <a:latin typeface="Courier New"/>
              <a:ea typeface="Courier New"/>
              <a:cs typeface="Courier New"/>
              <a:sym typeface="Courier New"/>
            </a:endParaRPr>
          </a:p>
        </p:txBody>
      </p:sp>
      <p:pic>
        <p:nvPicPr>
          <p:cNvPr descr="A screenshot of a computer&#10;&#10;Description automatically generated" id="397" name="Google Shape;397;p34"/>
          <p:cNvPicPr preferRelativeResize="0"/>
          <p:nvPr/>
        </p:nvPicPr>
        <p:blipFill rotWithShape="1">
          <a:blip r:embed="rId4">
            <a:alphaModFix/>
          </a:blip>
          <a:srcRect b="3477" l="0" r="0" t="34981"/>
          <a:stretch/>
        </p:blipFill>
        <p:spPr>
          <a:xfrm>
            <a:off x="598800" y="1840225"/>
            <a:ext cx="2969725" cy="3165400"/>
          </a:xfrm>
          <a:prstGeom prst="rect">
            <a:avLst/>
          </a:prstGeom>
          <a:noFill/>
          <a:ln>
            <a:noFill/>
          </a:ln>
        </p:spPr>
      </p:pic>
      <p:sp>
        <p:nvSpPr>
          <p:cNvPr id="398" name="Google Shape;398;p34"/>
          <p:cNvSpPr/>
          <p:nvPr/>
        </p:nvSpPr>
        <p:spPr>
          <a:xfrm>
            <a:off x="656950" y="953400"/>
            <a:ext cx="573600" cy="305700"/>
          </a:xfrm>
          <a:prstGeom prst="roundRect">
            <a:avLst>
              <a:gd fmla="val 16667" name="adj"/>
            </a:avLst>
          </a:prstGeom>
          <a:noFill/>
          <a:ln cap="flat" cmpd="sng" w="76200">
            <a:solidFill>
              <a:srgbClr val="400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99" name="Google Shape;399;p34"/>
          <p:cNvCxnSpPr/>
          <p:nvPr/>
        </p:nvCxnSpPr>
        <p:spPr>
          <a:xfrm flipH="1" rot="10800000">
            <a:off x="280075" y="1259125"/>
            <a:ext cx="531600" cy="1816500"/>
          </a:xfrm>
          <a:prstGeom prst="straightConnector1">
            <a:avLst/>
          </a:prstGeom>
          <a:noFill/>
          <a:ln cap="flat" cmpd="sng" w="76200">
            <a:solidFill>
              <a:srgbClr val="400080"/>
            </a:solidFill>
            <a:prstDash val="solid"/>
            <a:round/>
            <a:headEnd len="sm" w="sm" type="none"/>
            <a:tailEnd len="med" w="med" type="triangle"/>
          </a:ln>
        </p:spPr>
      </p:cxnSp>
      <p:pic>
        <p:nvPicPr>
          <p:cNvPr descr="A screenshot of a cell phone&#10;&#10;Description automatically generated" id="400" name="Google Shape;400;p34"/>
          <p:cNvPicPr preferRelativeResize="0"/>
          <p:nvPr/>
        </p:nvPicPr>
        <p:blipFill rotWithShape="1">
          <a:blip r:embed="rId3">
            <a:alphaModFix/>
          </a:blip>
          <a:srcRect b="7169" l="0" r="0" t="28244"/>
          <a:stretch/>
        </p:blipFill>
        <p:spPr>
          <a:xfrm>
            <a:off x="5183600" y="1683401"/>
            <a:ext cx="2969725" cy="3322226"/>
          </a:xfrm>
          <a:prstGeom prst="rect">
            <a:avLst/>
          </a:prstGeom>
          <a:noFill/>
          <a:ln>
            <a:noFill/>
          </a:ln>
        </p:spPr>
      </p:pic>
      <p:sp>
        <p:nvSpPr>
          <p:cNvPr id="401" name="Google Shape;401;p34"/>
          <p:cNvSpPr/>
          <p:nvPr/>
        </p:nvSpPr>
        <p:spPr>
          <a:xfrm>
            <a:off x="5183600" y="603275"/>
            <a:ext cx="2969700" cy="44025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34"/>
          <p:cNvSpPr/>
          <p:nvPr/>
        </p:nvSpPr>
        <p:spPr>
          <a:xfrm>
            <a:off x="593725" y="603275"/>
            <a:ext cx="2969700" cy="4402500"/>
          </a:xfrm>
          <a:prstGeom prst="rect">
            <a:avLst/>
          </a:prstGeom>
          <a:noFill/>
          <a:ln cap="flat" cmpd="sng" w="9525">
            <a:solidFill>
              <a:srgbClr val="4000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4"/>
          <p:cNvSpPr/>
          <p:nvPr/>
        </p:nvSpPr>
        <p:spPr>
          <a:xfrm>
            <a:off x="5703225" y="934875"/>
            <a:ext cx="583500" cy="339300"/>
          </a:xfrm>
          <a:prstGeom prst="roundRect">
            <a:avLst>
              <a:gd fmla="val 16667" name="adj"/>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4" name="Google Shape;404;p34"/>
          <p:cNvCxnSpPr/>
          <p:nvPr/>
        </p:nvCxnSpPr>
        <p:spPr>
          <a:xfrm flipH="1" rot="10800000">
            <a:off x="4953803" y="1243948"/>
            <a:ext cx="901800" cy="1958400"/>
          </a:xfrm>
          <a:prstGeom prst="straightConnector1">
            <a:avLst/>
          </a:prstGeom>
          <a:noFill/>
          <a:ln cap="flat" cmpd="sng" w="76200">
            <a:solidFill>
              <a:schemeClr val="accent5"/>
            </a:solidFill>
            <a:prstDash val="solid"/>
            <a:round/>
            <a:headEnd len="sm" w="sm" type="none"/>
            <a:tailEnd len="med" w="med" type="triangle"/>
          </a:ln>
        </p:spPr>
      </p:cxnSp>
      <p:pic>
        <p:nvPicPr>
          <p:cNvPr descr="Robot doing repeatable tasks with a lot of folders and magnifier. Robotic process automation, service robots profit, automated processing concept" id="405" name="Google Shape;405;p34"/>
          <p:cNvPicPr preferRelativeResize="0"/>
          <p:nvPr/>
        </p:nvPicPr>
        <p:blipFill rotWithShape="1">
          <a:blip r:embed="rId5">
            <a:alphaModFix/>
          </a:blip>
          <a:srcRect b="0" l="0" r="0" t="0"/>
          <a:stretch/>
        </p:blipFill>
        <p:spPr>
          <a:xfrm>
            <a:off x="7906128" y="211021"/>
            <a:ext cx="1131450" cy="7536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6"/>
          <p:cNvSpPr txBox="1"/>
          <p:nvPr/>
        </p:nvSpPr>
        <p:spPr>
          <a:xfrm>
            <a:off x="2658800" y="2691465"/>
            <a:ext cx="4648800" cy="20163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2400"/>
              <a:buFont typeface="Arial"/>
              <a:buNone/>
            </a:pPr>
            <a:r>
              <a:rPr b="0" i="0" lang="en" sz="1700" u="none" cap="none" strike="noStrike">
                <a:solidFill>
                  <a:schemeClr val="dk1"/>
                </a:solidFill>
                <a:latin typeface="Open Sans"/>
                <a:ea typeface="Open Sans"/>
                <a:cs typeface="Open Sans"/>
                <a:sym typeface="Open Sans"/>
              </a:rPr>
              <a:t>─ Create an account + login</a:t>
            </a:r>
            <a:endParaRPr b="1" i="0" sz="17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1700" u="none" cap="none" strike="noStrike">
                <a:solidFill>
                  <a:schemeClr val="dk1"/>
                </a:solidFill>
                <a:latin typeface="Open Sans"/>
                <a:ea typeface="Open Sans"/>
                <a:cs typeface="Open Sans"/>
                <a:sym typeface="Open Sans"/>
              </a:rPr>
              <a:t>─ Create a </a:t>
            </a:r>
            <a:r>
              <a:rPr b="1" i="0" lang="en" sz="1700" u="none" cap="none" strike="noStrike">
                <a:solidFill>
                  <a:schemeClr val="dk1"/>
                </a:solidFill>
                <a:latin typeface="Open Sans"/>
                <a:ea typeface="Open Sans"/>
                <a:cs typeface="Open Sans"/>
                <a:sym typeface="Open Sans"/>
              </a:rPr>
              <a:t>collection</a:t>
            </a:r>
            <a:endParaRPr b="1" i="0" sz="17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1700" u="none" cap="none" strike="noStrike">
                <a:solidFill>
                  <a:schemeClr val="dk1"/>
                </a:solidFill>
                <a:latin typeface="Open Sans"/>
                <a:ea typeface="Open Sans"/>
                <a:cs typeface="Open Sans"/>
                <a:sym typeface="Open Sans"/>
              </a:rPr>
              <a:t>─ Add a few citations/papers</a:t>
            </a:r>
            <a:endParaRPr b="0" i="0" sz="17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1700" u="none" cap="none" strike="noStrike">
                <a:solidFill>
                  <a:schemeClr val="dk1"/>
                </a:solidFill>
                <a:latin typeface="Open Sans"/>
                <a:ea typeface="Open Sans"/>
                <a:cs typeface="Open Sans"/>
                <a:sym typeface="Open Sans"/>
              </a:rPr>
              <a:t>─ EXPLORE!</a:t>
            </a:r>
            <a:endParaRPr b="0" i="0" sz="1700" u="none" cap="none" strike="noStrike">
              <a:solidFill>
                <a:schemeClr val="dk1"/>
              </a:solidFill>
              <a:latin typeface="Open Sans"/>
              <a:ea typeface="Open Sans"/>
              <a:cs typeface="Open Sans"/>
              <a:sym typeface="Open Sans"/>
            </a:endParaRPr>
          </a:p>
        </p:txBody>
      </p:sp>
      <p:grpSp>
        <p:nvGrpSpPr>
          <p:cNvPr id="411" name="Google Shape;411;p36"/>
          <p:cNvGrpSpPr/>
          <p:nvPr/>
        </p:nvGrpSpPr>
        <p:grpSpPr>
          <a:xfrm>
            <a:off x="106425" y="108050"/>
            <a:ext cx="476700" cy="502500"/>
            <a:chOff x="95250" y="112575"/>
            <a:chExt cx="476700" cy="502500"/>
          </a:xfrm>
        </p:grpSpPr>
        <p:cxnSp>
          <p:nvCxnSpPr>
            <p:cNvPr id="412" name="Google Shape;412;p3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13" name="Google Shape;413;p3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414" name="Google Shape;414;p36"/>
          <p:cNvGrpSpPr/>
          <p:nvPr/>
        </p:nvGrpSpPr>
        <p:grpSpPr>
          <a:xfrm flipH="1">
            <a:off x="8560875" y="108050"/>
            <a:ext cx="476700" cy="502500"/>
            <a:chOff x="95250" y="112575"/>
            <a:chExt cx="476700" cy="502500"/>
          </a:xfrm>
        </p:grpSpPr>
        <p:cxnSp>
          <p:nvCxnSpPr>
            <p:cNvPr id="415" name="Google Shape;415;p3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16" name="Google Shape;416;p3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417" name="Google Shape;417;p36"/>
          <p:cNvGrpSpPr/>
          <p:nvPr/>
        </p:nvGrpSpPr>
        <p:grpSpPr>
          <a:xfrm rot="-5400000">
            <a:off x="106425" y="4557750"/>
            <a:ext cx="476700" cy="502500"/>
            <a:chOff x="95250" y="112575"/>
            <a:chExt cx="476700" cy="502500"/>
          </a:xfrm>
        </p:grpSpPr>
        <p:cxnSp>
          <p:nvCxnSpPr>
            <p:cNvPr id="418" name="Google Shape;418;p3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19" name="Google Shape;419;p3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420" name="Google Shape;420;p36"/>
          <p:cNvGrpSpPr/>
          <p:nvPr/>
        </p:nvGrpSpPr>
        <p:grpSpPr>
          <a:xfrm rot="10800000">
            <a:off x="8560875" y="4587567"/>
            <a:ext cx="476700" cy="502500"/>
            <a:chOff x="95250" y="112575"/>
            <a:chExt cx="476700" cy="502500"/>
          </a:xfrm>
        </p:grpSpPr>
        <p:cxnSp>
          <p:nvCxnSpPr>
            <p:cNvPr id="421" name="Google Shape;421;p3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22" name="Google Shape;422;p3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423" name="Google Shape;423;p36"/>
          <p:cNvSpPr txBox="1"/>
          <p:nvPr/>
        </p:nvSpPr>
        <p:spPr>
          <a:xfrm>
            <a:off x="2197483" y="2691467"/>
            <a:ext cx="619800" cy="507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100" u="none" cap="none" strike="noStrike">
                <a:solidFill>
                  <a:schemeClr val="accent5"/>
                </a:solidFill>
                <a:latin typeface="Cabin Sketch"/>
                <a:ea typeface="Cabin Sketch"/>
                <a:cs typeface="Cabin Sketch"/>
                <a:sym typeface="Cabin Sketch"/>
              </a:rPr>
              <a:t>1</a:t>
            </a:r>
            <a:endParaRPr b="1" i="0" sz="2100" u="none" cap="none" strike="noStrike">
              <a:solidFill>
                <a:schemeClr val="accent5"/>
              </a:solidFill>
              <a:latin typeface="Cabin Sketch"/>
              <a:ea typeface="Cabin Sketch"/>
              <a:cs typeface="Cabin Sketch"/>
              <a:sym typeface="Cabin Sketch"/>
            </a:endParaRPr>
          </a:p>
        </p:txBody>
      </p:sp>
      <p:sp>
        <p:nvSpPr>
          <p:cNvPr id="424" name="Google Shape;424;p36"/>
          <p:cNvSpPr txBox="1"/>
          <p:nvPr/>
        </p:nvSpPr>
        <p:spPr>
          <a:xfrm>
            <a:off x="2197483" y="3199379"/>
            <a:ext cx="619800" cy="507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100" u="none" cap="none" strike="noStrike">
                <a:solidFill>
                  <a:schemeClr val="accent5"/>
                </a:solidFill>
                <a:latin typeface="Cabin Sketch"/>
                <a:ea typeface="Cabin Sketch"/>
                <a:cs typeface="Cabin Sketch"/>
                <a:sym typeface="Cabin Sketch"/>
              </a:rPr>
              <a:t>2</a:t>
            </a:r>
            <a:endParaRPr b="1" i="0" sz="2100" u="none" cap="none" strike="noStrike">
              <a:solidFill>
                <a:schemeClr val="accent5"/>
              </a:solidFill>
              <a:latin typeface="Cabin Sketch"/>
              <a:ea typeface="Cabin Sketch"/>
              <a:cs typeface="Cabin Sketch"/>
              <a:sym typeface="Cabin Sketch"/>
            </a:endParaRPr>
          </a:p>
        </p:txBody>
      </p:sp>
      <p:sp>
        <p:nvSpPr>
          <p:cNvPr id="425" name="Google Shape;425;p36"/>
          <p:cNvSpPr txBox="1"/>
          <p:nvPr/>
        </p:nvSpPr>
        <p:spPr>
          <a:xfrm>
            <a:off x="2197483" y="3707267"/>
            <a:ext cx="619800" cy="507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100" u="none" cap="none" strike="noStrike">
                <a:solidFill>
                  <a:schemeClr val="accent5"/>
                </a:solidFill>
                <a:latin typeface="Cabin Sketch"/>
                <a:ea typeface="Cabin Sketch"/>
                <a:cs typeface="Cabin Sketch"/>
                <a:sym typeface="Cabin Sketch"/>
              </a:rPr>
              <a:t>3</a:t>
            </a:r>
            <a:endParaRPr b="1" i="0" sz="2100" u="none" cap="none" strike="noStrike">
              <a:solidFill>
                <a:schemeClr val="accent5"/>
              </a:solidFill>
              <a:latin typeface="Cabin Sketch"/>
              <a:ea typeface="Cabin Sketch"/>
              <a:cs typeface="Cabin Sketch"/>
              <a:sym typeface="Cabin Sketch"/>
            </a:endParaRPr>
          </a:p>
        </p:txBody>
      </p:sp>
      <p:sp>
        <p:nvSpPr>
          <p:cNvPr id="426" name="Google Shape;426;p36"/>
          <p:cNvSpPr txBox="1"/>
          <p:nvPr/>
        </p:nvSpPr>
        <p:spPr>
          <a:xfrm>
            <a:off x="2197483" y="4215167"/>
            <a:ext cx="619800" cy="507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100" u="none" cap="none" strike="noStrike">
                <a:solidFill>
                  <a:schemeClr val="accent5"/>
                </a:solidFill>
                <a:latin typeface="Cabin Sketch"/>
                <a:ea typeface="Cabin Sketch"/>
                <a:cs typeface="Cabin Sketch"/>
                <a:sym typeface="Cabin Sketch"/>
              </a:rPr>
              <a:t>4</a:t>
            </a:r>
            <a:endParaRPr b="1" i="0" sz="2100" u="none" cap="none" strike="noStrike">
              <a:solidFill>
                <a:schemeClr val="accent5"/>
              </a:solidFill>
              <a:latin typeface="Cabin Sketch"/>
              <a:ea typeface="Cabin Sketch"/>
              <a:cs typeface="Cabin Sketch"/>
              <a:sym typeface="Cabin Sketch"/>
            </a:endParaRPr>
          </a:p>
        </p:txBody>
      </p:sp>
      <p:sp>
        <p:nvSpPr>
          <p:cNvPr id="427" name="Google Shape;427;p36">
            <a:hlinkClick r:id="rId3"/>
          </p:cNvPr>
          <p:cNvSpPr txBox="1"/>
          <p:nvPr/>
        </p:nvSpPr>
        <p:spPr>
          <a:xfrm>
            <a:off x="2561941" y="1915253"/>
            <a:ext cx="4381200" cy="523200"/>
          </a:xfrm>
          <a:prstGeom prst="rect">
            <a:avLst/>
          </a:prstGeom>
          <a:noFill/>
          <a:ln cap="flat" cmpd="sng" w="9525">
            <a:solidFill>
              <a:srgbClr val="E1D1D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n" sz="2200" u="none" cap="none" strike="noStrike">
                <a:solidFill>
                  <a:schemeClr val="dk1"/>
                </a:solidFill>
                <a:latin typeface="JetBrains Mono"/>
                <a:ea typeface="JetBrains Mono"/>
                <a:cs typeface="JetBrains Mono"/>
                <a:sym typeface="JetBrains Mono"/>
              </a:rPr>
              <a:t>www.researchrabbit.ai</a:t>
            </a:r>
            <a:endParaRPr b="0" i="0" sz="2200" u="none" cap="none" strike="noStrike">
              <a:solidFill>
                <a:schemeClr val="dk1"/>
              </a:solidFill>
              <a:latin typeface="JetBrains Mono"/>
              <a:ea typeface="JetBrains Mono"/>
              <a:cs typeface="JetBrains Mono"/>
              <a:sym typeface="JetBrains Mono"/>
            </a:endParaRPr>
          </a:p>
        </p:txBody>
      </p:sp>
      <p:pic>
        <p:nvPicPr>
          <p:cNvPr descr="Image of ResearchRabbit logo" id="428" name="Google Shape;428;p36"/>
          <p:cNvPicPr preferRelativeResize="0"/>
          <p:nvPr/>
        </p:nvPicPr>
        <p:blipFill rotWithShape="1">
          <a:blip r:embed="rId4">
            <a:alphaModFix/>
          </a:blip>
          <a:srcRect b="0" l="19120" r="18641" t="0"/>
          <a:stretch/>
        </p:blipFill>
        <p:spPr>
          <a:xfrm>
            <a:off x="2562047" y="104861"/>
            <a:ext cx="4381088" cy="17584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2" name="Shape 432"/>
        <p:cNvGrpSpPr/>
        <p:nvPr/>
      </p:nvGrpSpPr>
      <p:grpSpPr>
        <a:xfrm>
          <a:off x="0" y="0"/>
          <a:ext cx="0" cy="0"/>
          <a:chOff x="0" y="0"/>
          <a:chExt cx="0" cy="0"/>
        </a:xfrm>
      </p:grpSpPr>
      <p:sp>
        <p:nvSpPr>
          <p:cNvPr id="433" name="Google Shape;433;p35"/>
          <p:cNvSpPr txBox="1"/>
          <p:nvPr/>
        </p:nvSpPr>
        <p:spPr>
          <a:xfrm>
            <a:off x="364350" y="190107"/>
            <a:ext cx="8415300" cy="67707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Cool things about Research Rabbit</a:t>
            </a:r>
            <a:endParaRPr b="0" i="0" sz="3200" u="none" cap="none" strike="noStrike">
              <a:solidFill>
                <a:schemeClr val="dk1"/>
              </a:solidFill>
              <a:latin typeface="Oswald"/>
              <a:ea typeface="Oswald"/>
              <a:cs typeface="Oswald"/>
              <a:sym typeface="Oswald"/>
            </a:endParaRPr>
          </a:p>
        </p:txBody>
      </p:sp>
      <p:sp>
        <p:nvSpPr>
          <p:cNvPr id="434" name="Google Shape;434;p35"/>
          <p:cNvSpPr txBox="1"/>
          <p:nvPr/>
        </p:nvSpPr>
        <p:spPr>
          <a:xfrm>
            <a:off x="1078522" y="1021178"/>
            <a:ext cx="6552600" cy="3270000"/>
          </a:xfrm>
          <a:prstGeom prst="rect">
            <a:avLst/>
          </a:prstGeom>
          <a:noFill/>
          <a:ln>
            <a:noFill/>
          </a:ln>
        </p:spPr>
        <p:txBody>
          <a:bodyPr anchorCtr="0" anchor="t" bIns="45700" lIns="91425" spcFirstLastPara="1" rIns="91425" wrap="square" tIns="45700">
            <a:spAutoFit/>
          </a:bodyPr>
          <a:lstStyle/>
          <a:p>
            <a:pPr indent="-222250" lvl="0" marL="457200" marR="0" rtl="0" algn="l">
              <a:lnSpc>
                <a:spcPct val="130000"/>
              </a:lnSpc>
              <a:spcBef>
                <a:spcPts val="0"/>
              </a:spcBef>
              <a:spcAft>
                <a:spcPts val="0"/>
              </a:spcAft>
              <a:buClr>
                <a:schemeClr val="accent5"/>
              </a:buClr>
              <a:buSzPts val="1700"/>
              <a:buFont typeface="JetBrains Mono"/>
              <a:buChar char="⇢"/>
            </a:pPr>
            <a:r>
              <a:rPr b="0" i="0" lang="en" sz="1700" u="none" cap="none" strike="noStrike">
                <a:solidFill>
                  <a:schemeClr val="dk1"/>
                </a:solidFill>
                <a:latin typeface="Open Sans"/>
                <a:ea typeface="Open Sans"/>
                <a:cs typeface="Open Sans"/>
                <a:sym typeface="Open Sans"/>
              </a:rPr>
              <a:t>Free </a:t>
            </a:r>
            <a:r>
              <a:rPr b="0" i="0" lang="en" sz="1700" u="none" cap="none" strike="noStrike">
                <a:solidFill>
                  <a:schemeClr val="accent5"/>
                </a:solidFill>
                <a:latin typeface="Open Sans"/>
                <a:ea typeface="Open Sans"/>
                <a:cs typeface="Open Sans"/>
                <a:sym typeface="Open Sans"/>
              </a:rPr>
              <a:t>→</a:t>
            </a:r>
            <a:r>
              <a:rPr b="0" i="0" lang="en" sz="1700" u="none" cap="none" strike="noStrike">
                <a:solidFill>
                  <a:schemeClr val="dk1"/>
                </a:solidFill>
                <a:latin typeface="Open Sans"/>
                <a:ea typeface="Open Sans"/>
                <a:cs typeface="Open Sans"/>
                <a:sym typeface="Open Sans"/>
              </a:rPr>
              <a:t> ostensibly always will be</a:t>
            </a:r>
            <a:endParaRPr b="0" i="0" sz="1700" u="none" cap="none" strike="noStrike">
              <a:solidFill>
                <a:schemeClr val="dk1"/>
              </a:solidFill>
              <a:latin typeface="Open Sans"/>
              <a:ea typeface="Open Sans"/>
              <a:cs typeface="Open Sans"/>
              <a:sym typeface="Open Sans"/>
            </a:endParaRPr>
          </a:p>
          <a:p>
            <a:pPr indent="-222250" lvl="0" marL="457200" marR="0" rtl="0" algn="l">
              <a:lnSpc>
                <a:spcPct val="130000"/>
              </a:lnSpc>
              <a:spcBef>
                <a:spcPts val="0"/>
              </a:spcBef>
              <a:spcAft>
                <a:spcPts val="0"/>
              </a:spcAft>
              <a:buClr>
                <a:schemeClr val="accent5"/>
              </a:buClr>
              <a:buSzPts val="1700"/>
              <a:buFont typeface="JetBrains Mono Light"/>
              <a:buChar char="⇢"/>
            </a:pPr>
            <a:r>
              <a:rPr b="0" i="0" lang="en" sz="1700" u="none" cap="none" strike="noStrike">
                <a:solidFill>
                  <a:schemeClr val="dk1"/>
                </a:solidFill>
                <a:latin typeface="Open Sans"/>
                <a:ea typeface="Open Sans"/>
                <a:cs typeface="Open Sans"/>
                <a:sym typeface="Open Sans"/>
              </a:rPr>
              <a:t>Useful FAQs</a:t>
            </a:r>
            <a:endParaRPr b="0" i="0" sz="1400" u="none" cap="none" strike="noStrike">
              <a:solidFill>
                <a:schemeClr val="dk1"/>
              </a:solidFill>
              <a:latin typeface="Arial"/>
              <a:ea typeface="Arial"/>
              <a:cs typeface="Arial"/>
              <a:sym typeface="Arial"/>
            </a:endParaRPr>
          </a:p>
          <a:p>
            <a:pPr indent="-222250" lvl="0" marL="457200" marR="0" rtl="0" algn="l">
              <a:lnSpc>
                <a:spcPct val="130000"/>
              </a:lnSpc>
              <a:spcBef>
                <a:spcPts val="0"/>
              </a:spcBef>
              <a:spcAft>
                <a:spcPts val="0"/>
              </a:spcAft>
              <a:buClr>
                <a:schemeClr val="accent5"/>
              </a:buClr>
              <a:buSzPts val="1700"/>
              <a:buFont typeface="JetBrains Mono Light"/>
              <a:buChar char="⇢"/>
            </a:pPr>
            <a:r>
              <a:rPr b="0" i="0" lang="en" sz="1700" u="none" cap="none" strike="noStrike">
                <a:solidFill>
                  <a:schemeClr val="dk1"/>
                </a:solidFill>
                <a:latin typeface="Open Sans"/>
                <a:ea typeface="Open Sans"/>
                <a:cs typeface="Open Sans"/>
                <a:sym typeface="Open Sans"/>
              </a:rPr>
              <a:t>Book 1:1 sessions with them</a:t>
            </a:r>
            <a:endParaRPr b="0" i="0" sz="1400" u="none" cap="none" strike="noStrike">
              <a:solidFill>
                <a:schemeClr val="dk1"/>
              </a:solidFill>
              <a:latin typeface="Arial"/>
              <a:ea typeface="Arial"/>
              <a:cs typeface="Arial"/>
              <a:sym typeface="Arial"/>
            </a:endParaRPr>
          </a:p>
          <a:p>
            <a:pPr indent="-222250" lvl="0" marL="457200" marR="0" rtl="0" algn="l">
              <a:lnSpc>
                <a:spcPct val="130000"/>
              </a:lnSpc>
              <a:spcBef>
                <a:spcPts val="0"/>
              </a:spcBef>
              <a:spcAft>
                <a:spcPts val="0"/>
              </a:spcAft>
              <a:buClr>
                <a:schemeClr val="accent5"/>
              </a:buClr>
              <a:buSzPts val="1700"/>
              <a:buFont typeface="JetBrains Mono Light"/>
              <a:buChar char="⇢"/>
            </a:pPr>
            <a:r>
              <a:rPr b="0" i="0" lang="en" sz="1700" u="none" cap="none" strike="noStrike">
                <a:solidFill>
                  <a:schemeClr val="dk1"/>
                </a:solidFill>
                <a:latin typeface="Open Sans"/>
                <a:ea typeface="Open Sans"/>
                <a:cs typeface="Open Sans"/>
                <a:sym typeface="Open Sans"/>
              </a:rPr>
              <a:t>No issues with hallucinations</a:t>
            </a:r>
            <a:endParaRPr b="0" i="0" sz="1400" u="none" cap="none" strike="noStrike">
              <a:solidFill>
                <a:schemeClr val="dk1"/>
              </a:solidFill>
              <a:latin typeface="Arial"/>
              <a:ea typeface="Arial"/>
              <a:cs typeface="Arial"/>
              <a:sym typeface="Arial"/>
            </a:endParaRPr>
          </a:p>
          <a:p>
            <a:pPr indent="-222250" lvl="0" marL="457200" marR="0" rtl="0" algn="l">
              <a:lnSpc>
                <a:spcPct val="115000"/>
              </a:lnSpc>
              <a:spcBef>
                <a:spcPts val="0"/>
              </a:spcBef>
              <a:spcAft>
                <a:spcPts val="0"/>
              </a:spcAft>
              <a:buClr>
                <a:schemeClr val="accent5"/>
              </a:buClr>
              <a:buSzPts val="1700"/>
              <a:buFont typeface="JetBrains Mono Light"/>
              <a:buChar char="⇢"/>
            </a:pPr>
            <a:r>
              <a:rPr b="0" i="0" lang="en" sz="1700" u="none" cap="none" strike="noStrike">
                <a:solidFill>
                  <a:schemeClr val="dk1"/>
                </a:solidFill>
                <a:latin typeface="Open Sans"/>
                <a:ea typeface="Open Sans"/>
                <a:cs typeface="Open Sans"/>
                <a:sym typeface="Open Sans"/>
              </a:rPr>
              <a:t>No uploading full PDFs, downloading generated content</a:t>
            </a:r>
            <a:endParaRPr b="0" i="0" sz="1400" u="none" cap="none" strike="noStrike">
              <a:solidFill>
                <a:schemeClr val="dk1"/>
              </a:solidFill>
              <a:latin typeface="Arial"/>
              <a:ea typeface="Arial"/>
              <a:cs typeface="Arial"/>
              <a:sym typeface="Arial"/>
            </a:endParaRPr>
          </a:p>
          <a:p>
            <a:pPr indent="-209550" lvl="1" marL="914400" marR="0" rtl="0" algn="l">
              <a:lnSpc>
                <a:spcPct val="115000"/>
              </a:lnSpc>
              <a:spcBef>
                <a:spcPts val="500"/>
              </a:spcBef>
              <a:spcAft>
                <a:spcPts val="0"/>
              </a:spcAft>
              <a:buClr>
                <a:srgbClr val="EF8600"/>
              </a:buClr>
              <a:buSzPts val="1500"/>
              <a:buFont typeface="JetBrains Mono"/>
              <a:buChar char="○"/>
            </a:pPr>
            <a:r>
              <a:rPr b="0" i="0" lang="en" sz="1500" u="none" cap="none" strike="noStrike">
                <a:solidFill>
                  <a:schemeClr val="dk1"/>
                </a:solidFill>
                <a:latin typeface="Open Sans"/>
                <a:ea typeface="Open Sans"/>
                <a:cs typeface="Open Sans"/>
                <a:sym typeface="Open Sans"/>
              </a:rPr>
              <a:t>You can upload Zotero folder of citations &amp; download a RR collection into a Zotero folder</a:t>
            </a:r>
            <a:endParaRPr b="0" i="0" sz="1400" u="none" cap="none" strike="noStrike">
              <a:solidFill>
                <a:schemeClr val="dk1"/>
              </a:solidFill>
              <a:latin typeface="Arial"/>
              <a:ea typeface="Arial"/>
              <a:cs typeface="Arial"/>
              <a:sym typeface="Arial"/>
            </a:endParaRPr>
          </a:p>
          <a:p>
            <a:pPr indent="-209550" lvl="1" marL="914400" marR="0" rtl="0" algn="l">
              <a:lnSpc>
                <a:spcPct val="115000"/>
              </a:lnSpc>
              <a:spcBef>
                <a:spcPts val="500"/>
              </a:spcBef>
              <a:spcAft>
                <a:spcPts val="0"/>
              </a:spcAft>
              <a:buClr>
                <a:srgbClr val="EF8600"/>
              </a:buClr>
              <a:buSzPts val="1500"/>
              <a:buFont typeface="JetBrains Mono"/>
              <a:buChar char="○"/>
            </a:pPr>
            <a:r>
              <a:rPr b="0" i="0" lang="en" sz="1500" u="none" cap="none" strike="noStrike">
                <a:solidFill>
                  <a:schemeClr val="dk1"/>
                </a:solidFill>
                <a:latin typeface="Open Sans"/>
                <a:ea typeface="Open Sans"/>
                <a:cs typeface="Open Sans"/>
                <a:sym typeface="Open Sans"/>
              </a:rPr>
              <a:t>You can export or import </a:t>
            </a:r>
            <a:r>
              <a:rPr b="1" i="0" lang="en" sz="1500" u="none" cap="none" strike="noStrike">
                <a:solidFill>
                  <a:schemeClr val="dk1"/>
                </a:solidFill>
                <a:latin typeface="Open Sans"/>
                <a:ea typeface="Open Sans"/>
                <a:cs typeface="Open Sans"/>
                <a:sym typeface="Open Sans"/>
              </a:rPr>
              <a:t>.bib</a:t>
            </a:r>
            <a:r>
              <a:rPr b="0" i="0" lang="en" sz="1500" u="none" cap="none" strike="noStrike">
                <a:solidFill>
                  <a:schemeClr val="dk1"/>
                </a:solidFill>
                <a:latin typeface="Open Sans"/>
                <a:ea typeface="Open Sans"/>
                <a:cs typeface="Open Sans"/>
                <a:sym typeface="Open Sans"/>
              </a:rPr>
              <a:t> or </a:t>
            </a:r>
            <a:r>
              <a:rPr b="1" i="0" lang="en" sz="1500" u="none" cap="none" strike="noStrike">
                <a:solidFill>
                  <a:schemeClr val="dk1"/>
                </a:solidFill>
                <a:latin typeface="Open Sans"/>
                <a:ea typeface="Open Sans"/>
                <a:cs typeface="Open Sans"/>
                <a:sym typeface="Open Sans"/>
              </a:rPr>
              <a:t>.ris</a:t>
            </a:r>
            <a:r>
              <a:rPr b="0" i="0" lang="en" sz="1500" u="none" cap="none" strike="noStrike">
                <a:solidFill>
                  <a:schemeClr val="dk1"/>
                </a:solidFill>
                <a:latin typeface="Open Sans"/>
                <a:ea typeface="Open Sans"/>
                <a:cs typeface="Open Sans"/>
                <a:sym typeface="Open Sans"/>
              </a:rPr>
              <a:t> files to Endnote, Zotero &amp; Mendeley</a:t>
            </a:r>
            <a:endParaRPr b="0" i="0" sz="1400" u="none" cap="none" strike="noStrike">
              <a:solidFill>
                <a:schemeClr val="dk1"/>
              </a:solidFill>
              <a:latin typeface="Arial"/>
              <a:ea typeface="Arial"/>
              <a:cs typeface="Arial"/>
              <a:sym typeface="Arial"/>
            </a:endParaRPr>
          </a:p>
          <a:p>
            <a:pPr indent="-222250" lvl="0" marL="457200" marR="0" rtl="0" algn="l">
              <a:lnSpc>
                <a:spcPct val="115000"/>
              </a:lnSpc>
              <a:spcBef>
                <a:spcPts val="500"/>
              </a:spcBef>
              <a:spcAft>
                <a:spcPts val="0"/>
              </a:spcAft>
              <a:buClr>
                <a:schemeClr val="accent5"/>
              </a:buClr>
              <a:buSzPts val="1700"/>
              <a:buFont typeface="JetBrains Mono Light"/>
              <a:buChar char="⇢"/>
            </a:pPr>
            <a:r>
              <a:rPr b="0" i="0" lang="en" sz="1700" u="none" cap="none" strike="noStrike">
                <a:solidFill>
                  <a:schemeClr val="dk1"/>
                </a:solidFill>
                <a:latin typeface="Open Sans"/>
                <a:ea typeface="Open Sans"/>
                <a:cs typeface="Open Sans"/>
                <a:sym typeface="Open Sans"/>
              </a:rPr>
              <a:t>Collections are shareable</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grpSp>
        <p:nvGrpSpPr>
          <p:cNvPr id="439" name="Google Shape;439;g368bcb40ff2_0_5"/>
          <p:cNvGrpSpPr/>
          <p:nvPr/>
        </p:nvGrpSpPr>
        <p:grpSpPr>
          <a:xfrm>
            <a:off x="106425" y="108050"/>
            <a:ext cx="476700" cy="502500"/>
            <a:chOff x="95250" y="112575"/>
            <a:chExt cx="476700" cy="502500"/>
          </a:xfrm>
        </p:grpSpPr>
        <p:cxnSp>
          <p:nvCxnSpPr>
            <p:cNvPr id="440" name="Google Shape;440;g368bcb40ff2_0_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41" name="Google Shape;441;g368bcb40ff2_0_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442" name="Google Shape;442;g368bcb40ff2_0_5"/>
          <p:cNvGrpSpPr/>
          <p:nvPr/>
        </p:nvGrpSpPr>
        <p:grpSpPr>
          <a:xfrm flipH="1">
            <a:off x="8560875" y="108050"/>
            <a:ext cx="476700" cy="502500"/>
            <a:chOff x="95250" y="112575"/>
            <a:chExt cx="476700" cy="502500"/>
          </a:xfrm>
        </p:grpSpPr>
        <p:cxnSp>
          <p:nvCxnSpPr>
            <p:cNvPr id="443" name="Google Shape;443;g368bcb40ff2_0_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44" name="Google Shape;444;g368bcb40ff2_0_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445" name="Google Shape;445;g368bcb40ff2_0_5"/>
          <p:cNvGrpSpPr/>
          <p:nvPr/>
        </p:nvGrpSpPr>
        <p:grpSpPr>
          <a:xfrm rot="-5400000">
            <a:off x="106425" y="4557750"/>
            <a:ext cx="476700" cy="502500"/>
            <a:chOff x="95250" y="112575"/>
            <a:chExt cx="476700" cy="502500"/>
          </a:xfrm>
        </p:grpSpPr>
        <p:cxnSp>
          <p:nvCxnSpPr>
            <p:cNvPr id="446" name="Google Shape;446;g368bcb40ff2_0_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47" name="Google Shape;447;g368bcb40ff2_0_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448" name="Google Shape;448;g368bcb40ff2_0_5"/>
          <p:cNvGrpSpPr/>
          <p:nvPr/>
        </p:nvGrpSpPr>
        <p:grpSpPr>
          <a:xfrm rot="10800000">
            <a:off x="8560875" y="4587567"/>
            <a:ext cx="476700" cy="502500"/>
            <a:chOff x="95250" y="112575"/>
            <a:chExt cx="476700" cy="502500"/>
          </a:xfrm>
        </p:grpSpPr>
        <p:cxnSp>
          <p:nvCxnSpPr>
            <p:cNvPr id="449" name="Google Shape;449;g368bcb40ff2_0_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50" name="Google Shape;450;g368bcb40ff2_0_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451" name="Google Shape;451;g368bcb40ff2_0_5"/>
          <p:cNvSpPr txBox="1"/>
          <p:nvPr/>
        </p:nvSpPr>
        <p:spPr>
          <a:xfrm>
            <a:off x="326775" y="345850"/>
            <a:ext cx="68367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Compare tools</a:t>
            </a:r>
            <a:endParaRPr b="0" i="0" sz="3200" u="none" cap="none" strike="noStrike">
              <a:solidFill>
                <a:schemeClr val="dk1"/>
              </a:solidFill>
              <a:latin typeface="Oswald"/>
              <a:ea typeface="Oswald"/>
              <a:cs typeface="Oswald"/>
              <a:sym typeface="Oswald"/>
            </a:endParaRPr>
          </a:p>
        </p:txBody>
      </p:sp>
      <p:sp>
        <p:nvSpPr>
          <p:cNvPr id="452" name="Google Shape;452;g368bcb40ff2_0_5"/>
          <p:cNvSpPr txBox="1"/>
          <p:nvPr/>
        </p:nvSpPr>
        <p:spPr>
          <a:xfrm>
            <a:off x="1149925" y="1620025"/>
            <a:ext cx="7296300" cy="1246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dk2"/>
                </a:solidFill>
                <a:latin typeface="Arial"/>
                <a:ea typeface="Arial"/>
                <a:cs typeface="Arial"/>
                <a:sym typeface="Arial"/>
              </a:rPr>
              <a:t>Comparing the tools you just worked with:</a:t>
            </a:r>
            <a:br>
              <a:rPr b="0" i="0" lang="en" sz="2300" u="none" cap="none" strike="noStrike">
                <a:solidFill>
                  <a:schemeClr val="dk2"/>
                </a:solidFill>
                <a:latin typeface="Arial"/>
                <a:ea typeface="Arial"/>
                <a:cs typeface="Arial"/>
                <a:sym typeface="Arial"/>
              </a:rPr>
            </a:br>
            <a:br>
              <a:rPr b="0" i="0" lang="en" sz="2300" u="none" cap="none" strike="noStrike">
                <a:solidFill>
                  <a:schemeClr val="dk2"/>
                </a:solidFill>
                <a:latin typeface="Arial"/>
                <a:ea typeface="Arial"/>
                <a:cs typeface="Arial"/>
                <a:sym typeface="Arial"/>
              </a:rPr>
            </a:br>
            <a:r>
              <a:rPr b="0" i="0" lang="en" sz="2300" u="none" cap="none" strike="noStrike">
                <a:solidFill>
                  <a:schemeClr val="dk2"/>
                </a:solidFill>
                <a:latin typeface="Arial"/>
                <a:ea typeface="Arial"/>
                <a:cs typeface="Arial"/>
                <a:sym typeface="Arial"/>
              </a:rPr>
              <a:t>What are the qualitative differences and use cases?</a:t>
            </a:r>
            <a:endParaRPr b="0" i="0" sz="2300" u="none" cap="none" strike="noStrike">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840b7833a0_0_238"/>
          <p:cNvSpPr txBox="1"/>
          <p:nvPr/>
        </p:nvSpPr>
        <p:spPr>
          <a:xfrm>
            <a:off x="1275926" y="167075"/>
            <a:ext cx="67323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AI-assisted literature discovery and analysis</a:t>
            </a:r>
            <a:endParaRPr b="0" i="0" sz="3200" u="none" cap="none" strike="noStrike">
              <a:solidFill>
                <a:schemeClr val="dk1"/>
              </a:solidFill>
              <a:latin typeface="Oswald"/>
              <a:ea typeface="Oswald"/>
              <a:cs typeface="Oswald"/>
              <a:sym typeface="Oswald"/>
            </a:endParaRPr>
          </a:p>
        </p:txBody>
      </p:sp>
      <p:pic>
        <p:nvPicPr>
          <p:cNvPr id="458" name="Google Shape;458;g3840b7833a0_0_238" title="From-Literature-Search-to-Writing.png"/>
          <p:cNvPicPr preferRelativeResize="0"/>
          <p:nvPr/>
        </p:nvPicPr>
        <p:blipFill rotWithShape="1">
          <a:blip r:embed="rId3">
            <a:alphaModFix/>
          </a:blip>
          <a:srcRect b="54801" l="0" r="0" t="10609"/>
          <a:stretch/>
        </p:blipFill>
        <p:spPr>
          <a:xfrm>
            <a:off x="790475" y="1079100"/>
            <a:ext cx="7217752" cy="3533348"/>
          </a:xfrm>
          <a:prstGeom prst="rect">
            <a:avLst/>
          </a:prstGeom>
          <a:noFill/>
          <a:ln>
            <a:noFill/>
          </a:ln>
        </p:spPr>
      </p:pic>
      <p:sp>
        <p:nvSpPr>
          <p:cNvPr id="459" name="Google Shape;459;g3840b7833a0_0_238"/>
          <p:cNvSpPr/>
          <p:nvPr/>
        </p:nvSpPr>
        <p:spPr>
          <a:xfrm>
            <a:off x="1763497" y="2498287"/>
            <a:ext cx="4875600" cy="613800"/>
          </a:xfrm>
          <a:prstGeom prst="rect">
            <a:avLst/>
          </a:prstGeom>
          <a:noFill/>
          <a:ln cap="flat" cmpd="sng" w="381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2"/>
          <p:cNvSpPr txBox="1"/>
          <p:nvPr/>
        </p:nvSpPr>
        <p:spPr>
          <a:xfrm>
            <a:off x="452200" y="134150"/>
            <a:ext cx="55146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Literature summaries</a:t>
            </a:r>
            <a:endParaRPr b="0" i="0" sz="3200" u="none" cap="none" strike="noStrike">
              <a:solidFill>
                <a:schemeClr val="dk1"/>
              </a:solidFill>
              <a:latin typeface="Oswald"/>
              <a:ea typeface="Oswald"/>
              <a:cs typeface="Oswald"/>
              <a:sym typeface="Oswald"/>
            </a:endParaRPr>
          </a:p>
        </p:txBody>
      </p:sp>
      <p:grpSp>
        <p:nvGrpSpPr>
          <p:cNvPr id="465" name="Google Shape;465;p42"/>
          <p:cNvGrpSpPr/>
          <p:nvPr/>
        </p:nvGrpSpPr>
        <p:grpSpPr>
          <a:xfrm rot="-5400000">
            <a:off x="106425" y="4557750"/>
            <a:ext cx="476700" cy="502500"/>
            <a:chOff x="95250" y="112575"/>
            <a:chExt cx="476700" cy="502500"/>
          </a:xfrm>
        </p:grpSpPr>
        <p:cxnSp>
          <p:nvCxnSpPr>
            <p:cNvPr id="466" name="Google Shape;466;p42"/>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67" name="Google Shape;467;p42"/>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468" name="Google Shape;468;p42"/>
          <p:cNvGrpSpPr/>
          <p:nvPr/>
        </p:nvGrpSpPr>
        <p:grpSpPr>
          <a:xfrm rot="10800000">
            <a:off x="8560875" y="4557750"/>
            <a:ext cx="476700" cy="502500"/>
            <a:chOff x="95250" y="112575"/>
            <a:chExt cx="476700" cy="502500"/>
          </a:xfrm>
        </p:grpSpPr>
        <p:cxnSp>
          <p:nvCxnSpPr>
            <p:cNvPr id="469" name="Google Shape;469;p42"/>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70" name="Google Shape;470;p42"/>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pic>
        <p:nvPicPr>
          <p:cNvPr descr="Image of Elicit logo" id="471" name="Google Shape;471;p42"/>
          <p:cNvPicPr preferRelativeResize="0"/>
          <p:nvPr/>
        </p:nvPicPr>
        <p:blipFill rotWithShape="1">
          <a:blip r:embed="rId3">
            <a:alphaModFix/>
          </a:blip>
          <a:srcRect b="37385" l="24821" r="24220" t="38685"/>
          <a:stretch/>
        </p:blipFill>
        <p:spPr>
          <a:xfrm>
            <a:off x="1319548" y="1264831"/>
            <a:ext cx="1376690" cy="431099"/>
          </a:xfrm>
          <a:prstGeom prst="rect">
            <a:avLst/>
          </a:prstGeom>
          <a:noFill/>
          <a:ln>
            <a:noFill/>
          </a:ln>
        </p:spPr>
      </p:pic>
      <p:pic>
        <p:nvPicPr>
          <p:cNvPr descr="Image of Consensus logo" id="472" name="Google Shape;472;p42"/>
          <p:cNvPicPr preferRelativeResize="0"/>
          <p:nvPr/>
        </p:nvPicPr>
        <p:blipFill rotWithShape="1">
          <a:blip r:embed="rId4">
            <a:alphaModFix/>
          </a:blip>
          <a:srcRect b="0" l="0" r="0" t="0"/>
          <a:stretch/>
        </p:blipFill>
        <p:spPr>
          <a:xfrm>
            <a:off x="1417489" y="1907325"/>
            <a:ext cx="978954" cy="532484"/>
          </a:xfrm>
          <a:prstGeom prst="rect">
            <a:avLst/>
          </a:prstGeom>
          <a:noFill/>
          <a:ln>
            <a:noFill/>
          </a:ln>
        </p:spPr>
      </p:pic>
      <p:pic>
        <p:nvPicPr>
          <p:cNvPr descr="Image of SciSpace logo" id="473" name="Google Shape;473;p42"/>
          <p:cNvPicPr preferRelativeResize="0"/>
          <p:nvPr/>
        </p:nvPicPr>
        <p:blipFill rotWithShape="1">
          <a:blip r:embed="rId5">
            <a:alphaModFix/>
          </a:blip>
          <a:srcRect b="15467" l="3631" r="4884" t="15728"/>
          <a:stretch/>
        </p:blipFill>
        <p:spPr>
          <a:xfrm>
            <a:off x="3721374" y="1336880"/>
            <a:ext cx="1234959" cy="249743"/>
          </a:xfrm>
          <a:prstGeom prst="rect">
            <a:avLst/>
          </a:prstGeom>
          <a:noFill/>
          <a:ln>
            <a:noFill/>
          </a:ln>
        </p:spPr>
      </p:pic>
      <p:pic>
        <p:nvPicPr>
          <p:cNvPr descr="Image of Litmaps logo" id="474" name="Google Shape;474;p42"/>
          <p:cNvPicPr preferRelativeResize="0"/>
          <p:nvPr/>
        </p:nvPicPr>
        <p:blipFill rotWithShape="1">
          <a:blip r:embed="rId6">
            <a:alphaModFix/>
          </a:blip>
          <a:srcRect b="26620" l="3697" r="14147" t="19010"/>
          <a:stretch/>
        </p:blipFill>
        <p:spPr>
          <a:xfrm>
            <a:off x="3744175" y="2462051"/>
            <a:ext cx="1189350" cy="293950"/>
          </a:xfrm>
          <a:prstGeom prst="rect">
            <a:avLst/>
          </a:prstGeom>
          <a:noFill/>
          <a:ln>
            <a:noFill/>
          </a:ln>
        </p:spPr>
      </p:pic>
      <p:pic>
        <p:nvPicPr>
          <p:cNvPr descr="Image of ConnectedPapers logo" id="475" name="Google Shape;475;p42"/>
          <p:cNvPicPr preferRelativeResize="0"/>
          <p:nvPr/>
        </p:nvPicPr>
        <p:blipFill rotWithShape="1">
          <a:blip r:embed="rId7">
            <a:alphaModFix/>
          </a:blip>
          <a:srcRect b="0" l="0" r="0" t="0"/>
          <a:stretch/>
        </p:blipFill>
        <p:spPr>
          <a:xfrm>
            <a:off x="4042287" y="2014315"/>
            <a:ext cx="1956526" cy="318504"/>
          </a:xfrm>
          <a:prstGeom prst="rect">
            <a:avLst/>
          </a:prstGeom>
          <a:noFill/>
          <a:ln>
            <a:noFill/>
          </a:ln>
        </p:spPr>
      </p:pic>
      <p:pic>
        <p:nvPicPr>
          <p:cNvPr descr="Image of QuillBot logo" id="476" name="Google Shape;476;p42"/>
          <p:cNvPicPr preferRelativeResize="0"/>
          <p:nvPr/>
        </p:nvPicPr>
        <p:blipFill rotWithShape="1">
          <a:blip r:embed="rId8">
            <a:alphaModFix/>
          </a:blip>
          <a:srcRect b="0" l="0" r="0" t="0"/>
          <a:stretch/>
        </p:blipFill>
        <p:spPr>
          <a:xfrm>
            <a:off x="5239599" y="3343823"/>
            <a:ext cx="1399800" cy="436894"/>
          </a:xfrm>
          <a:prstGeom prst="rect">
            <a:avLst/>
          </a:prstGeom>
          <a:noFill/>
          <a:ln>
            <a:noFill/>
          </a:ln>
        </p:spPr>
      </p:pic>
      <p:pic>
        <p:nvPicPr>
          <p:cNvPr descr="Image of SMMRY logo" id="477" name="Google Shape;477;p42"/>
          <p:cNvPicPr preferRelativeResize="0"/>
          <p:nvPr/>
        </p:nvPicPr>
        <p:blipFill rotWithShape="1">
          <a:blip r:embed="rId9">
            <a:alphaModFix/>
          </a:blip>
          <a:srcRect b="0" l="0" r="0" t="0"/>
          <a:stretch/>
        </p:blipFill>
        <p:spPr>
          <a:xfrm>
            <a:off x="5369044" y="2491622"/>
            <a:ext cx="1774408" cy="338325"/>
          </a:xfrm>
          <a:prstGeom prst="rect">
            <a:avLst/>
          </a:prstGeom>
          <a:noFill/>
          <a:ln>
            <a:noFill/>
          </a:ln>
        </p:spPr>
      </p:pic>
      <p:pic>
        <p:nvPicPr>
          <p:cNvPr descr="Image of TLDR this logo" id="478" name="Google Shape;478;p42"/>
          <p:cNvPicPr preferRelativeResize="0"/>
          <p:nvPr/>
        </p:nvPicPr>
        <p:blipFill rotWithShape="1">
          <a:blip r:embed="rId10">
            <a:alphaModFix/>
          </a:blip>
          <a:srcRect b="0" l="0" r="0" t="0"/>
          <a:stretch/>
        </p:blipFill>
        <p:spPr>
          <a:xfrm>
            <a:off x="3804245" y="2883196"/>
            <a:ext cx="1122766" cy="431100"/>
          </a:xfrm>
          <a:prstGeom prst="rect">
            <a:avLst/>
          </a:prstGeom>
          <a:noFill/>
          <a:ln>
            <a:noFill/>
          </a:ln>
        </p:spPr>
      </p:pic>
      <p:pic>
        <p:nvPicPr>
          <p:cNvPr descr="Image of ChatPDF logo" id="479" name="Google Shape;479;p42"/>
          <p:cNvPicPr preferRelativeResize="0"/>
          <p:nvPr/>
        </p:nvPicPr>
        <p:blipFill rotWithShape="1">
          <a:blip r:embed="rId11">
            <a:alphaModFix/>
          </a:blip>
          <a:srcRect b="0" l="0" r="0" t="0"/>
          <a:stretch/>
        </p:blipFill>
        <p:spPr>
          <a:xfrm>
            <a:off x="3615592" y="4040479"/>
            <a:ext cx="756113" cy="756113"/>
          </a:xfrm>
          <a:prstGeom prst="rect">
            <a:avLst/>
          </a:prstGeom>
          <a:noFill/>
          <a:ln>
            <a:noFill/>
          </a:ln>
        </p:spPr>
      </p:pic>
      <p:pic>
        <p:nvPicPr>
          <p:cNvPr descr="Image of Reeder logo" id="480" name="Google Shape;480;p42"/>
          <p:cNvPicPr preferRelativeResize="0"/>
          <p:nvPr/>
        </p:nvPicPr>
        <p:blipFill rotWithShape="1">
          <a:blip r:embed="rId12">
            <a:alphaModFix/>
          </a:blip>
          <a:srcRect b="0" l="0" r="0" t="0"/>
          <a:stretch/>
        </p:blipFill>
        <p:spPr>
          <a:xfrm>
            <a:off x="2632482" y="1997165"/>
            <a:ext cx="1274017" cy="318504"/>
          </a:xfrm>
          <a:prstGeom prst="rect">
            <a:avLst/>
          </a:prstGeom>
          <a:noFill/>
          <a:ln>
            <a:noFill/>
          </a:ln>
        </p:spPr>
      </p:pic>
      <p:pic>
        <p:nvPicPr>
          <p:cNvPr descr="Image of Humata.ai logo" id="481" name="Google Shape;481;p42"/>
          <p:cNvPicPr preferRelativeResize="0"/>
          <p:nvPr/>
        </p:nvPicPr>
        <p:blipFill rotWithShape="1">
          <a:blip r:embed="rId13">
            <a:alphaModFix/>
          </a:blip>
          <a:srcRect b="14946" l="4156" r="5091" t="7759"/>
          <a:stretch/>
        </p:blipFill>
        <p:spPr>
          <a:xfrm>
            <a:off x="4354113" y="3426138"/>
            <a:ext cx="595950" cy="502499"/>
          </a:xfrm>
          <a:prstGeom prst="rect">
            <a:avLst/>
          </a:prstGeom>
          <a:noFill/>
          <a:ln cap="flat" cmpd="sng" w="9525">
            <a:solidFill>
              <a:srgbClr val="D9D9D9"/>
            </a:solidFill>
            <a:prstDash val="solid"/>
            <a:round/>
            <a:headEnd len="sm" w="sm" type="none"/>
            <a:tailEnd len="sm" w="sm" type="none"/>
          </a:ln>
        </p:spPr>
      </p:pic>
      <p:pic>
        <p:nvPicPr>
          <p:cNvPr descr="Image of perplexity.ai logo" id="482" name="Google Shape;482;p42"/>
          <p:cNvPicPr preferRelativeResize="0"/>
          <p:nvPr/>
        </p:nvPicPr>
        <p:blipFill rotWithShape="1">
          <a:blip r:embed="rId14">
            <a:alphaModFix/>
          </a:blip>
          <a:srcRect b="0" l="0" r="0" t="0"/>
          <a:stretch/>
        </p:blipFill>
        <p:spPr>
          <a:xfrm>
            <a:off x="6184727" y="2004402"/>
            <a:ext cx="1541784" cy="338330"/>
          </a:xfrm>
          <a:prstGeom prst="rect">
            <a:avLst/>
          </a:prstGeom>
          <a:noFill/>
          <a:ln>
            <a:noFill/>
          </a:ln>
        </p:spPr>
      </p:pic>
      <p:cxnSp>
        <p:nvCxnSpPr>
          <p:cNvPr id="483" name="Google Shape;483;p42"/>
          <p:cNvCxnSpPr/>
          <p:nvPr/>
        </p:nvCxnSpPr>
        <p:spPr>
          <a:xfrm>
            <a:off x="968700" y="1791889"/>
            <a:ext cx="7206600" cy="0"/>
          </a:xfrm>
          <a:prstGeom prst="straightConnector1">
            <a:avLst/>
          </a:prstGeom>
          <a:noFill/>
          <a:ln cap="flat" cmpd="sng" w="19050">
            <a:solidFill>
              <a:srgbClr val="6FA8DC"/>
            </a:solidFill>
            <a:prstDash val="solid"/>
            <a:round/>
            <a:headEnd len="med" w="med" type="oval"/>
            <a:tailEnd len="med" w="med" type="oval"/>
          </a:ln>
        </p:spPr>
      </p:cxnSp>
      <p:pic>
        <p:nvPicPr>
          <p:cNvPr descr="Image of SciSummary logo" id="484" name="Google Shape;484;p42"/>
          <p:cNvPicPr preferRelativeResize="0"/>
          <p:nvPr/>
        </p:nvPicPr>
        <p:blipFill rotWithShape="1">
          <a:blip r:embed="rId15">
            <a:alphaModFix/>
          </a:blip>
          <a:srcRect b="39203" l="0" r="0" t="37849"/>
          <a:stretch/>
        </p:blipFill>
        <p:spPr>
          <a:xfrm>
            <a:off x="5115641" y="2881751"/>
            <a:ext cx="1647710" cy="378100"/>
          </a:xfrm>
          <a:prstGeom prst="rect">
            <a:avLst/>
          </a:prstGeom>
          <a:noFill/>
          <a:ln>
            <a:noFill/>
          </a:ln>
        </p:spPr>
      </p:pic>
      <p:pic>
        <p:nvPicPr>
          <p:cNvPr descr="Image of Summate logo" id="485" name="Google Shape;485;p42"/>
          <p:cNvPicPr preferRelativeResize="0"/>
          <p:nvPr/>
        </p:nvPicPr>
        <p:blipFill rotWithShape="1">
          <a:blip r:embed="rId16">
            <a:alphaModFix/>
          </a:blip>
          <a:srcRect b="40641" l="20382" r="21061" t="42764"/>
          <a:stretch/>
        </p:blipFill>
        <p:spPr>
          <a:xfrm>
            <a:off x="2000549" y="2501534"/>
            <a:ext cx="1498630" cy="318500"/>
          </a:xfrm>
          <a:prstGeom prst="rect">
            <a:avLst/>
          </a:prstGeom>
          <a:noFill/>
          <a:ln>
            <a:noFill/>
          </a:ln>
        </p:spPr>
      </p:pic>
      <p:pic>
        <p:nvPicPr>
          <p:cNvPr descr="Image of Aether Brain logo" id="486" name="Google Shape;486;p42"/>
          <p:cNvPicPr preferRelativeResize="0"/>
          <p:nvPr/>
        </p:nvPicPr>
        <p:blipFill rotWithShape="1">
          <a:blip r:embed="rId17">
            <a:alphaModFix/>
          </a:blip>
          <a:srcRect b="10617" l="2873" r="978" t="9110"/>
          <a:stretch/>
        </p:blipFill>
        <p:spPr>
          <a:xfrm>
            <a:off x="1931450" y="2974247"/>
            <a:ext cx="1684153" cy="385446"/>
          </a:xfrm>
          <a:prstGeom prst="rect">
            <a:avLst/>
          </a:prstGeom>
          <a:noFill/>
          <a:ln>
            <a:noFill/>
          </a:ln>
        </p:spPr>
      </p:pic>
      <p:pic>
        <p:nvPicPr>
          <p:cNvPr id="487" name="Google Shape;487;p42"/>
          <p:cNvPicPr preferRelativeResize="0"/>
          <p:nvPr/>
        </p:nvPicPr>
        <p:blipFill rotWithShape="1">
          <a:blip r:embed="rId18">
            <a:alphaModFix/>
          </a:blip>
          <a:srcRect b="0" l="0" r="0" t="0"/>
          <a:stretch/>
        </p:blipFill>
        <p:spPr>
          <a:xfrm>
            <a:off x="4670792" y="4225803"/>
            <a:ext cx="1044198" cy="385450"/>
          </a:xfrm>
          <a:prstGeom prst="rect">
            <a:avLst/>
          </a:prstGeom>
          <a:noFill/>
          <a:ln>
            <a:noFill/>
          </a:ln>
        </p:spPr>
      </p:pic>
      <p:pic>
        <p:nvPicPr>
          <p:cNvPr descr="Image of Claude logo" id="488" name="Google Shape;488;p42"/>
          <p:cNvPicPr preferRelativeResize="0"/>
          <p:nvPr/>
        </p:nvPicPr>
        <p:blipFill rotWithShape="1">
          <a:blip r:embed="rId19">
            <a:alphaModFix/>
          </a:blip>
          <a:srcRect b="41533" l="27046" r="25103" t="37658"/>
          <a:stretch/>
        </p:blipFill>
        <p:spPr>
          <a:xfrm>
            <a:off x="2807314" y="3513936"/>
            <a:ext cx="1234949" cy="326479"/>
          </a:xfrm>
          <a:prstGeom prst="rect">
            <a:avLst/>
          </a:prstGeom>
          <a:noFill/>
          <a:ln>
            <a:noFill/>
          </a:ln>
        </p:spPr>
      </p:pic>
      <p:pic>
        <p:nvPicPr>
          <p:cNvPr id="489" name="Google Shape;489;p42" title="Screenshot 2025-09-28 at 11.30.54.png"/>
          <p:cNvPicPr preferRelativeResize="0"/>
          <p:nvPr/>
        </p:nvPicPr>
        <p:blipFill rotWithShape="1">
          <a:blip r:embed="rId20">
            <a:alphaModFix/>
          </a:blip>
          <a:srcRect b="20987" l="0" r="0" t="26506"/>
          <a:stretch/>
        </p:blipFill>
        <p:spPr>
          <a:xfrm>
            <a:off x="5416500" y="1211848"/>
            <a:ext cx="2870800" cy="502475"/>
          </a:xfrm>
          <a:prstGeom prst="rect">
            <a:avLst/>
          </a:prstGeom>
          <a:noFill/>
          <a:ln>
            <a:noFill/>
          </a:ln>
        </p:spPr>
      </p:pic>
      <p:sp>
        <p:nvSpPr>
          <p:cNvPr id="490" name="Google Shape;490;p42"/>
          <p:cNvSpPr txBox="1"/>
          <p:nvPr/>
        </p:nvSpPr>
        <p:spPr>
          <a:xfrm>
            <a:off x="7207650" y="2881750"/>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3840b7833a0_0_73"/>
          <p:cNvSpPr txBox="1"/>
          <p:nvPr/>
        </p:nvSpPr>
        <p:spPr>
          <a:xfrm>
            <a:off x="411500" y="344100"/>
            <a:ext cx="84153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Different flavors of summarising tools</a:t>
            </a:r>
            <a:endParaRPr b="0" i="0" sz="3200" u="none" cap="none" strike="noStrike">
              <a:solidFill>
                <a:schemeClr val="dk1"/>
              </a:solidFill>
              <a:latin typeface="Oswald"/>
              <a:ea typeface="Oswald"/>
              <a:cs typeface="Oswald"/>
              <a:sym typeface="Oswald"/>
            </a:endParaRPr>
          </a:p>
        </p:txBody>
      </p:sp>
      <p:grpSp>
        <p:nvGrpSpPr>
          <p:cNvPr id="496" name="Google Shape;496;g3840b7833a0_0_73"/>
          <p:cNvGrpSpPr/>
          <p:nvPr/>
        </p:nvGrpSpPr>
        <p:grpSpPr>
          <a:xfrm rot="-5400000">
            <a:off x="106425" y="4557750"/>
            <a:ext cx="476700" cy="502500"/>
            <a:chOff x="95250" y="112575"/>
            <a:chExt cx="476700" cy="502500"/>
          </a:xfrm>
        </p:grpSpPr>
        <p:cxnSp>
          <p:nvCxnSpPr>
            <p:cNvPr id="497" name="Google Shape;497;g3840b7833a0_0_73"/>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498" name="Google Shape;498;g3840b7833a0_0_73"/>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499" name="Google Shape;499;g3840b7833a0_0_73"/>
          <p:cNvSpPr txBox="1"/>
          <p:nvPr/>
        </p:nvSpPr>
        <p:spPr>
          <a:xfrm>
            <a:off x="583125" y="3133948"/>
            <a:ext cx="2526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Arial"/>
                <a:ea typeface="Arial"/>
                <a:cs typeface="Arial"/>
                <a:sym typeface="Arial"/>
              </a:rPr>
              <a:t>Use their own corpus</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Arial"/>
                <a:ea typeface="Arial"/>
                <a:cs typeface="Arial"/>
                <a:sym typeface="Arial"/>
              </a:rPr>
              <a:t>(like SemanticScholar)</a:t>
            </a:r>
            <a:endParaRPr b="0" i="0" sz="1800" u="none" cap="none" strike="noStrike">
              <a:solidFill>
                <a:schemeClr val="lt1"/>
              </a:solidFill>
              <a:latin typeface="Arial"/>
              <a:ea typeface="Arial"/>
              <a:cs typeface="Arial"/>
              <a:sym typeface="Arial"/>
            </a:endParaRPr>
          </a:p>
        </p:txBody>
      </p:sp>
      <p:sp>
        <p:nvSpPr>
          <p:cNvPr id="500" name="Google Shape;500;g3840b7833a0_0_73"/>
          <p:cNvSpPr txBox="1"/>
          <p:nvPr/>
        </p:nvSpPr>
        <p:spPr>
          <a:xfrm>
            <a:off x="3524321" y="3283634"/>
            <a:ext cx="25266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Arial"/>
                <a:ea typeface="Arial"/>
                <a:cs typeface="Arial"/>
                <a:sym typeface="Arial"/>
              </a:rPr>
              <a:t>You upload PDF</a:t>
            </a:r>
            <a:endParaRPr b="0" i="0" sz="1400" u="none" cap="none" strike="noStrike">
              <a:solidFill>
                <a:schemeClr val="lt1"/>
              </a:solidFill>
              <a:latin typeface="Arial"/>
              <a:ea typeface="Arial"/>
              <a:cs typeface="Arial"/>
              <a:sym typeface="Arial"/>
            </a:endParaRPr>
          </a:p>
        </p:txBody>
      </p:sp>
      <p:sp>
        <p:nvSpPr>
          <p:cNvPr id="501" name="Google Shape;501;g3840b7833a0_0_73"/>
          <p:cNvSpPr/>
          <p:nvPr/>
        </p:nvSpPr>
        <p:spPr>
          <a:xfrm>
            <a:off x="806116" y="1497878"/>
            <a:ext cx="2262000" cy="1353600"/>
          </a:xfrm>
          <a:prstGeom prst="roundRect">
            <a:avLst>
              <a:gd fmla="val 16667" name="adj"/>
            </a:avLst>
          </a:prstGeom>
          <a:solidFill>
            <a:schemeClr val="accent5"/>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AI Literature</a:t>
            </a:r>
            <a:br>
              <a:rPr b="1" i="0" lang="en" sz="2000" u="none" cap="none" strike="noStrike">
                <a:solidFill>
                  <a:schemeClr val="lt1"/>
                </a:solidFill>
                <a:latin typeface="Arial"/>
                <a:ea typeface="Arial"/>
                <a:cs typeface="Arial"/>
                <a:sym typeface="Arial"/>
              </a:rPr>
            </a:br>
            <a:r>
              <a:rPr b="1" i="0" lang="en" sz="2000" u="none" cap="none" strike="noStrike">
                <a:solidFill>
                  <a:schemeClr val="lt1"/>
                </a:solidFill>
                <a:latin typeface="Arial"/>
                <a:ea typeface="Arial"/>
                <a:cs typeface="Arial"/>
                <a:sym typeface="Arial"/>
              </a:rPr>
              <a:t>Summarizers</a:t>
            </a:r>
            <a:endParaRPr b="1" i="0" sz="1400" u="none" cap="none" strike="noStrike">
              <a:solidFill>
                <a:schemeClr val="lt1"/>
              </a:solidFill>
              <a:latin typeface="Arial"/>
              <a:ea typeface="Arial"/>
              <a:cs typeface="Arial"/>
              <a:sym typeface="Arial"/>
            </a:endParaRPr>
          </a:p>
        </p:txBody>
      </p:sp>
      <p:sp>
        <p:nvSpPr>
          <p:cNvPr id="502" name="Google Shape;502;g3840b7833a0_0_73"/>
          <p:cNvSpPr/>
          <p:nvPr/>
        </p:nvSpPr>
        <p:spPr>
          <a:xfrm>
            <a:off x="3843238" y="1545186"/>
            <a:ext cx="2262000" cy="1353600"/>
          </a:xfrm>
          <a:prstGeom prst="roundRect">
            <a:avLst>
              <a:gd fmla="val 16667" name="adj"/>
            </a:avLst>
          </a:prstGeom>
          <a:solidFill>
            <a:schemeClr val="accent5"/>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Chatbots for Literature collections</a:t>
            </a:r>
            <a:endParaRPr b="1" i="0" sz="1400" u="none" cap="none" strike="noStrike">
              <a:solidFill>
                <a:schemeClr val="lt1"/>
              </a:solidFill>
              <a:latin typeface="Arial"/>
              <a:ea typeface="Arial"/>
              <a:cs typeface="Arial"/>
              <a:sym typeface="Arial"/>
            </a:endParaRPr>
          </a:p>
        </p:txBody>
      </p:sp>
      <p:sp>
        <p:nvSpPr>
          <p:cNvPr id="503" name="Google Shape;503;g3840b7833a0_0_73"/>
          <p:cNvSpPr/>
          <p:nvPr/>
        </p:nvSpPr>
        <p:spPr>
          <a:xfrm>
            <a:off x="6476525" y="1545172"/>
            <a:ext cx="2262000" cy="1353600"/>
          </a:xfrm>
          <a:prstGeom prst="roundRect">
            <a:avLst>
              <a:gd fmla="val 16667" name="adj"/>
            </a:avLst>
          </a:prstGeom>
          <a:solidFill>
            <a:schemeClr val="accent5"/>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Arial"/>
                <a:ea typeface="Arial"/>
                <a:cs typeface="Arial"/>
                <a:sym typeface="Arial"/>
              </a:rPr>
              <a:t>Explore documents via chat, podcast, etc.</a:t>
            </a:r>
            <a:endParaRPr b="1" i="0" sz="1400" u="none" cap="none" strike="noStrike">
              <a:solidFill>
                <a:schemeClr val="lt1"/>
              </a:solidFill>
              <a:latin typeface="Arial"/>
              <a:ea typeface="Arial"/>
              <a:cs typeface="Arial"/>
              <a:sym typeface="Arial"/>
            </a:endParaRPr>
          </a:p>
        </p:txBody>
      </p:sp>
      <p:pic>
        <p:nvPicPr>
          <p:cNvPr descr="Image of Elicit logo" id="504" name="Google Shape;504;g3840b7833a0_0_73"/>
          <p:cNvPicPr preferRelativeResize="0"/>
          <p:nvPr/>
        </p:nvPicPr>
        <p:blipFill rotWithShape="1">
          <a:blip r:embed="rId3">
            <a:alphaModFix/>
          </a:blip>
          <a:srcRect b="37385" l="24822" r="24220" t="38685"/>
          <a:stretch/>
        </p:blipFill>
        <p:spPr>
          <a:xfrm>
            <a:off x="2113743" y="4185917"/>
            <a:ext cx="1376690" cy="431099"/>
          </a:xfrm>
          <a:prstGeom prst="rect">
            <a:avLst/>
          </a:prstGeom>
          <a:noFill/>
          <a:ln>
            <a:noFill/>
          </a:ln>
        </p:spPr>
      </p:pic>
      <p:pic>
        <p:nvPicPr>
          <p:cNvPr descr="Image of Petal logo" id="505" name="Google Shape;505;g3840b7833a0_0_73"/>
          <p:cNvPicPr preferRelativeResize="0"/>
          <p:nvPr/>
        </p:nvPicPr>
        <p:blipFill rotWithShape="1">
          <a:blip r:embed="rId4">
            <a:alphaModFix/>
          </a:blip>
          <a:srcRect b="0" l="0" r="0" t="0"/>
          <a:stretch/>
        </p:blipFill>
        <p:spPr>
          <a:xfrm>
            <a:off x="4274074" y="4219906"/>
            <a:ext cx="1307925" cy="363150"/>
          </a:xfrm>
          <a:prstGeom prst="rect">
            <a:avLst/>
          </a:prstGeom>
          <a:noFill/>
          <a:ln>
            <a:noFill/>
          </a:ln>
        </p:spPr>
      </p:pic>
      <p:pic>
        <p:nvPicPr>
          <p:cNvPr id="506" name="Google Shape;506;g3840b7833a0_0_73"/>
          <p:cNvPicPr preferRelativeResize="0"/>
          <p:nvPr/>
        </p:nvPicPr>
        <p:blipFill rotWithShape="1">
          <a:blip r:embed="rId5">
            <a:alphaModFix/>
          </a:blip>
          <a:srcRect b="0" l="0" r="0" t="0"/>
          <a:stretch/>
        </p:blipFill>
        <p:spPr>
          <a:xfrm>
            <a:off x="6413150" y="3780451"/>
            <a:ext cx="2262000" cy="534649"/>
          </a:xfrm>
          <a:prstGeom prst="rect">
            <a:avLst/>
          </a:prstGeom>
          <a:noFill/>
          <a:ln>
            <a:noFill/>
          </a:ln>
        </p:spPr>
      </p:pic>
      <p:pic>
        <p:nvPicPr>
          <p:cNvPr id="507" name="Google Shape;507;g3840b7833a0_0_73" title="Screenshot 2025-09-22 at 20.06.29.png"/>
          <p:cNvPicPr preferRelativeResize="0"/>
          <p:nvPr/>
        </p:nvPicPr>
        <p:blipFill rotWithShape="1">
          <a:blip r:embed="rId6">
            <a:alphaModFix/>
          </a:blip>
          <a:srcRect b="0" l="0" r="0" t="0"/>
          <a:stretch/>
        </p:blipFill>
        <p:spPr>
          <a:xfrm>
            <a:off x="516951" y="4062921"/>
            <a:ext cx="1497433" cy="677100"/>
          </a:xfrm>
          <a:prstGeom prst="rect">
            <a:avLst/>
          </a:prstGeom>
          <a:noFill/>
          <a:ln>
            <a:noFill/>
          </a:ln>
        </p:spPr>
      </p:pic>
      <p:pic>
        <p:nvPicPr>
          <p:cNvPr descr="Image of SciSpace logo" id="508" name="Google Shape;508;g3840b7833a0_0_73"/>
          <p:cNvPicPr preferRelativeResize="0"/>
          <p:nvPr/>
        </p:nvPicPr>
        <p:blipFill rotWithShape="1">
          <a:blip r:embed="rId7">
            <a:alphaModFix/>
          </a:blip>
          <a:srcRect b="15467" l="3632" r="4885" t="15729"/>
          <a:stretch/>
        </p:blipFill>
        <p:spPr>
          <a:xfrm>
            <a:off x="780588" y="3428277"/>
            <a:ext cx="2131680" cy="431100"/>
          </a:xfrm>
          <a:prstGeom prst="rect">
            <a:avLst/>
          </a:prstGeom>
          <a:noFill/>
          <a:ln>
            <a:noFill/>
          </a:ln>
        </p:spPr>
      </p:pic>
      <p:pic>
        <p:nvPicPr>
          <p:cNvPr id="509" name="Google Shape;509;g3840b7833a0_0_73" title="Screenshot 2025-10-11 at 11.31.41.png"/>
          <p:cNvPicPr preferRelativeResize="0"/>
          <p:nvPr/>
        </p:nvPicPr>
        <p:blipFill rotWithShape="1">
          <a:blip r:embed="rId8">
            <a:alphaModFix/>
          </a:blip>
          <a:srcRect b="0" l="0" r="0" t="0"/>
          <a:stretch/>
        </p:blipFill>
        <p:spPr>
          <a:xfrm>
            <a:off x="4611766" y="3516276"/>
            <a:ext cx="724970" cy="646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g368bcb40ff2_0_130"/>
          <p:cNvPicPr preferRelativeResize="0"/>
          <p:nvPr/>
        </p:nvPicPr>
        <p:blipFill rotWithShape="1">
          <a:blip r:embed="rId3">
            <a:alphaModFix/>
          </a:blip>
          <a:srcRect b="0" l="0" r="0" t="0"/>
          <a:stretch/>
        </p:blipFill>
        <p:spPr>
          <a:xfrm>
            <a:off x="325850" y="1940350"/>
            <a:ext cx="2055374" cy="1819437"/>
          </a:xfrm>
          <a:prstGeom prst="rect">
            <a:avLst/>
          </a:prstGeom>
          <a:noFill/>
          <a:ln>
            <a:noFill/>
          </a:ln>
        </p:spPr>
      </p:pic>
      <p:sp>
        <p:nvSpPr>
          <p:cNvPr id="515" name="Google Shape;515;g368bcb40ff2_0_130"/>
          <p:cNvSpPr txBox="1"/>
          <p:nvPr/>
        </p:nvSpPr>
        <p:spPr>
          <a:xfrm>
            <a:off x="127450" y="134150"/>
            <a:ext cx="58392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Considerations </a:t>
            </a:r>
            <a:endParaRPr b="0" i="0" sz="3200" u="none" cap="none" strike="noStrike">
              <a:solidFill>
                <a:schemeClr val="dk1"/>
              </a:solidFill>
              <a:latin typeface="Oswald"/>
              <a:ea typeface="Oswald"/>
              <a:cs typeface="Oswald"/>
              <a:sym typeface="Oswald"/>
            </a:endParaRPr>
          </a:p>
        </p:txBody>
      </p:sp>
      <p:sp>
        <p:nvSpPr>
          <p:cNvPr id="516" name="Google Shape;516;g368bcb40ff2_0_130"/>
          <p:cNvSpPr txBox="1"/>
          <p:nvPr/>
        </p:nvSpPr>
        <p:spPr>
          <a:xfrm>
            <a:off x="185175" y="577275"/>
            <a:ext cx="3000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Oswald"/>
                <a:ea typeface="Oswald"/>
                <a:cs typeface="Oswald"/>
                <a:sym typeface="Oswald"/>
              </a:rPr>
              <a:t>About input</a:t>
            </a:r>
            <a:endParaRPr b="0" i="0" sz="1700" u="none" cap="none" strike="noStrike">
              <a:solidFill>
                <a:schemeClr val="dk1"/>
              </a:solidFill>
              <a:latin typeface="Oswald"/>
              <a:ea typeface="Oswald"/>
              <a:cs typeface="Oswald"/>
              <a:sym typeface="Oswald"/>
            </a:endParaRPr>
          </a:p>
        </p:txBody>
      </p:sp>
      <p:sp>
        <p:nvSpPr>
          <p:cNvPr id="517" name="Google Shape;517;g368bcb40ff2_0_130"/>
          <p:cNvSpPr txBox="1"/>
          <p:nvPr/>
        </p:nvSpPr>
        <p:spPr>
          <a:xfrm>
            <a:off x="602575" y="2515200"/>
            <a:ext cx="13350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D5A66B"/>
                </a:solidFill>
                <a:latin typeface="Oswald"/>
                <a:ea typeface="Oswald"/>
                <a:cs typeface="Oswald"/>
                <a:sym typeface="Oswald"/>
              </a:rPr>
              <a:t>Input</a:t>
            </a:r>
            <a:endParaRPr b="0" i="0" sz="2300" u="none" cap="none" strike="noStrike">
              <a:solidFill>
                <a:srgbClr val="D5A66B"/>
              </a:solidFill>
              <a:latin typeface="Oswald"/>
              <a:ea typeface="Oswald"/>
              <a:cs typeface="Oswald"/>
              <a:sym typeface="Oswald"/>
            </a:endParaRPr>
          </a:p>
        </p:txBody>
      </p:sp>
      <p:sp>
        <p:nvSpPr>
          <p:cNvPr id="518" name="Google Shape;518;g368bcb40ff2_0_130"/>
          <p:cNvSpPr txBox="1"/>
          <p:nvPr/>
        </p:nvSpPr>
        <p:spPr>
          <a:xfrm>
            <a:off x="2358688" y="3353467"/>
            <a:ext cx="6496500" cy="446400"/>
          </a:xfrm>
          <a:prstGeom prst="rect">
            <a:avLst/>
          </a:prstGeom>
          <a:noFill/>
          <a:ln>
            <a:noFill/>
          </a:ln>
        </p:spPr>
        <p:txBody>
          <a:bodyPr anchorCtr="0" anchor="t" bIns="91425" lIns="91425" spcFirstLastPara="1" rIns="91425" wrap="square" tIns="91425">
            <a:spAutoFit/>
          </a:bodyPr>
          <a:lstStyle/>
          <a:p>
            <a:pPr indent="0" lvl="0" marL="571500" marR="0" rtl="0" algn="l">
              <a:lnSpc>
                <a:spcPct val="115000"/>
              </a:lnSpc>
              <a:spcBef>
                <a:spcPts val="0"/>
              </a:spcBef>
              <a:spcAft>
                <a:spcPts val="0"/>
              </a:spcAft>
              <a:buClr>
                <a:srgbClr val="000000"/>
              </a:buClr>
              <a:buSzPts val="1700"/>
              <a:buFont typeface="Arial"/>
              <a:buNone/>
            </a:pPr>
            <a:r>
              <a:t/>
            </a:r>
            <a:endParaRPr b="0" i="0" sz="1700" u="none" cap="none" strike="noStrike">
              <a:solidFill>
                <a:srgbClr val="9900FF"/>
              </a:solidFill>
              <a:latin typeface="Arial"/>
              <a:ea typeface="Arial"/>
              <a:cs typeface="Arial"/>
              <a:sym typeface="Arial"/>
            </a:endParaRPr>
          </a:p>
        </p:txBody>
      </p:sp>
      <p:sp>
        <p:nvSpPr>
          <p:cNvPr id="519" name="Google Shape;519;g368bcb40ff2_0_130"/>
          <p:cNvSpPr txBox="1"/>
          <p:nvPr/>
        </p:nvSpPr>
        <p:spPr>
          <a:xfrm>
            <a:off x="2388188" y="511042"/>
            <a:ext cx="6429900" cy="106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Raleway"/>
              <a:ea typeface="Raleway"/>
              <a:cs typeface="Raleway"/>
              <a:sym typeface="Raleway"/>
            </a:endParaRPr>
          </a:p>
          <a:p>
            <a:pPr indent="0" lvl="0" marL="57150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52A1B9"/>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800"/>
              <a:buFont typeface="Arial"/>
              <a:buNone/>
            </a:pPr>
            <a:r>
              <a:t/>
            </a:r>
            <a:endParaRPr b="0" i="1" sz="800" u="none" cap="none" strike="noStrike">
              <a:solidFill>
                <a:schemeClr val="dk1"/>
              </a:solidFill>
              <a:latin typeface="JetBrains Mono"/>
              <a:ea typeface="JetBrains Mono"/>
              <a:cs typeface="JetBrains Mono"/>
              <a:sym typeface="JetBrains Mono"/>
            </a:endParaRPr>
          </a:p>
          <a:p>
            <a:pPr indent="0" lvl="0" marL="57150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2"/>
              </a:solidFill>
              <a:latin typeface="JetBrains Mono"/>
              <a:ea typeface="JetBrains Mono"/>
              <a:cs typeface="JetBrains Mono"/>
              <a:sym typeface="JetBrains Mono"/>
            </a:endParaRPr>
          </a:p>
        </p:txBody>
      </p:sp>
      <p:cxnSp>
        <p:nvCxnSpPr>
          <p:cNvPr id="520" name="Google Shape;520;g368bcb40ff2_0_130"/>
          <p:cNvCxnSpPr/>
          <p:nvPr/>
        </p:nvCxnSpPr>
        <p:spPr>
          <a:xfrm>
            <a:off x="2962663" y="1191667"/>
            <a:ext cx="0" cy="697200"/>
          </a:xfrm>
          <a:prstGeom prst="straightConnector1">
            <a:avLst/>
          </a:prstGeom>
          <a:noFill/>
          <a:ln cap="flat" cmpd="sng" w="19050">
            <a:solidFill>
              <a:srgbClr val="B7B7B7"/>
            </a:solidFill>
            <a:prstDash val="solid"/>
            <a:round/>
            <a:headEnd len="sm" w="sm" type="none"/>
            <a:tailEnd len="sm" w="sm" type="none"/>
          </a:ln>
        </p:spPr>
      </p:cxnSp>
      <p:cxnSp>
        <p:nvCxnSpPr>
          <p:cNvPr id="521" name="Google Shape;521;g368bcb40ff2_0_130"/>
          <p:cNvCxnSpPr/>
          <p:nvPr/>
        </p:nvCxnSpPr>
        <p:spPr>
          <a:xfrm>
            <a:off x="2962663" y="2669874"/>
            <a:ext cx="0" cy="402300"/>
          </a:xfrm>
          <a:prstGeom prst="straightConnector1">
            <a:avLst/>
          </a:prstGeom>
          <a:noFill/>
          <a:ln cap="flat" cmpd="sng" w="19050">
            <a:solidFill>
              <a:srgbClr val="B7B7B7"/>
            </a:solidFill>
            <a:prstDash val="solid"/>
            <a:round/>
            <a:headEnd len="sm" w="sm" type="none"/>
            <a:tailEnd len="sm" w="sm" type="none"/>
          </a:ln>
        </p:spPr>
      </p:cxnSp>
      <p:cxnSp>
        <p:nvCxnSpPr>
          <p:cNvPr id="522" name="Google Shape;522;g368bcb40ff2_0_130"/>
          <p:cNvCxnSpPr/>
          <p:nvPr/>
        </p:nvCxnSpPr>
        <p:spPr>
          <a:xfrm>
            <a:off x="2973404" y="3781722"/>
            <a:ext cx="0" cy="637800"/>
          </a:xfrm>
          <a:prstGeom prst="straightConnector1">
            <a:avLst/>
          </a:prstGeom>
          <a:noFill/>
          <a:ln cap="flat" cmpd="sng" w="19050">
            <a:solidFill>
              <a:srgbClr val="B7B7B7"/>
            </a:solidFill>
            <a:prstDash val="solid"/>
            <a:round/>
            <a:headEnd len="sm" w="sm" type="none"/>
            <a:tailEnd len="sm" w="sm" type="none"/>
          </a:ln>
        </p:spPr>
      </p:cxnSp>
      <p:cxnSp>
        <p:nvCxnSpPr>
          <p:cNvPr id="523" name="Google Shape;523;g368bcb40ff2_0_130"/>
          <p:cNvCxnSpPr/>
          <p:nvPr/>
        </p:nvCxnSpPr>
        <p:spPr>
          <a:xfrm>
            <a:off x="2962663" y="2563267"/>
            <a:ext cx="0" cy="697200"/>
          </a:xfrm>
          <a:prstGeom prst="straightConnector1">
            <a:avLst/>
          </a:prstGeom>
          <a:noFill/>
          <a:ln cap="flat" cmpd="sng" w="19050">
            <a:solidFill>
              <a:srgbClr val="B7B7B7"/>
            </a:solidFill>
            <a:prstDash val="solid"/>
            <a:round/>
            <a:headEnd len="sm" w="sm" type="none"/>
            <a:tailEnd len="sm" w="sm" type="non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pic>
        <p:nvPicPr>
          <p:cNvPr id="528" name="Google Shape;528;g389929be8a3_0_1"/>
          <p:cNvPicPr preferRelativeResize="0"/>
          <p:nvPr/>
        </p:nvPicPr>
        <p:blipFill rotWithShape="1">
          <a:blip r:embed="rId3">
            <a:alphaModFix/>
          </a:blip>
          <a:srcRect b="0" l="0" r="0" t="0"/>
          <a:stretch/>
        </p:blipFill>
        <p:spPr>
          <a:xfrm>
            <a:off x="325850" y="1940350"/>
            <a:ext cx="2055374" cy="1819437"/>
          </a:xfrm>
          <a:prstGeom prst="rect">
            <a:avLst/>
          </a:prstGeom>
          <a:noFill/>
          <a:ln>
            <a:noFill/>
          </a:ln>
        </p:spPr>
      </p:pic>
      <p:sp>
        <p:nvSpPr>
          <p:cNvPr id="529" name="Google Shape;529;g389929be8a3_0_1"/>
          <p:cNvSpPr txBox="1"/>
          <p:nvPr/>
        </p:nvSpPr>
        <p:spPr>
          <a:xfrm>
            <a:off x="127450" y="134150"/>
            <a:ext cx="58392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Considerations </a:t>
            </a:r>
            <a:endParaRPr b="0" i="0" sz="3200" u="none" cap="none" strike="noStrike">
              <a:solidFill>
                <a:schemeClr val="dk1"/>
              </a:solidFill>
              <a:latin typeface="Oswald"/>
              <a:ea typeface="Oswald"/>
              <a:cs typeface="Oswald"/>
              <a:sym typeface="Oswald"/>
            </a:endParaRPr>
          </a:p>
        </p:txBody>
      </p:sp>
      <p:sp>
        <p:nvSpPr>
          <p:cNvPr id="530" name="Google Shape;530;g389929be8a3_0_1"/>
          <p:cNvSpPr txBox="1"/>
          <p:nvPr/>
        </p:nvSpPr>
        <p:spPr>
          <a:xfrm>
            <a:off x="185175" y="577275"/>
            <a:ext cx="3000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chemeClr val="dk1"/>
                </a:solidFill>
                <a:latin typeface="Oswald"/>
                <a:ea typeface="Oswald"/>
                <a:cs typeface="Oswald"/>
                <a:sym typeface="Oswald"/>
              </a:rPr>
              <a:t>About input</a:t>
            </a:r>
            <a:endParaRPr b="0" i="0" sz="1700" u="none" cap="none" strike="noStrike">
              <a:solidFill>
                <a:schemeClr val="dk1"/>
              </a:solidFill>
              <a:latin typeface="Oswald"/>
              <a:ea typeface="Oswald"/>
              <a:cs typeface="Oswald"/>
              <a:sym typeface="Oswald"/>
            </a:endParaRPr>
          </a:p>
        </p:txBody>
      </p:sp>
      <p:sp>
        <p:nvSpPr>
          <p:cNvPr id="531" name="Google Shape;531;g389929be8a3_0_1"/>
          <p:cNvSpPr txBox="1"/>
          <p:nvPr/>
        </p:nvSpPr>
        <p:spPr>
          <a:xfrm>
            <a:off x="602575" y="2515200"/>
            <a:ext cx="13350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D5A66B"/>
                </a:solidFill>
                <a:latin typeface="Oswald"/>
                <a:ea typeface="Oswald"/>
                <a:cs typeface="Oswald"/>
                <a:sym typeface="Oswald"/>
              </a:rPr>
              <a:t>Input</a:t>
            </a:r>
            <a:endParaRPr b="0" i="0" sz="2300" u="none" cap="none" strike="noStrike">
              <a:solidFill>
                <a:srgbClr val="D5A66B"/>
              </a:solidFill>
              <a:latin typeface="Oswald"/>
              <a:ea typeface="Oswald"/>
              <a:cs typeface="Oswald"/>
              <a:sym typeface="Oswald"/>
            </a:endParaRPr>
          </a:p>
        </p:txBody>
      </p:sp>
      <p:sp>
        <p:nvSpPr>
          <p:cNvPr id="532" name="Google Shape;532;g389929be8a3_0_1"/>
          <p:cNvSpPr txBox="1"/>
          <p:nvPr/>
        </p:nvSpPr>
        <p:spPr>
          <a:xfrm>
            <a:off x="2358688" y="3353467"/>
            <a:ext cx="6496500" cy="1068300"/>
          </a:xfrm>
          <a:prstGeom prst="rect">
            <a:avLst/>
          </a:prstGeom>
          <a:noFill/>
          <a:ln>
            <a:noFill/>
          </a:ln>
        </p:spPr>
        <p:txBody>
          <a:bodyPr anchorCtr="0" anchor="t" bIns="91425" lIns="91425" spcFirstLastPara="1" rIns="91425" wrap="square" tIns="91425">
            <a:spAutoFit/>
          </a:bodyPr>
          <a:lstStyle/>
          <a:p>
            <a:pPr indent="-241300" lvl="0" marL="457200" marR="0" rtl="0" algn="l">
              <a:lnSpc>
                <a:spcPct val="115000"/>
              </a:lnSpc>
              <a:spcBef>
                <a:spcPts val="0"/>
              </a:spcBef>
              <a:spcAft>
                <a:spcPts val="0"/>
              </a:spcAft>
              <a:buClr>
                <a:srgbClr val="52A1B9"/>
              </a:buClr>
              <a:buSzPts val="2000"/>
              <a:buFont typeface="JetBrains Mono"/>
              <a:buChar char="⇢"/>
            </a:pPr>
            <a:r>
              <a:rPr b="0" i="0" lang="en" sz="2000" u="none" cap="none" strike="noStrike">
                <a:solidFill>
                  <a:schemeClr val="accent2"/>
                </a:solidFill>
                <a:latin typeface="Open Sans"/>
                <a:ea typeface="Open Sans"/>
                <a:cs typeface="Open Sans"/>
                <a:sym typeface="Open Sans"/>
              </a:rPr>
              <a:t>Unpublished material</a:t>
            </a:r>
            <a:endParaRPr b="0" i="0" sz="2000" u="none" cap="none" strike="noStrike">
              <a:solidFill>
                <a:schemeClr val="lt1"/>
              </a:solidFill>
              <a:latin typeface="Open Sans"/>
              <a:ea typeface="Open Sans"/>
              <a:cs typeface="Open Sans"/>
              <a:sym typeface="Open Sans"/>
            </a:endParaRPr>
          </a:p>
          <a:p>
            <a:pPr indent="0" lvl="0" marL="571500" marR="0" rtl="0" algn="l">
              <a:lnSpc>
                <a:spcPct val="115000"/>
              </a:lnSpc>
              <a:spcBef>
                <a:spcPts val="0"/>
              </a:spcBef>
              <a:spcAft>
                <a:spcPts val="0"/>
              </a:spcAft>
              <a:buClr>
                <a:srgbClr val="000000"/>
              </a:buClr>
              <a:buSzPts val="1700"/>
              <a:buFont typeface="Arial"/>
              <a:buNone/>
            </a:pPr>
            <a:r>
              <a:rPr b="0" i="0" lang="en" sz="1600" u="none" cap="none" strike="noStrike">
                <a:solidFill>
                  <a:srgbClr val="52A1B9"/>
                </a:solidFill>
                <a:latin typeface="Arial"/>
                <a:ea typeface="Arial"/>
                <a:cs typeface="Arial"/>
                <a:sym typeface="Arial"/>
              </a:rPr>
              <a:t>A peer reviewer using e.g. Copilot to summarize or better understand the material they are reviewing.</a:t>
            </a:r>
            <a:endParaRPr b="0" i="0" sz="1700" u="none" cap="none" strike="noStrike">
              <a:solidFill>
                <a:srgbClr val="9900FF"/>
              </a:solidFill>
              <a:latin typeface="Arial"/>
              <a:ea typeface="Arial"/>
              <a:cs typeface="Arial"/>
              <a:sym typeface="Arial"/>
            </a:endParaRPr>
          </a:p>
        </p:txBody>
      </p:sp>
      <p:sp>
        <p:nvSpPr>
          <p:cNvPr id="533" name="Google Shape;533;g389929be8a3_0_1"/>
          <p:cNvSpPr txBox="1"/>
          <p:nvPr/>
        </p:nvSpPr>
        <p:spPr>
          <a:xfrm>
            <a:off x="2388188" y="511042"/>
            <a:ext cx="6429900" cy="1984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Raleway"/>
              <a:ea typeface="Raleway"/>
              <a:cs typeface="Raleway"/>
              <a:sym typeface="Raleway"/>
            </a:endParaRPr>
          </a:p>
          <a:p>
            <a:pPr indent="-241300" lvl="0" marL="457200" marR="0" rtl="0" algn="l">
              <a:lnSpc>
                <a:spcPct val="115000"/>
              </a:lnSpc>
              <a:spcBef>
                <a:spcPts val="0"/>
              </a:spcBef>
              <a:spcAft>
                <a:spcPts val="0"/>
              </a:spcAft>
              <a:buClr>
                <a:schemeClr val="accent2"/>
              </a:buClr>
              <a:buSzPts val="2000"/>
              <a:buFont typeface="JetBrains Mono"/>
              <a:buChar char="⇢"/>
            </a:pPr>
            <a:r>
              <a:rPr b="0" i="0" lang="en" sz="2000" u="none" cap="none" strike="noStrike">
                <a:solidFill>
                  <a:schemeClr val="accent2"/>
                </a:solidFill>
                <a:latin typeface="Open Sans"/>
                <a:ea typeface="Open Sans"/>
                <a:cs typeface="Open Sans"/>
                <a:sym typeface="Open Sans"/>
              </a:rPr>
              <a:t>Non-Open Access Content</a:t>
            </a:r>
            <a:endParaRPr b="0" i="0" sz="2000" u="none" cap="none" strike="noStrike">
              <a:solidFill>
                <a:schemeClr val="accent2"/>
              </a:solidFill>
              <a:latin typeface="Open Sans"/>
              <a:ea typeface="Open Sans"/>
              <a:cs typeface="Open Sans"/>
              <a:sym typeface="Open Sans"/>
            </a:endParaRPr>
          </a:p>
          <a:p>
            <a:pPr indent="0" lvl="0" marL="571500" marR="0" rtl="0" algn="l">
              <a:lnSpc>
                <a:spcPct val="115000"/>
              </a:lnSpc>
              <a:spcBef>
                <a:spcPts val="0"/>
              </a:spcBef>
              <a:spcAft>
                <a:spcPts val="0"/>
              </a:spcAft>
              <a:buClr>
                <a:srgbClr val="000000"/>
              </a:buClr>
              <a:buSzPts val="1600"/>
              <a:buFont typeface="Arial"/>
              <a:buNone/>
            </a:pPr>
            <a:r>
              <a:rPr b="0" i="0" lang="en" sz="1600" u="none" cap="none" strike="noStrike">
                <a:solidFill>
                  <a:srgbClr val="52A1B9"/>
                </a:solidFill>
                <a:latin typeface="Arial"/>
                <a:ea typeface="Arial"/>
                <a:cs typeface="Arial"/>
                <a:sym typeface="Arial"/>
              </a:rPr>
              <a:t>Many publishers have policies that restrict the uploading of their content, even if some might argue it falls under “Fair Use.”</a:t>
            </a:r>
            <a:endParaRPr b="0" i="0" sz="1600" u="none" cap="none" strike="noStrike">
              <a:solidFill>
                <a:srgbClr val="52A1B9"/>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800"/>
              <a:buFont typeface="Arial"/>
              <a:buNone/>
            </a:pPr>
            <a:r>
              <a:t/>
            </a:r>
            <a:endParaRPr b="0" i="1" sz="800" u="none" cap="none" strike="noStrike">
              <a:solidFill>
                <a:schemeClr val="dk1"/>
              </a:solidFill>
              <a:latin typeface="JetBrains Mono"/>
              <a:ea typeface="JetBrains Mono"/>
              <a:cs typeface="JetBrains Mono"/>
              <a:sym typeface="JetBrains Mono"/>
            </a:endParaRPr>
          </a:p>
          <a:p>
            <a:pPr indent="0" lvl="0" marL="57150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2"/>
              </a:solidFill>
              <a:latin typeface="JetBrains Mono"/>
              <a:ea typeface="JetBrains Mono"/>
              <a:cs typeface="JetBrains Mono"/>
              <a:sym typeface="JetBrains Mono"/>
            </a:endParaRPr>
          </a:p>
        </p:txBody>
      </p:sp>
      <p:cxnSp>
        <p:nvCxnSpPr>
          <p:cNvPr id="534" name="Google Shape;534;g389929be8a3_0_1"/>
          <p:cNvCxnSpPr/>
          <p:nvPr/>
        </p:nvCxnSpPr>
        <p:spPr>
          <a:xfrm>
            <a:off x="2962663" y="1191667"/>
            <a:ext cx="0" cy="697200"/>
          </a:xfrm>
          <a:prstGeom prst="straightConnector1">
            <a:avLst/>
          </a:prstGeom>
          <a:noFill/>
          <a:ln cap="flat" cmpd="sng" w="19050">
            <a:solidFill>
              <a:srgbClr val="B7B7B7"/>
            </a:solidFill>
            <a:prstDash val="solid"/>
            <a:round/>
            <a:headEnd len="sm" w="sm" type="none"/>
            <a:tailEnd len="sm" w="sm" type="none"/>
          </a:ln>
        </p:spPr>
      </p:cxnSp>
      <p:cxnSp>
        <p:nvCxnSpPr>
          <p:cNvPr id="535" name="Google Shape;535;g389929be8a3_0_1"/>
          <p:cNvCxnSpPr/>
          <p:nvPr/>
        </p:nvCxnSpPr>
        <p:spPr>
          <a:xfrm>
            <a:off x="2962663" y="2669874"/>
            <a:ext cx="0" cy="402300"/>
          </a:xfrm>
          <a:prstGeom prst="straightConnector1">
            <a:avLst/>
          </a:prstGeom>
          <a:noFill/>
          <a:ln cap="flat" cmpd="sng" w="19050">
            <a:solidFill>
              <a:srgbClr val="B7B7B7"/>
            </a:solidFill>
            <a:prstDash val="solid"/>
            <a:round/>
            <a:headEnd len="sm" w="sm" type="none"/>
            <a:tailEnd len="sm" w="sm" type="none"/>
          </a:ln>
        </p:spPr>
      </p:cxnSp>
      <p:cxnSp>
        <p:nvCxnSpPr>
          <p:cNvPr id="536" name="Google Shape;536;g389929be8a3_0_1"/>
          <p:cNvCxnSpPr/>
          <p:nvPr/>
        </p:nvCxnSpPr>
        <p:spPr>
          <a:xfrm>
            <a:off x="2973404" y="3781722"/>
            <a:ext cx="0" cy="637800"/>
          </a:xfrm>
          <a:prstGeom prst="straightConnector1">
            <a:avLst/>
          </a:prstGeom>
          <a:noFill/>
          <a:ln cap="flat" cmpd="sng" w="19050">
            <a:solidFill>
              <a:srgbClr val="B7B7B7"/>
            </a:solidFill>
            <a:prstDash val="solid"/>
            <a:round/>
            <a:headEnd len="sm" w="sm" type="none"/>
            <a:tailEnd len="sm" w="sm" type="none"/>
          </a:ln>
        </p:spPr>
      </p:cxnSp>
      <p:sp>
        <p:nvSpPr>
          <p:cNvPr id="537" name="Google Shape;537;g389929be8a3_0_1"/>
          <p:cNvSpPr txBox="1"/>
          <p:nvPr/>
        </p:nvSpPr>
        <p:spPr>
          <a:xfrm>
            <a:off x="2358688" y="2152833"/>
            <a:ext cx="6267000" cy="1068300"/>
          </a:xfrm>
          <a:prstGeom prst="rect">
            <a:avLst/>
          </a:prstGeom>
          <a:noFill/>
          <a:ln>
            <a:noFill/>
          </a:ln>
        </p:spPr>
        <p:txBody>
          <a:bodyPr anchorCtr="0" anchor="t" bIns="91425" lIns="91425" spcFirstLastPara="1" rIns="91425" wrap="square" tIns="91425">
            <a:spAutoFit/>
          </a:bodyPr>
          <a:lstStyle/>
          <a:p>
            <a:pPr indent="-241300" lvl="0" marL="457200" marR="0" rtl="0" algn="l">
              <a:lnSpc>
                <a:spcPct val="115000"/>
              </a:lnSpc>
              <a:spcBef>
                <a:spcPts val="0"/>
              </a:spcBef>
              <a:spcAft>
                <a:spcPts val="0"/>
              </a:spcAft>
              <a:buClr>
                <a:srgbClr val="52A1B9"/>
              </a:buClr>
              <a:buSzPts val="2000"/>
              <a:buFont typeface="JetBrains Mono"/>
              <a:buChar char="⇢"/>
            </a:pPr>
            <a:r>
              <a:rPr b="0" i="0" lang="en" sz="2000" u="none" cap="none" strike="noStrike">
                <a:solidFill>
                  <a:schemeClr val="accent2"/>
                </a:solidFill>
                <a:latin typeface="Open Sans"/>
                <a:ea typeface="Open Sans"/>
                <a:cs typeface="Open Sans"/>
                <a:sym typeface="Open Sans"/>
              </a:rPr>
              <a:t> Confidential Information</a:t>
            </a:r>
            <a:endParaRPr b="0" i="0" sz="2000" u="none" cap="none" strike="noStrike">
              <a:solidFill>
                <a:schemeClr val="lt1"/>
              </a:solidFill>
              <a:latin typeface="Open Sans"/>
              <a:ea typeface="Open Sans"/>
              <a:cs typeface="Open Sans"/>
              <a:sym typeface="Open Sans"/>
            </a:endParaRPr>
          </a:p>
          <a:p>
            <a:pPr indent="0" lvl="0" marL="571500" marR="0" rtl="0" algn="l">
              <a:lnSpc>
                <a:spcPct val="115000"/>
              </a:lnSpc>
              <a:spcBef>
                <a:spcPts val="0"/>
              </a:spcBef>
              <a:spcAft>
                <a:spcPts val="0"/>
              </a:spcAft>
              <a:buClr>
                <a:srgbClr val="000000"/>
              </a:buClr>
              <a:buSzPts val="1700"/>
              <a:buFont typeface="Arial"/>
              <a:buNone/>
            </a:pPr>
            <a:r>
              <a:rPr b="0" i="0" lang="en" sz="1600" u="none" cap="none" strike="noStrike">
                <a:solidFill>
                  <a:srgbClr val="52A1B9"/>
                </a:solidFill>
                <a:latin typeface="Arial"/>
                <a:ea typeface="Arial"/>
                <a:cs typeface="Arial"/>
                <a:sym typeface="Arial"/>
              </a:rPr>
              <a:t>Information that is subject to a non-disclosure agreement or classified.</a:t>
            </a:r>
            <a:endParaRPr b="0" i="0" sz="1700" u="none" cap="none" strike="noStrike">
              <a:solidFill>
                <a:srgbClr val="9900FF"/>
              </a:solidFill>
              <a:latin typeface="Arial"/>
              <a:ea typeface="Arial"/>
              <a:cs typeface="Arial"/>
              <a:sym typeface="Arial"/>
            </a:endParaRPr>
          </a:p>
        </p:txBody>
      </p:sp>
      <p:cxnSp>
        <p:nvCxnSpPr>
          <p:cNvPr id="538" name="Google Shape;538;g389929be8a3_0_1"/>
          <p:cNvCxnSpPr/>
          <p:nvPr/>
        </p:nvCxnSpPr>
        <p:spPr>
          <a:xfrm>
            <a:off x="2962663" y="2563267"/>
            <a:ext cx="0" cy="697200"/>
          </a:xfrm>
          <a:prstGeom prst="straightConnector1">
            <a:avLst/>
          </a:prstGeom>
          <a:noFill/>
          <a:ln cap="flat" cmpd="sng" w="19050">
            <a:solidFill>
              <a:srgbClr val="B7B7B7"/>
            </a:solidFill>
            <a:prstDash val="solid"/>
            <a:round/>
            <a:headEnd len="sm" w="sm" type="none"/>
            <a:tailEnd len="sm" w="sm" type="non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0"/>
          <p:cNvSpPr txBox="1"/>
          <p:nvPr/>
        </p:nvSpPr>
        <p:spPr>
          <a:xfrm>
            <a:off x="411500" y="344100"/>
            <a:ext cx="8415300" cy="67707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Considerations</a:t>
            </a:r>
            <a:endParaRPr b="0" i="0" sz="3200" u="none" cap="none" strike="noStrike">
              <a:solidFill>
                <a:schemeClr val="dk1"/>
              </a:solidFill>
              <a:latin typeface="Oswald"/>
              <a:ea typeface="Oswald"/>
              <a:cs typeface="Oswald"/>
              <a:sym typeface="Oswald"/>
            </a:endParaRPr>
          </a:p>
        </p:txBody>
      </p:sp>
      <p:grpSp>
        <p:nvGrpSpPr>
          <p:cNvPr id="544" name="Google Shape;544;p40"/>
          <p:cNvGrpSpPr/>
          <p:nvPr/>
        </p:nvGrpSpPr>
        <p:grpSpPr>
          <a:xfrm>
            <a:off x="106425" y="108050"/>
            <a:ext cx="476700" cy="502500"/>
            <a:chOff x="95250" y="112575"/>
            <a:chExt cx="476700" cy="502500"/>
          </a:xfrm>
        </p:grpSpPr>
        <p:cxnSp>
          <p:nvCxnSpPr>
            <p:cNvPr id="545" name="Google Shape;545;p4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46" name="Google Shape;546;p4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47" name="Google Shape;547;p40"/>
          <p:cNvGrpSpPr/>
          <p:nvPr/>
        </p:nvGrpSpPr>
        <p:grpSpPr>
          <a:xfrm flipH="1">
            <a:off x="8560875" y="108050"/>
            <a:ext cx="476700" cy="502500"/>
            <a:chOff x="95250" y="112575"/>
            <a:chExt cx="476700" cy="502500"/>
          </a:xfrm>
        </p:grpSpPr>
        <p:cxnSp>
          <p:nvCxnSpPr>
            <p:cNvPr id="548" name="Google Shape;548;p4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49" name="Google Shape;549;p4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50" name="Google Shape;550;p40"/>
          <p:cNvGrpSpPr/>
          <p:nvPr/>
        </p:nvGrpSpPr>
        <p:grpSpPr>
          <a:xfrm rot="-5400000">
            <a:off x="106425" y="4557750"/>
            <a:ext cx="476700" cy="502500"/>
            <a:chOff x="95250" y="112575"/>
            <a:chExt cx="476700" cy="502500"/>
          </a:xfrm>
        </p:grpSpPr>
        <p:cxnSp>
          <p:nvCxnSpPr>
            <p:cNvPr id="551" name="Google Shape;551;p4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52" name="Google Shape;552;p4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53" name="Google Shape;553;p40"/>
          <p:cNvGrpSpPr/>
          <p:nvPr/>
        </p:nvGrpSpPr>
        <p:grpSpPr>
          <a:xfrm rot="10800000">
            <a:off x="8560875" y="4557750"/>
            <a:ext cx="476700" cy="502500"/>
            <a:chOff x="95250" y="112575"/>
            <a:chExt cx="476700" cy="502500"/>
          </a:xfrm>
        </p:grpSpPr>
        <p:cxnSp>
          <p:nvCxnSpPr>
            <p:cNvPr id="554" name="Google Shape;554;p4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55" name="Google Shape;555;p4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556" name="Google Shape;556;p40"/>
          <p:cNvSpPr txBox="1"/>
          <p:nvPr/>
        </p:nvSpPr>
        <p:spPr>
          <a:xfrm>
            <a:off x="1473954" y="1053035"/>
            <a:ext cx="6290400" cy="193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Open Sans"/>
                <a:ea typeface="Open Sans"/>
                <a:cs typeface="Open Sans"/>
                <a:sym typeface="Open Sans"/>
              </a:rPr>
              <a:t>Fair use is a legal doctrine that promotes freedom of expression by </a:t>
            </a:r>
            <a:r>
              <a:rPr b="1" i="0" lang="en" sz="2400" u="none" cap="none" strike="noStrike">
                <a:solidFill>
                  <a:schemeClr val="dk1"/>
                </a:solidFill>
                <a:latin typeface="Open Sans"/>
                <a:ea typeface="Open Sans"/>
                <a:cs typeface="Open Sans"/>
                <a:sym typeface="Open Sans"/>
              </a:rPr>
              <a:t>permitting the unlicensed use </a:t>
            </a:r>
            <a:r>
              <a:rPr b="0" i="0" lang="en" sz="2400" u="none" cap="none" strike="noStrike">
                <a:solidFill>
                  <a:schemeClr val="dk1"/>
                </a:solidFill>
                <a:latin typeface="Open Sans"/>
                <a:ea typeface="Open Sans"/>
                <a:cs typeface="Open Sans"/>
                <a:sym typeface="Open Sans"/>
              </a:rPr>
              <a:t>of copyright-protected works in certain circumstances… notably … </a:t>
            </a:r>
            <a:r>
              <a:rPr b="1" i="0" lang="en" sz="2400" u="none" cap="none" strike="noStrike">
                <a:solidFill>
                  <a:schemeClr val="dk1"/>
                </a:solidFill>
                <a:latin typeface="Open Sans"/>
                <a:ea typeface="Open Sans"/>
                <a:cs typeface="Open Sans"/>
                <a:sym typeface="Open Sans"/>
              </a:rPr>
              <a:t>teaching, scholarship, and research.</a:t>
            </a:r>
            <a:endParaRPr b="0" i="0" sz="2400" u="none" cap="none" strike="noStrike">
              <a:solidFill>
                <a:schemeClr val="dk1"/>
              </a:solidFill>
              <a:latin typeface="Open Sans"/>
              <a:ea typeface="Open Sans"/>
              <a:cs typeface="Open Sans"/>
              <a:sym typeface="Open Sans"/>
            </a:endParaRPr>
          </a:p>
        </p:txBody>
      </p:sp>
      <p:sp>
        <p:nvSpPr>
          <p:cNvPr id="557" name="Google Shape;557;p40"/>
          <p:cNvSpPr txBox="1"/>
          <p:nvPr/>
        </p:nvSpPr>
        <p:spPr>
          <a:xfrm>
            <a:off x="4225109" y="3024384"/>
            <a:ext cx="4601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accent5"/>
                </a:solidFill>
                <a:latin typeface="Arial"/>
                <a:ea typeface="Arial"/>
                <a:cs typeface="Arial"/>
                <a:sym typeface="Arial"/>
              </a:rPr>
              <a:t>─</a:t>
            </a:r>
            <a:r>
              <a:rPr b="0" i="0" lang="en" sz="1400" u="none" cap="none" strike="noStrike">
                <a:solidFill>
                  <a:schemeClr val="accent5"/>
                </a:solidFill>
                <a:latin typeface="Arial"/>
                <a:ea typeface="Arial"/>
                <a:cs typeface="Arial"/>
                <a:sym typeface="Arial"/>
              </a:rPr>
              <a:t> US Copyright Office Fair Use Index</a:t>
            </a:r>
            <a:endParaRPr b="0" i="0" sz="1400" u="none" cap="none" strike="noStrike">
              <a:solidFill>
                <a:schemeClr val="accent5"/>
              </a:solidFill>
              <a:latin typeface="Arial"/>
              <a:ea typeface="Arial"/>
              <a:cs typeface="Arial"/>
              <a:sym typeface="Arial"/>
            </a:endParaRPr>
          </a:p>
        </p:txBody>
      </p:sp>
      <p:sp>
        <p:nvSpPr>
          <p:cNvPr id="558" name="Google Shape;558;p40"/>
          <p:cNvSpPr txBox="1"/>
          <p:nvPr/>
        </p:nvSpPr>
        <p:spPr>
          <a:xfrm>
            <a:off x="1714500" y="3935400"/>
            <a:ext cx="6011700" cy="84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400"/>
              <a:buFont typeface="Arial"/>
              <a:buNone/>
            </a:pPr>
            <a:r>
              <a:rPr b="0" i="0" lang="en" sz="2400" u="none" cap="none" strike="noStrike">
                <a:solidFill>
                  <a:schemeClr val="dk1"/>
                </a:solidFill>
                <a:latin typeface="Open Sans"/>
                <a:ea typeface="Open Sans"/>
                <a:cs typeface="Open Sans"/>
                <a:sym typeface="Open Sans"/>
              </a:rPr>
              <a:t>AI models use intellectual property of the world: </a:t>
            </a:r>
            <a:r>
              <a:rPr b="1" i="0" lang="en" sz="2400" u="none" cap="none" strike="noStrike">
                <a:solidFill>
                  <a:schemeClr val="dk1"/>
                </a:solidFill>
                <a:latin typeface="Open Sans"/>
                <a:ea typeface="Open Sans"/>
                <a:cs typeface="Open Sans"/>
                <a:sym typeface="Open Sans"/>
              </a:rPr>
              <a:t>biggest theft in history</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7eb8bae26d_0_186"/>
          <p:cNvSpPr txBox="1"/>
          <p:nvPr/>
        </p:nvSpPr>
        <p:spPr>
          <a:xfrm>
            <a:off x="411500" y="344100"/>
            <a:ext cx="84153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Our recommendations</a:t>
            </a:r>
            <a:endParaRPr b="0" i="0" sz="3200" u="none" cap="none" strike="noStrike">
              <a:solidFill>
                <a:schemeClr val="dk1"/>
              </a:solidFill>
              <a:latin typeface="Oswald"/>
              <a:ea typeface="Oswald"/>
              <a:cs typeface="Oswald"/>
              <a:sym typeface="Oswald"/>
            </a:endParaRPr>
          </a:p>
        </p:txBody>
      </p:sp>
      <p:grpSp>
        <p:nvGrpSpPr>
          <p:cNvPr id="564" name="Google Shape;564;g37eb8bae26d_0_186"/>
          <p:cNvGrpSpPr/>
          <p:nvPr/>
        </p:nvGrpSpPr>
        <p:grpSpPr>
          <a:xfrm>
            <a:off x="106425" y="108050"/>
            <a:ext cx="476700" cy="502500"/>
            <a:chOff x="95250" y="112575"/>
            <a:chExt cx="476700" cy="502500"/>
          </a:xfrm>
        </p:grpSpPr>
        <p:cxnSp>
          <p:nvCxnSpPr>
            <p:cNvPr id="565" name="Google Shape;565;g37eb8bae26d_0_18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66" name="Google Shape;566;g37eb8bae26d_0_18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67" name="Google Shape;567;g37eb8bae26d_0_186"/>
          <p:cNvGrpSpPr/>
          <p:nvPr/>
        </p:nvGrpSpPr>
        <p:grpSpPr>
          <a:xfrm flipH="1">
            <a:off x="8560875" y="108050"/>
            <a:ext cx="476700" cy="502500"/>
            <a:chOff x="95250" y="112575"/>
            <a:chExt cx="476700" cy="502500"/>
          </a:xfrm>
        </p:grpSpPr>
        <p:cxnSp>
          <p:nvCxnSpPr>
            <p:cNvPr id="568" name="Google Shape;568;g37eb8bae26d_0_18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69" name="Google Shape;569;g37eb8bae26d_0_18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70" name="Google Shape;570;g37eb8bae26d_0_186"/>
          <p:cNvGrpSpPr/>
          <p:nvPr/>
        </p:nvGrpSpPr>
        <p:grpSpPr>
          <a:xfrm rot="-5400000">
            <a:off x="106425" y="4557750"/>
            <a:ext cx="476700" cy="502500"/>
            <a:chOff x="95250" y="112575"/>
            <a:chExt cx="476700" cy="502500"/>
          </a:xfrm>
        </p:grpSpPr>
        <p:cxnSp>
          <p:nvCxnSpPr>
            <p:cNvPr id="571" name="Google Shape;571;g37eb8bae26d_0_18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72" name="Google Shape;572;g37eb8bae26d_0_18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73" name="Google Shape;573;g37eb8bae26d_0_186"/>
          <p:cNvGrpSpPr/>
          <p:nvPr/>
        </p:nvGrpSpPr>
        <p:grpSpPr>
          <a:xfrm rot="10800000">
            <a:off x="8560875" y="4557750"/>
            <a:ext cx="476700" cy="502500"/>
            <a:chOff x="95250" y="112575"/>
            <a:chExt cx="476700" cy="502500"/>
          </a:xfrm>
        </p:grpSpPr>
        <p:cxnSp>
          <p:nvCxnSpPr>
            <p:cNvPr id="574" name="Google Shape;574;g37eb8bae26d_0_18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75" name="Google Shape;575;g37eb8bae26d_0_18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pic>
        <p:nvPicPr>
          <p:cNvPr id="576" name="Google Shape;576;g37eb8bae26d_0_186"/>
          <p:cNvPicPr preferRelativeResize="0"/>
          <p:nvPr/>
        </p:nvPicPr>
        <p:blipFill rotWithShape="1">
          <a:blip r:embed="rId3">
            <a:alphaModFix/>
          </a:blip>
          <a:srcRect b="0" l="0" r="0" t="0"/>
          <a:stretch/>
        </p:blipFill>
        <p:spPr>
          <a:xfrm>
            <a:off x="3208050" y="1101275"/>
            <a:ext cx="2359843" cy="381750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grpSp>
        <p:nvGrpSpPr>
          <p:cNvPr id="581" name="Google Shape;581;g3ce24fdd3bf_0_0"/>
          <p:cNvGrpSpPr/>
          <p:nvPr/>
        </p:nvGrpSpPr>
        <p:grpSpPr>
          <a:xfrm>
            <a:off x="106425" y="108050"/>
            <a:ext cx="476700" cy="502500"/>
            <a:chOff x="95250" y="112575"/>
            <a:chExt cx="476700" cy="502500"/>
          </a:xfrm>
        </p:grpSpPr>
        <p:cxnSp>
          <p:nvCxnSpPr>
            <p:cNvPr id="582" name="Google Shape;582;g3ce24fdd3bf_0_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83" name="Google Shape;583;g3ce24fdd3bf_0_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84" name="Google Shape;584;g3ce24fdd3bf_0_0"/>
          <p:cNvGrpSpPr/>
          <p:nvPr/>
        </p:nvGrpSpPr>
        <p:grpSpPr>
          <a:xfrm flipH="1">
            <a:off x="8560875" y="108050"/>
            <a:ext cx="476700" cy="502500"/>
            <a:chOff x="95250" y="112575"/>
            <a:chExt cx="476700" cy="502500"/>
          </a:xfrm>
        </p:grpSpPr>
        <p:cxnSp>
          <p:nvCxnSpPr>
            <p:cNvPr id="585" name="Google Shape;585;g3ce24fdd3bf_0_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86" name="Google Shape;586;g3ce24fdd3bf_0_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87" name="Google Shape;587;g3ce24fdd3bf_0_0"/>
          <p:cNvGrpSpPr/>
          <p:nvPr/>
        </p:nvGrpSpPr>
        <p:grpSpPr>
          <a:xfrm rot="-5400000">
            <a:off x="106425" y="4557750"/>
            <a:ext cx="476700" cy="502500"/>
            <a:chOff x="95250" y="112575"/>
            <a:chExt cx="476700" cy="502500"/>
          </a:xfrm>
        </p:grpSpPr>
        <p:cxnSp>
          <p:nvCxnSpPr>
            <p:cNvPr id="588" name="Google Shape;588;g3ce24fdd3bf_0_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89" name="Google Shape;589;g3ce24fdd3bf_0_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590" name="Google Shape;590;g3ce24fdd3bf_0_0"/>
          <p:cNvGrpSpPr/>
          <p:nvPr/>
        </p:nvGrpSpPr>
        <p:grpSpPr>
          <a:xfrm rot="10800000">
            <a:off x="8560875" y="4557750"/>
            <a:ext cx="476700" cy="502500"/>
            <a:chOff x="95250" y="112575"/>
            <a:chExt cx="476700" cy="502500"/>
          </a:xfrm>
        </p:grpSpPr>
        <p:cxnSp>
          <p:nvCxnSpPr>
            <p:cNvPr id="591" name="Google Shape;591;g3ce24fdd3bf_0_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592" name="Google Shape;592;g3ce24fdd3bf_0_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593" name="Google Shape;593;g3ce24fdd3bf_0_0"/>
          <p:cNvSpPr txBox="1"/>
          <p:nvPr/>
        </p:nvSpPr>
        <p:spPr>
          <a:xfrm>
            <a:off x="2028402" y="1392725"/>
            <a:ext cx="4759500" cy="769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n" sz="1900" u="sng" cap="none" strike="noStrike">
                <a:solidFill>
                  <a:schemeClr val="hlink"/>
                </a:solidFill>
                <a:latin typeface="JetBrains Mono Light"/>
                <a:ea typeface="JetBrains Mono Light"/>
                <a:cs typeface="JetBrains Mono Light"/>
                <a:sym typeface="JetBrains Mono Light"/>
                <a:hlinkClick r:id="rId3"/>
              </a:rPr>
              <a:t>https://scispace.com/</a:t>
            </a:r>
            <a:r>
              <a:rPr b="0" i="0" lang="en" sz="1900" u="none" cap="none" strike="noStrike">
                <a:solidFill>
                  <a:srgbClr val="000000"/>
                </a:solidFill>
                <a:latin typeface="JetBrains Mono Light"/>
                <a:ea typeface="JetBrains Mono Light"/>
                <a:cs typeface="JetBrains Mono Light"/>
                <a:sym typeface="JetBrains Mono Light"/>
              </a:rPr>
              <a:t> </a:t>
            </a:r>
            <a:endParaRPr b="0" i="0" sz="1900" u="none" cap="none" strike="noStrike">
              <a:solidFill>
                <a:srgbClr val="000000"/>
              </a:solidFill>
              <a:latin typeface="JetBrains Mono Light"/>
              <a:ea typeface="JetBrains Mono Light"/>
              <a:cs typeface="JetBrains Mono Light"/>
              <a:sym typeface="JetBrains Mono Light"/>
            </a:endParaRPr>
          </a:p>
          <a:p>
            <a:pPr indent="0" lvl="0" marL="0" marR="0" rtl="0" algn="ctr">
              <a:lnSpc>
                <a:spcPct val="100000"/>
              </a:lnSpc>
              <a:spcBef>
                <a:spcPts val="0"/>
              </a:spcBef>
              <a:spcAft>
                <a:spcPts val="0"/>
              </a:spcAft>
              <a:buClr>
                <a:srgbClr val="000000"/>
              </a:buClr>
              <a:buSzPts val="2500"/>
              <a:buFont typeface="Arial"/>
              <a:buNone/>
            </a:pPr>
            <a:r>
              <a:rPr b="0" i="0" lang="en" sz="1900" u="none" cap="none" strike="noStrike">
                <a:solidFill>
                  <a:srgbClr val="000000"/>
                </a:solidFill>
                <a:latin typeface="JetBrains Mono Light"/>
                <a:ea typeface="JetBrains Mono Light"/>
                <a:cs typeface="JetBrains Mono Light"/>
                <a:sym typeface="JetBrains Mono Light"/>
              </a:rPr>
              <a:t>  </a:t>
            </a:r>
            <a:endParaRPr b="0" i="0" sz="1900" u="none" cap="none" strike="noStrike">
              <a:solidFill>
                <a:srgbClr val="000000"/>
              </a:solidFill>
              <a:latin typeface="JetBrains Mono Light"/>
              <a:ea typeface="JetBrains Mono Light"/>
              <a:cs typeface="JetBrains Mono Light"/>
              <a:sym typeface="JetBrains Mono Light"/>
            </a:endParaRPr>
          </a:p>
        </p:txBody>
      </p:sp>
      <p:sp>
        <p:nvSpPr>
          <p:cNvPr id="594" name="Google Shape;594;g3ce24fdd3bf_0_0"/>
          <p:cNvSpPr txBox="1"/>
          <p:nvPr/>
        </p:nvSpPr>
        <p:spPr>
          <a:xfrm>
            <a:off x="1337568" y="3065200"/>
            <a:ext cx="670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Clr>
                <a:srgbClr val="000000"/>
              </a:buClr>
              <a:buSzPts val="1400"/>
              <a:buFont typeface="Arial"/>
              <a:buNone/>
            </a:pPr>
            <a:r>
              <a:rPr b="0" i="0" lang="en" sz="1400" u="none" cap="none" strike="noStrike">
                <a:solidFill>
                  <a:schemeClr val="dk1"/>
                </a:solidFill>
                <a:latin typeface="Open Sans"/>
                <a:ea typeface="Open Sans"/>
                <a:cs typeface="Open Sans"/>
                <a:sym typeface="Open Sans"/>
              </a:rPr>
              <a:t>“Uploads, chat messages, and cached artifacts are encrypted end‑to‑end.”</a:t>
            </a:r>
            <a:endParaRPr b="0" i="0" sz="1400" u="none" cap="none" strike="noStrike">
              <a:solidFill>
                <a:schemeClr val="dk1"/>
              </a:solidFill>
              <a:latin typeface="Open Sans"/>
              <a:ea typeface="Open Sans"/>
              <a:cs typeface="Open Sans"/>
              <a:sym typeface="Open Sans"/>
            </a:endParaRPr>
          </a:p>
        </p:txBody>
      </p:sp>
      <p:sp>
        <p:nvSpPr>
          <p:cNvPr id="595" name="Google Shape;595;g3ce24fdd3bf_0_0"/>
          <p:cNvSpPr txBox="1"/>
          <p:nvPr/>
        </p:nvSpPr>
        <p:spPr>
          <a:xfrm>
            <a:off x="1322625" y="2693077"/>
            <a:ext cx="1829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5"/>
                </a:solidFill>
                <a:latin typeface="Arial"/>
                <a:ea typeface="Arial"/>
                <a:cs typeface="Arial"/>
                <a:sym typeface="Arial"/>
              </a:rPr>
              <a:t>PRIVACY POLICY</a:t>
            </a:r>
            <a:endParaRPr b="1" i="0" sz="1500" u="none" cap="none" strike="noStrike">
              <a:solidFill>
                <a:schemeClr val="accent5"/>
              </a:solidFill>
              <a:latin typeface="Arial"/>
              <a:ea typeface="Arial"/>
              <a:cs typeface="Arial"/>
              <a:sym typeface="Arial"/>
            </a:endParaRPr>
          </a:p>
        </p:txBody>
      </p:sp>
      <p:sp>
        <p:nvSpPr>
          <p:cNvPr id="596" name="Google Shape;596;g3ce24fdd3bf_0_0"/>
          <p:cNvSpPr txBox="1"/>
          <p:nvPr/>
        </p:nvSpPr>
        <p:spPr>
          <a:xfrm>
            <a:off x="1327600" y="3465400"/>
            <a:ext cx="23016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5"/>
                </a:solidFill>
                <a:latin typeface="Arial"/>
                <a:ea typeface="Arial"/>
                <a:cs typeface="Arial"/>
                <a:sym typeface="Arial"/>
              </a:rPr>
              <a:t>RECOMMENDATION</a:t>
            </a:r>
            <a:endParaRPr b="1" i="0" sz="1500" u="none" cap="none" strike="noStrike">
              <a:solidFill>
                <a:schemeClr val="accent5"/>
              </a:solidFill>
              <a:latin typeface="Arial"/>
              <a:ea typeface="Arial"/>
              <a:cs typeface="Arial"/>
              <a:sym typeface="Arial"/>
            </a:endParaRPr>
          </a:p>
        </p:txBody>
      </p:sp>
      <p:sp>
        <p:nvSpPr>
          <p:cNvPr id="597" name="Google Shape;597;g3ce24fdd3bf_0_0"/>
          <p:cNvSpPr txBox="1"/>
          <p:nvPr/>
        </p:nvSpPr>
        <p:spPr>
          <a:xfrm>
            <a:off x="1371051" y="3880900"/>
            <a:ext cx="730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Clr>
                <a:srgbClr val="000000"/>
              </a:buClr>
              <a:buSzPts val="1400"/>
              <a:buFont typeface="Arial"/>
              <a:buNone/>
            </a:pPr>
            <a:r>
              <a:rPr b="0" i="0" lang="en" sz="1400" u="none" cap="none" strike="noStrike">
                <a:solidFill>
                  <a:schemeClr val="dk1"/>
                </a:solidFill>
                <a:latin typeface="Open Sans"/>
                <a:ea typeface="Open Sans"/>
                <a:cs typeface="Open Sans"/>
                <a:sym typeface="Open Sans"/>
              </a:rPr>
              <a:t>“Do not use for proprietary, confidential, and personal information for free version”</a:t>
            </a:r>
            <a:endParaRPr b="0" i="0" sz="1400" u="none" cap="none" strike="noStrike">
              <a:solidFill>
                <a:schemeClr val="dk1"/>
              </a:solidFill>
              <a:latin typeface="Open Sans"/>
              <a:ea typeface="Open Sans"/>
              <a:cs typeface="Open Sans"/>
              <a:sym typeface="Open Sans"/>
            </a:endParaRPr>
          </a:p>
        </p:txBody>
      </p:sp>
      <p:pic>
        <p:nvPicPr>
          <p:cNvPr descr="Image of SciSpace logo" id="598" name="Google Shape;598;g3ce24fdd3bf_0_0"/>
          <p:cNvPicPr preferRelativeResize="0"/>
          <p:nvPr/>
        </p:nvPicPr>
        <p:blipFill rotWithShape="1">
          <a:blip r:embed="rId4">
            <a:alphaModFix/>
          </a:blip>
          <a:srcRect b="16278" l="2588" r="4311" t="12548"/>
          <a:stretch/>
        </p:blipFill>
        <p:spPr>
          <a:xfrm>
            <a:off x="2446898" y="453750"/>
            <a:ext cx="3743587" cy="769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2" name="Shape 602"/>
        <p:cNvGrpSpPr/>
        <p:nvPr/>
      </p:nvGrpSpPr>
      <p:grpSpPr>
        <a:xfrm>
          <a:off x="0" y="0"/>
          <a:ext cx="0" cy="0"/>
          <a:chOff x="0" y="0"/>
          <a:chExt cx="0" cy="0"/>
        </a:xfrm>
      </p:grpSpPr>
      <p:pic>
        <p:nvPicPr>
          <p:cNvPr id="603" name="Google Shape;603;g3cfdd9c33af_0_1" title="- visual selection.png"/>
          <p:cNvPicPr preferRelativeResize="0"/>
          <p:nvPr/>
        </p:nvPicPr>
        <p:blipFill rotWithShape="1">
          <a:blip r:embed="rId3">
            <a:alphaModFix/>
          </a:blip>
          <a:srcRect b="10896" l="0" r="0" t="14727"/>
          <a:stretch/>
        </p:blipFill>
        <p:spPr>
          <a:xfrm>
            <a:off x="2204400" y="696950"/>
            <a:ext cx="4608650" cy="3693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3cfdd9c33af_0_26"/>
          <p:cNvSpPr txBox="1"/>
          <p:nvPr/>
        </p:nvSpPr>
        <p:spPr>
          <a:xfrm>
            <a:off x="573699" y="155550"/>
            <a:ext cx="8155800" cy="600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2700" u="none" cap="none" strike="noStrike">
                <a:solidFill>
                  <a:schemeClr val="dk1"/>
                </a:solidFill>
                <a:latin typeface="Oswald"/>
                <a:ea typeface="Oswald"/>
                <a:cs typeface="Oswald"/>
                <a:sym typeface="Oswald"/>
              </a:rPr>
              <a:t>Automation of literature search in SciSpace</a:t>
            </a:r>
            <a:endParaRPr b="0" i="0" sz="2700" u="none" cap="none" strike="noStrike">
              <a:solidFill>
                <a:schemeClr val="dk1"/>
              </a:solidFill>
              <a:latin typeface="Oswald"/>
              <a:ea typeface="Oswald"/>
              <a:cs typeface="Oswald"/>
              <a:sym typeface="Oswald"/>
            </a:endParaRPr>
          </a:p>
        </p:txBody>
      </p:sp>
      <p:pic>
        <p:nvPicPr>
          <p:cNvPr id="609" name="Google Shape;609;g3cfdd9c33af_0_26" title="Screenshot 2026-03-13 at 19.18.37.png"/>
          <p:cNvPicPr preferRelativeResize="0"/>
          <p:nvPr/>
        </p:nvPicPr>
        <p:blipFill rotWithShape="1">
          <a:blip r:embed="rId3">
            <a:alphaModFix/>
          </a:blip>
          <a:srcRect b="0" l="0" r="0" t="0"/>
          <a:stretch/>
        </p:blipFill>
        <p:spPr>
          <a:xfrm>
            <a:off x="152400" y="908250"/>
            <a:ext cx="8839204" cy="361682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grpSp>
        <p:nvGrpSpPr>
          <p:cNvPr id="614" name="Google Shape;614;p44"/>
          <p:cNvGrpSpPr/>
          <p:nvPr/>
        </p:nvGrpSpPr>
        <p:grpSpPr>
          <a:xfrm>
            <a:off x="106425" y="108050"/>
            <a:ext cx="476700" cy="502500"/>
            <a:chOff x="95250" y="112575"/>
            <a:chExt cx="476700" cy="502500"/>
          </a:xfrm>
        </p:grpSpPr>
        <p:cxnSp>
          <p:nvCxnSpPr>
            <p:cNvPr id="615" name="Google Shape;615;p44"/>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16" name="Google Shape;616;p44"/>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17" name="Google Shape;617;p44"/>
          <p:cNvGrpSpPr/>
          <p:nvPr/>
        </p:nvGrpSpPr>
        <p:grpSpPr>
          <a:xfrm flipH="1">
            <a:off x="8560875" y="108050"/>
            <a:ext cx="476700" cy="502500"/>
            <a:chOff x="95250" y="112575"/>
            <a:chExt cx="476700" cy="502500"/>
          </a:xfrm>
        </p:grpSpPr>
        <p:cxnSp>
          <p:nvCxnSpPr>
            <p:cNvPr id="618" name="Google Shape;618;p44"/>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19" name="Google Shape;619;p44"/>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20" name="Google Shape;620;p44"/>
          <p:cNvGrpSpPr/>
          <p:nvPr/>
        </p:nvGrpSpPr>
        <p:grpSpPr>
          <a:xfrm rot="-5400000">
            <a:off x="106425" y="4557750"/>
            <a:ext cx="476700" cy="502500"/>
            <a:chOff x="95250" y="112575"/>
            <a:chExt cx="476700" cy="502500"/>
          </a:xfrm>
        </p:grpSpPr>
        <p:cxnSp>
          <p:nvCxnSpPr>
            <p:cNvPr id="621" name="Google Shape;621;p44"/>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22" name="Google Shape;622;p44"/>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23" name="Google Shape;623;p44"/>
          <p:cNvGrpSpPr/>
          <p:nvPr/>
        </p:nvGrpSpPr>
        <p:grpSpPr>
          <a:xfrm rot="10800000">
            <a:off x="8560875" y="4557750"/>
            <a:ext cx="476700" cy="502500"/>
            <a:chOff x="95250" y="112575"/>
            <a:chExt cx="476700" cy="502500"/>
          </a:xfrm>
        </p:grpSpPr>
        <p:cxnSp>
          <p:nvCxnSpPr>
            <p:cNvPr id="624" name="Google Shape;624;p44"/>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25" name="Google Shape;625;p44"/>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pic>
        <p:nvPicPr>
          <p:cNvPr descr="Image of Elicit logo" id="626" name="Google Shape;626;p44"/>
          <p:cNvPicPr preferRelativeResize="0"/>
          <p:nvPr/>
        </p:nvPicPr>
        <p:blipFill rotWithShape="1">
          <a:blip r:embed="rId3">
            <a:alphaModFix/>
          </a:blip>
          <a:srcRect b="38984" l="22265" r="21942" t="38958"/>
          <a:stretch/>
        </p:blipFill>
        <p:spPr>
          <a:xfrm>
            <a:off x="2456125" y="401650"/>
            <a:ext cx="4048151" cy="1067275"/>
          </a:xfrm>
          <a:prstGeom prst="rect">
            <a:avLst/>
          </a:prstGeom>
          <a:noFill/>
          <a:ln>
            <a:noFill/>
          </a:ln>
        </p:spPr>
      </p:pic>
      <p:sp>
        <p:nvSpPr>
          <p:cNvPr id="627" name="Google Shape;627;p44"/>
          <p:cNvSpPr txBox="1"/>
          <p:nvPr/>
        </p:nvSpPr>
        <p:spPr>
          <a:xfrm>
            <a:off x="2456125" y="1392725"/>
            <a:ext cx="4048200" cy="477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n" sz="1900" u="sng" cap="none" strike="noStrike">
                <a:solidFill>
                  <a:schemeClr val="hlink"/>
                </a:solidFill>
                <a:latin typeface="JetBrains Mono Light"/>
                <a:ea typeface="JetBrains Mono Light"/>
                <a:cs typeface="JetBrains Mono Light"/>
                <a:sym typeface="JetBrains Mono Light"/>
                <a:hlinkClick r:id="rId4"/>
              </a:rPr>
              <a:t>https://elicit.com</a:t>
            </a:r>
            <a:r>
              <a:rPr b="0" i="0" lang="en" sz="1900" u="none" cap="none" strike="noStrike">
                <a:solidFill>
                  <a:srgbClr val="000000"/>
                </a:solidFill>
                <a:latin typeface="JetBrains Mono Light"/>
                <a:ea typeface="JetBrains Mono Light"/>
                <a:cs typeface="JetBrains Mono Light"/>
                <a:sym typeface="JetBrains Mono Light"/>
              </a:rPr>
              <a:t>  </a:t>
            </a:r>
            <a:endParaRPr b="0" i="0" sz="1900" u="none" cap="none" strike="noStrike">
              <a:solidFill>
                <a:srgbClr val="000000"/>
              </a:solidFill>
              <a:latin typeface="JetBrains Mono Light"/>
              <a:ea typeface="JetBrains Mono Light"/>
              <a:cs typeface="JetBrains Mono Light"/>
              <a:sym typeface="JetBrains Mono Light"/>
            </a:endParaRPr>
          </a:p>
        </p:txBody>
      </p:sp>
      <p:sp>
        <p:nvSpPr>
          <p:cNvPr id="628" name="Google Shape;628;p44"/>
          <p:cNvSpPr txBox="1"/>
          <p:nvPr/>
        </p:nvSpPr>
        <p:spPr>
          <a:xfrm>
            <a:off x="1337568" y="3065200"/>
            <a:ext cx="670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Clr>
                <a:srgbClr val="000000"/>
              </a:buClr>
              <a:buSzPts val="1400"/>
              <a:buFont typeface="Arial"/>
              <a:buNone/>
            </a:pPr>
            <a:r>
              <a:rPr b="0" i="0" lang="en" sz="1400" u="none" cap="none" strike="noStrike">
                <a:solidFill>
                  <a:schemeClr val="dk1"/>
                </a:solidFill>
                <a:latin typeface="Open Sans"/>
                <a:ea typeface="Open Sans"/>
                <a:cs typeface="Open Sans"/>
                <a:sym typeface="Open Sans"/>
              </a:rPr>
              <a:t>“Any papers you upload to Elicit are private to your account”</a:t>
            </a:r>
            <a:endParaRPr b="0" i="0" sz="1400" u="none" cap="none" strike="noStrike">
              <a:solidFill>
                <a:schemeClr val="dk1"/>
              </a:solidFill>
              <a:latin typeface="Open Sans"/>
              <a:ea typeface="Open Sans"/>
              <a:cs typeface="Open Sans"/>
              <a:sym typeface="Open Sans"/>
            </a:endParaRPr>
          </a:p>
        </p:txBody>
      </p:sp>
      <p:sp>
        <p:nvSpPr>
          <p:cNvPr id="629" name="Google Shape;629;p44"/>
          <p:cNvSpPr txBox="1"/>
          <p:nvPr/>
        </p:nvSpPr>
        <p:spPr>
          <a:xfrm>
            <a:off x="1322625" y="2693077"/>
            <a:ext cx="1829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5"/>
                </a:solidFill>
                <a:latin typeface="Arial"/>
                <a:ea typeface="Arial"/>
                <a:cs typeface="Arial"/>
                <a:sym typeface="Arial"/>
              </a:rPr>
              <a:t>PRIVACY POLICY</a:t>
            </a:r>
            <a:endParaRPr b="1" i="0" sz="1500" u="none" cap="none" strike="noStrike">
              <a:solidFill>
                <a:schemeClr val="accent5"/>
              </a:solidFill>
              <a:latin typeface="Arial"/>
              <a:ea typeface="Arial"/>
              <a:cs typeface="Arial"/>
              <a:sym typeface="Arial"/>
            </a:endParaRPr>
          </a:p>
        </p:txBody>
      </p:sp>
      <p:sp>
        <p:nvSpPr>
          <p:cNvPr id="630" name="Google Shape;630;p44"/>
          <p:cNvSpPr txBox="1"/>
          <p:nvPr/>
        </p:nvSpPr>
        <p:spPr>
          <a:xfrm>
            <a:off x="1327600" y="3465402"/>
            <a:ext cx="1829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5"/>
                </a:solidFill>
                <a:latin typeface="Arial"/>
                <a:ea typeface="Arial"/>
                <a:cs typeface="Arial"/>
                <a:sym typeface="Arial"/>
              </a:rPr>
              <a:t>VIB POLICY</a:t>
            </a:r>
            <a:endParaRPr b="1" i="0" sz="1500" u="none" cap="none" strike="noStrike">
              <a:solidFill>
                <a:schemeClr val="accent5"/>
              </a:solidFill>
              <a:latin typeface="Arial"/>
              <a:ea typeface="Arial"/>
              <a:cs typeface="Arial"/>
              <a:sym typeface="Arial"/>
            </a:endParaRPr>
          </a:p>
        </p:txBody>
      </p:sp>
      <p:sp>
        <p:nvSpPr>
          <p:cNvPr id="631" name="Google Shape;631;p44"/>
          <p:cNvSpPr txBox="1"/>
          <p:nvPr/>
        </p:nvSpPr>
        <p:spPr>
          <a:xfrm>
            <a:off x="1371043" y="3880900"/>
            <a:ext cx="670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Clr>
                <a:srgbClr val="000000"/>
              </a:buClr>
              <a:buSzPts val="1400"/>
              <a:buFont typeface="Arial"/>
              <a:buNone/>
            </a:pPr>
            <a:r>
              <a:rPr b="0" i="0" lang="en" sz="1400" u="none" cap="none" strike="noStrike">
                <a:solidFill>
                  <a:schemeClr val="dk1"/>
                </a:solidFill>
                <a:latin typeface="Open Sans"/>
                <a:ea typeface="Open Sans"/>
                <a:cs typeface="Open Sans"/>
                <a:sym typeface="Open Sans"/>
              </a:rPr>
              <a:t>“Do not use for proprietary, confidential, and personal information ”</a:t>
            </a:r>
            <a:endParaRPr b="0" i="0" sz="1400" u="none" cap="none" strike="noStrike">
              <a:solidFill>
                <a:schemeClr val="dk1"/>
              </a:solidFill>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grpSp>
        <p:nvGrpSpPr>
          <p:cNvPr id="636" name="Google Shape;636;p45"/>
          <p:cNvGrpSpPr/>
          <p:nvPr/>
        </p:nvGrpSpPr>
        <p:grpSpPr>
          <a:xfrm>
            <a:off x="106425" y="108050"/>
            <a:ext cx="476700" cy="502500"/>
            <a:chOff x="95250" y="112575"/>
            <a:chExt cx="476700" cy="502500"/>
          </a:xfrm>
        </p:grpSpPr>
        <p:cxnSp>
          <p:nvCxnSpPr>
            <p:cNvPr id="637" name="Google Shape;637;p4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38" name="Google Shape;638;p4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39" name="Google Shape;639;p45"/>
          <p:cNvGrpSpPr/>
          <p:nvPr/>
        </p:nvGrpSpPr>
        <p:grpSpPr>
          <a:xfrm flipH="1">
            <a:off x="8560875" y="108050"/>
            <a:ext cx="476700" cy="502500"/>
            <a:chOff x="95250" y="112575"/>
            <a:chExt cx="476700" cy="502500"/>
          </a:xfrm>
        </p:grpSpPr>
        <p:cxnSp>
          <p:nvCxnSpPr>
            <p:cNvPr id="640" name="Google Shape;640;p4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41" name="Google Shape;641;p4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42" name="Google Shape;642;p45"/>
          <p:cNvGrpSpPr/>
          <p:nvPr/>
        </p:nvGrpSpPr>
        <p:grpSpPr>
          <a:xfrm rot="-5400000">
            <a:off x="106425" y="4557750"/>
            <a:ext cx="476700" cy="502500"/>
            <a:chOff x="95250" y="112575"/>
            <a:chExt cx="476700" cy="502500"/>
          </a:xfrm>
        </p:grpSpPr>
        <p:cxnSp>
          <p:nvCxnSpPr>
            <p:cNvPr id="643" name="Google Shape;643;p4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44" name="Google Shape;644;p4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45" name="Google Shape;645;p45"/>
          <p:cNvGrpSpPr/>
          <p:nvPr/>
        </p:nvGrpSpPr>
        <p:grpSpPr>
          <a:xfrm rot="10800000">
            <a:off x="8560875" y="4557750"/>
            <a:ext cx="476700" cy="502500"/>
            <a:chOff x="95250" y="112575"/>
            <a:chExt cx="476700" cy="502500"/>
          </a:xfrm>
        </p:grpSpPr>
        <p:cxnSp>
          <p:nvCxnSpPr>
            <p:cNvPr id="646" name="Google Shape;646;p4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47" name="Google Shape;647;p4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pic>
        <p:nvPicPr>
          <p:cNvPr descr="Screenshot of Elicit prompt area" id="648" name="Google Shape;648;p45"/>
          <p:cNvPicPr preferRelativeResize="0"/>
          <p:nvPr/>
        </p:nvPicPr>
        <p:blipFill rotWithShape="1">
          <a:blip r:embed="rId3">
            <a:alphaModFix/>
          </a:blip>
          <a:srcRect b="0" l="0" r="0" t="0"/>
          <a:stretch/>
        </p:blipFill>
        <p:spPr>
          <a:xfrm>
            <a:off x="1877050" y="738525"/>
            <a:ext cx="7037027" cy="3411601"/>
          </a:xfrm>
          <a:prstGeom prst="rect">
            <a:avLst/>
          </a:prstGeom>
          <a:noFill/>
          <a:ln cap="flat" cmpd="sng" w="9525">
            <a:solidFill>
              <a:srgbClr val="D9D9D9"/>
            </a:solidFill>
            <a:prstDash val="solid"/>
            <a:round/>
            <a:headEnd len="sm" w="sm" type="none"/>
            <a:tailEnd len="sm" w="sm" type="none"/>
          </a:ln>
        </p:spPr>
      </p:pic>
      <p:sp>
        <p:nvSpPr>
          <p:cNvPr id="649" name="Google Shape;649;p45"/>
          <p:cNvSpPr txBox="1"/>
          <p:nvPr/>
        </p:nvSpPr>
        <p:spPr>
          <a:xfrm>
            <a:off x="110413" y="1230699"/>
            <a:ext cx="1537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5"/>
                </a:solidFill>
                <a:latin typeface="JetBrains Mono"/>
                <a:ea typeface="JetBrains Mono"/>
                <a:cs typeface="JetBrains Mono"/>
                <a:sym typeface="JetBrains Mono"/>
              </a:rPr>
              <a:t>SEARCH</a:t>
            </a:r>
            <a:endParaRPr b="0" i="0" sz="1600" u="none" cap="none" strike="noStrike">
              <a:solidFill>
                <a:schemeClr val="accent5"/>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5"/>
                </a:solidFill>
                <a:latin typeface="JetBrains Mono"/>
                <a:ea typeface="JetBrains Mono"/>
                <a:cs typeface="JetBrains Mono"/>
                <a:sym typeface="JetBrains Mono"/>
              </a:rPr>
              <a:t>SEMANTIC</a:t>
            </a:r>
            <a:endParaRPr b="0" i="0" sz="1600" u="none" cap="none" strike="noStrike">
              <a:solidFill>
                <a:schemeClr val="accent5"/>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5"/>
                </a:solidFill>
                <a:latin typeface="JetBrains Mono"/>
                <a:ea typeface="JetBrains Mono"/>
                <a:cs typeface="JetBrains Mono"/>
                <a:sym typeface="JetBrains Mono"/>
              </a:rPr>
              <a:t>SCHOLAR</a:t>
            </a:r>
            <a:endParaRPr b="0" i="0" sz="1600" u="none" cap="none" strike="noStrike">
              <a:solidFill>
                <a:schemeClr val="accent5"/>
              </a:solidFill>
              <a:latin typeface="JetBrains Mono"/>
              <a:ea typeface="JetBrains Mono"/>
              <a:cs typeface="JetBrains Mono"/>
              <a:sym typeface="JetBrains Mono"/>
            </a:endParaRPr>
          </a:p>
        </p:txBody>
      </p:sp>
      <p:cxnSp>
        <p:nvCxnSpPr>
          <p:cNvPr id="650" name="Google Shape;650;p45"/>
          <p:cNvCxnSpPr/>
          <p:nvPr/>
        </p:nvCxnSpPr>
        <p:spPr>
          <a:xfrm>
            <a:off x="1279029" y="1440880"/>
            <a:ext cx="734700" cy="0"/>
          </a:xfrm>
          <a:prstGeom prst="straightConnector1">
            <a:avLst/>
          </a:prstGeom>
          <a:noFill/>
          <a:ln cap="flat" cmpd="sng" w="19050">
            <a:solidFill>
              <a:schemeClr val="accent5"/>
            </a:solidFill>
            <a:prstDash val="solid"/>
            <a:round/>
            <a:headEnd len="sm" w="sm" type="none"/>
            <a:tailEnd len="med" w="med" type="triangle"/>
          </a:ln>
        </p:spPr>
      </p:cxnSp>
      <p:sp>
        <p:nvSpPr>
          <p:cNvPr id="651" name="Google Shape;651;p45"/>
          <p:cNvSpPr txBox="1"/>
          <p:nvPr/>
        </p:nvSpPr>
        <p:spPr>
          <a:xfrm>
            <a:off x="106425" y="3030050"/>
            <a:ext cx="2152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5E02BA"/>
                </a:solidFill>
                <a:latin typeface="JetBrains Mono"/>
                <a:ea typeface="JetBrains Mono"/>
                <a:cs typeface="JetBrains Mono"/>
                <a:sym typeface="JetBrains Mono"/>
              </a:rPr>
              <a:t>UPLOAD PDF ARTICLE</a:t>
            </a:r>
            <a:br>
              <a:rPr b="0" i="0" lang="en" sz="1600" u="none" cap="none" strike="noStrike">
                <a:solidFill>
                  <a:srgbClr val="5E02BA"/>
                </a:solidFill>
                <a:latin typeface="JetBrains Mono"/>
                <a:ea typeface="JetBrains Mono"/>
                <a:cs typeface="JetBrains Mono"/>
                <a:sym typeface="JetBrains Mono"/>
              </a:rPr>
            </a:br>
            <a:r>
              <a:rPr b="0" i="0" lang="en" sz="1600" u="none" cap="none" strike="noStrike">
                <a:solidFill>
                  <a:srgbClr val="5E02BA"/>
                </a:solidFill>
                <a:latin typeface="JetBrains Mono"/>
                <a:ea typeface="JetBrains Mono"/>
                <a:cs typeface="JetBrains Mono"/>
                <a:sym typeface="JetBrains Mono"/>
              </a:rPr>
              <a:t>(e.g. via Zotero)</a:t>
            </a:r>
            <a:endParaRPr b="0" i="0" sz="1600" u="none" cap="none" strike="noStrike">
              <a:solidFill>
                <a:srgbClr val="5E02BA"/>
              </a:solidFill>
              <a:latin typeface="JetBrains Mono"/>
              <a:ea typeface="JetBrains Mono"/>
              <a:cs typeface="JetBrains Mono"/>
              <a:sym typeface="JetBrains Mono"/>
            </a:endParaRPr>
          </a:p>
        </p:txBody>
      </p:sp>
      <p:cxnSp>
        <p:nvCxnSpPr>
          <p:cNvPr id="652" name="Google Shape;652;p45"/>
          <p:cNvCxnSpPr/>
          <p:nvPr/>
        </p:nvCxnSpPr>
        <p:spPr>
          <a:xfrm>
            <a:off x="1334234" y="3502291"/>
            <a:ext cx="645900" cy="0"/>
          </a:xfrm>
          <a:prstGeom prst="straightConnector1">
            <a:avLst/>
          </a:prstGeom>
          <a:noFill/>
          <a:ln cap="flat" cmpd="sng" w="19050">
            <a:solidFill>
              <a:srgbClr val="5E02BA"/>
            </a:solidFill>
            <a:prstDash val="solid"/>
            <a:round/>
            <a:headEnd len="sm" w="sm" type="none"/>
            <a:tailEnd len="med" w="med" type="triangle"/>
          </a:ln>
        </p:spPr>
      </p:cxnSp>
      <p:sp>
        <p:nvSpPr>
          <p:cNvPr id="653" name="Google Shape;653;p45"/>
          <p:cNvSpPr txBox="1"/>
          <p:nvPr/>
        </p:nvSpPr>
        <p:spPr>
          <a:xfrm>
            <a:off x="2292825" y="2097550"/>
            <a:ext cx="4752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How to make training events and material more findable, accessible, interoperable and re-usable?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par>
                                <p:cTn fill="hold" nodeType="withEffect" presetClass="exit" presetID="10" presetSubtype="0">
                                  <p:stCondLst>
                                    <p:cond delay="0"/>
                                  </p:stCondLst>
                                  <p:childTnLst>
                                    <p:animEffect filter="fade" transition="out">
                                      <p:cBhvr>
                                        <p:cTn dur="1000"/>
                                        <p:tgtEl>
                                          <p:spTgt spid="650"/>
                                        </p:tgtEl>
                                      </p:cBhvr>
                                    </p:animEffect>
                                    <p:set>
                                      <p:cBhvr>
                                        <p:cTn dur="1" fill="hold">
                                          <p:stCondLst>
                                            <p:cond delay="1000"/>
                                          </p:stCondLst>
                                        </p:cTn>
                                        <p:tgtEl>
                                          <p:spTgt spid="65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649"/>
                                        </p:tgtEl>
                                      </p:cBhvr>
                                    </p:animEffect>
                                    <p:set>
                                      <p:cBhvr>
                                        <p:cTn dur="1" fill="hold">
                                          <p:stCondLst>
                                            <p:cond delay="1000"/>
                                          </p:stCondLst>
                                        </p:cTn>
                                        <p:tgtEl>
                                          <p:spTgt spid="64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grpSp>
        <p:nvGrpSpPr>
          <p:cNvPr id="658" name="Google Shape;658;g306351b6c07_0_689"/>
          <p:cNvGrpSpPr/>
          <p:nvPr/>
        </p:nvGrpSpPr>
        <p:grpSpPr>
          <a:xfrm>
            <a:off x="106425" y="108050"/>
            <a:ext cx="476700" cy="502500"/>
            <a:chOff x="95250" y="112575"/>
            <a:chExt cx="476700" cy="502500"/>
          </a:xfrm>
        </p:grpSpPr>
        <p:cxnSp>
          <p:nvCxnSpPr>
            <p:cNvPr id="659" name="Google Shape;659;g306351b6c07_0_689"/>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60" name="Google Shape;660;g306351b6c07_0_689"/>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61" name="Google Shape;661;g306351b6c07_0_689"/>
          <p:cNvGrpSpPr/>
          <p:nvPr/>
        </p:nvGrpSpPr>
        <p:grpSpPr>
          <a:xfrm flipH="1">
            <a:off x="8560875" y="108050"/>
            <a:ext cx="476700" cy="502500"/>
            <a:chOff x="95250" y="112575"/>
            <a:chExt cx="476700" cy="502500"/>
          </a:xfrm>
        </p:grpSpPr>
        <p:cxnSp>
          <p:nvCxnSpPr>
            <p:cNvPr id="662" name="Google Shape;662;g306351b6c07_0_689"/>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63" name="Google Shape;663;g306351b6c07_0_689"/>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64" name="Google Shape;664;g306351b6c07_0_689"/>
          <p:cNvGrpSpPr/>
          <p:nvPr/>
        </p:nvGrpSpPr>
        <p:grpSpPr>
          <a:xfrm rot="-5400000">
            <a:off x="106425" y="4557750"/>
            <a:ext cx="476700" cy="502500"/>
            <a:chOff x="95250" y="112575"/>
            <a:chExt cx="476700" cy="502500"/>
          </a:xfrm>
        </p:grpSpPr>
        <p:cxnSp>
          <p:nvCxnSpPr>
            <p:cNvPr id="665" name="Google Shape;665;g306351b6c07_0_689"/>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66" name="Google Shape;666;g306351b6c07_0_689"/>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67" name="Google Shape;667;g306351b6c07_0_689"/>
          <p:cNvGrpSpPr/>
          <p:nvPr/>
        </p:nvGrpSpPr>
        <p:grpSpPr>
          <a:xfrm rot="10800000">
            <a:off x="8560875" y="4557750"/>
            <a:ext cx="476700" cy="502500"/>
            <a:chOff x="95250" y="112575"/>
            <a:chExt cx="476700" cy="502500"/>
          </a:xfrm>
        </p:grpSpPr>
        <p:cxnSp>
          <p:nvCxnSpPr>
            <p:cNvPr id="668" name="Google Shape;668;g306351b6c07_0_689"/>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69" name="Google Shape;669;g306351b6c07_0_689"/>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670" name="Google Shape;670;g306351b6c07_0_689"/>
          <p:cNvSpPr txBox="1"/>
          <p:nvPr/>
        </p:nvSpPr>
        <p:spPr>
          <a:xfrm>
            <a:off x="405149" y="1623575"/>
            <a:ext cx="81558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3300" u="none" cap="none" strike="noStrike">
                <a:solidFill>
                  <a:schemeClr val="dk1"/>
                </a:solidFill>
                <a:latin typeface="Oswald"/>
                <a:ea typeface="Oswald"/>
                <a:cs typeface="Oswald"/>
                <a:sym typeface="Oswald"/>
              </a:rPr>
              <a:t>Short demo: look at an existing notebook</a:t>
            </a:r>
            <a:endParaRPr b="0" i="0" sz="3300" u="none" cap="none" strike="noStrike">
              <a:solidFill>
                <a:schemeClr val="dk1"/>
              </a:solidFill>
              <a:latin typeface="Oswald"/>
              <a:ea typeface="Oswald"/>
              <a:cs typeface="Oswald"/>
              <a:sym typeface="Oswald"/>
            </a:endParaRPr>
          </a:p>
        </p:txBody>
      </p:sp>
      <p:sp>
        <p:nvSpPr>
          <p:cNvPr id="671" name="Google Shape;671;g306351b6c07_0_689"/>
          <p:cNvSpPr txBox="1"/>
          <p:nvPr/>
        </p:nvSpPr>
        <p:spPr>
          <a:xfrm>
            <a:off x="0" y="2550700"/>
            <a:ext cx="9144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0" i="0" lang="en" sz="1400" u="sng" cap="none" strike="noStrike">
                <a:solidFill>
                  <a:schemeClr val="accent5"/>
                </a:solidFill>
                <a:latin typeface="Arial"/>
                <a:ea typeface="Arial"/>
                <a:cs typeface="Arial"/>
                <a:sym typeface="Arial"/>
                <a:hlinkClick r:id="rId3">
                  <a:extLst>
                    <a:ext uri="{A12FA001-AC4F-418D-AE19-62706E023703}">
                      <ahyp:hlinkClr val="tx"/>
                    </a:ext>
                  </a:extLst>
                </a:hlinkClick>
              </a:rPr>
              <a:t>https://elicit.com/notebook/d062b402-32db-4ef2-bdb8-d1e7c5e0804e</a:t>
            </a:r>
            <a:r>
              <a:rPr b="0" i="0" lang="en" sz="1400" u="none" cap="none" strike="noStrike">
                <a:solidFill>
                  <a:schemeClr val="accent5"/>
                </a:solidFill>
                <a:latin typeface="Arial"/>
                <a:ea typeface="Arial"/>
                <a:cs typeface="Arial"/>
                <a:sym typeface="Arial"/>
              </a:rPr>
              <a:t>   </a:t>
            </a:r>
            <a:endParaRPr b="0" i="0" sz="1400" u="none" cap="none" strike="noStrike">
              <a:solidFill>
                <a:schemeClr val="accent5"/>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70"/>
                                        </p:tgtEl>
                                        <p:attrNameLst>
                                          <p:attrName>style.visibility</p:attrName>
                                        </p:attrNameLst>
                                      </p:cBhvr>
                                      <p:to>
                                        <p:strVal val="visible"/>
                                      </p:to>
                                    </p:set>
                                  </p:childTnLst>
                                </p:cTn>
                              </p:par>
                              <p:par>
                                <p:cTn fill="hold" nodeType="withEffect" presetClass="exit" presetID="10" presetSubtype="0">
                                  <p:stCondLst>
                                    <p:cond delay="0"/>
                                  </p:stCondLst>
                                  <p:childTnLst>
                                    <p:animEffect filter="fade" transition="out">
                                      <p:cBhvr>
                                        <p:cTn dur="1000"/>
                                        <p:tgtEl>
                                          <p:spTgt spid="670"/>
                                        </p:tgtEl>
                                      </p:cBhvr>
                                    </p:animEffect>
                                    <p:set>
                                      <p:cBhvr>
                                        <p:cTn dur="1" fill="hold">
                                          <p:stCondLst>
                                            <p:cond delay="1000"/>
                                          </p:stCondLst>
                                        </p:cTn>
                                        <p:tgtEl>
                                          <p:spTgt spid="67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grpSp>
        <p:nvGrpSpPr>
          <p:cNvPr id="676" name="Google Shape;676;g306351b6c07_0_607"/>
          <p:cNvGrpSpPr/>
          <p:nvPr/>
        </p:nvGrpSpPr>
        <p:grpSpPr>
          <a:xfrm>
            <a:off x="106425" y="108050"/>
            <a:ext cx="476700" cy="502500"/>
            <a:chOff x="95250" y="112575"/>
            <a:chExt cx="476700" cy="502500"/>
          </a:xfrm>
        </p:grpSpPr>
        <p:cxnSp>
          <p:nvCxnSpPr>
            <p:cNvPr id="677" name="Google Shape;677;g306351b6c07_0_60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78" name="Google Shape;678;g306351b6c07_0_60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79" name="Google Shape;679;g306351b6c07_0_607"/>
          <p:cNvGrpSpPr/>
          <p:nvPr/>
        </p:nvGrpSpPr>
        <p:grpSpPr>
          <a:xfrm flipH="1">
            <a:off x="8560875" y="108050"/>
            <a:ext cx="476700" cy="502500"/>
            <a:chOff x="95250" y="112575"/>
            <a:chExt cx="476700" cy="502500"/>
          </a:xfrm>
        </p:grpSpPr>
        <p:cxnSp>
          <p:nvCxnSpPr>
            <p:cNvPr id="680" name="Google Shape;680;g306351b6c07_0_60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81" name="Google Shape;681;g306351b6c07_0_60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82" name="Google Shape;682;g306351b6c07_0_607"/>
          <p:cNvGrpSpPr/>
          <p:nvPr/>
        </p:nvGrpSpPr>
        <p:grpSpPr>
          <a:xfrm rot="-5400000">
            <a:off x="106425" y="4557750"/>
            <a:ext cx="476700" cy="502500"/>
            <a:chOff x="95250" y="112575"/>
            <a:chExt cx="476700" cy="502500"/>
          </a:xfrm>
        </p:grpSpPr>
        <p:cxnSp>
          <p:nvCxnSpPr>
            <p:cNvPr id="683" name="Google Shape;683;g306351b6c07_0_60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84" name="Google Shape;684;g306351b6c07_0_60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85" name="Google Shape;685;g306351b6c07_0_607"/>
          <p:cNvGrpSpPr/>
          <p:nvPr/>
        </p:nvGrpSpPr>
        <p:grpSpPr>
          <a:xfrm rot="10800000">
            <a:off x="8560875" y="4557750"/>
            <a:ext cx="476700" cy="502500"/>
            <a:chOff x="95250" y="112575"/>
            <a:chExt cx="476700" cy="502500"/>
          </a:xfrm>
        </p:grpSpPr>
        <p:cxnSp>
          <p:nvCxnSpPr>
            <p:cNvPr id="686" name="Google Shape;686;g306351b6c07_0_60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87" name="Google Shape;687;g306351b6c07_0_60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688" name="Google Shape;688;g306351b6c07_0_607"/>
          <p:cNvSpPr txBox="1"/>
          <p:nvPr/>
        </p:nvSpPr>
        <p:spPr>
          <a:xfrm>
            <a:off x="583121" y="270750"/>
            <a:ext cx="82038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2400" u="none" cap="none" strike="noStrike">
                <a:solidFill>
                  <a:schemeClr val="dk1"/>
                </a:solidFill>
                <a:latin typeface="Oswald"/>
                <a:ea typeface="Oswald"/>
                <a:cs typeface="Oswald"/>
                <a:sym typeface="Oswald"/>
              </a:rPr>
              <a:t>Adding columns for additional aspects about the papers </a:t>
            </a:r>
            <a:endParaRPr b="0" i="0" sz="1600" u="none" cap="none" strike="noStrike">
              <a:solidFill>
                <a:schemeClr val="dk1"/>
              </a:solidFill>
              <a:latin typeface="Corbel"/>
              <a:ea typeface="Corbel"/>
              <a:cs typeface="Corbel"/>
              <a:sym typeface="Corbel"/>
            </a:endParaRPr>
          </a:p>
        </p:txBody>
      </p:sp>
      <p:pic>
        <p:nvPicPr>
          <p:cNvPr id="689" name="Google Shape;689;g306351b6c07_0_607"/>
          <p:cNvPicPr preferRelativeResize="0"/>
          <p:nvPr/>
        </p:nvPicPr>
        <p:blipFill rotWithShape="1">
          <a:blip r:embed="rId3">
            <a:alphaModFix/>
          </a:blip>
          <a:srcRect b="0" l="0" r="0" t="0"/>
          <a:stretch/>
        </p:blipFill>
        <p:spPr>
          <a:xfrm>
            <a:off x="511013" y="1056125"/>
            <a:ext cx="8121984" cy="3398701"/>
          </a:xfrm>
          <a:prstGeom prst="rect">
            <a:avLst/>
          </a:prstGeom>
          <a:noFill/>
          <a:ln cap="flat" cmpd="sng" w="19050">
            <a:solidFill>
              <a:srgbClr val="E1D1D7"/>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grpSp>
        <p:nvGrpSpPr>
          <p:cNvPr id="694" name="Google Shape;694;g306351b6c07_0_627"/>
          <p:cNvGrpSpPr/>
          <p:nvPr/>
        </p:nvGrpSpPr>
        <p:grpSpPr>
          <a:xfrm>
            <a:off x="106425" y="108050"/>
            <a:ext cx="476700" cy="502500"/>
            <a:chOff x="95250" y="112575"/>
            <a:chExt cx="476700" cy="502500"/>
          </a:xfrm>
        </p:grpSpPr>
        <p:cxnSp>
          <p:nvCxnSpPr>
            <p:cNvPr id="695" name="Google Shape;695;g306351b6c07_0_62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96" name="Google Shape;696;g306351b6c07_0_62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697" name="Google Shape;697;g306351b6c07_0_627"/>
          <p:cNvGrpSpPr/>
          <p:nvPr/>
        </p:nvGrpSpPr>
        <p:grpSpPr>
          <a:xfrm flipH="1">
            <a:off x="8560875" y="108050"/>
            <a:ext cx="476700" cy="502500"/>
            <a:chOff x="95250" y="112575"/>
            <a:chExt cx="476700" cy="502500"/>
          </a:xfrm>
        </p:grpSpPr>
        <p:cxnSp>
          <p:nvCxnSpPr>
            <p:cNvPr id="698" name="Google Shape;698;g306351b6c07_0_62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699" name="Google Shape;699;g306351b6c07_0_62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00" name="Google Shape;700;g306351b6c07_0_627"/>
          <p:cNvGrpSpPr/>
          <p:nvPr/>
        </p:nvGrpSpPr>
        <p:grpSpPr>
          <a:xfrm rot="-5400000">
            <a:off x="106425" y="4557750"/>
            <a:ext cx="476700" cy="502500"/>
            <a:chOff x="95250" y="112575"/>
            <a:chExt cx="476700" cy="502500"/>
          </a:xfrm>
        </p:grpSpPr>
        <p:cxnSp>
          <p:nvCxnSpPr>
            <p:cNvPr id="701" name="Google Shape;701;g306351b6c07_0_62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02" name="Google Shape;702;g306351b6c07_0_62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03" name="Google Shape;703;g306351b6c07_0_627"/>
          <p:cNvGrpSpPr/>
          <p:nvPr/>
        </p:nvGrpSpPr>
        <p:grpSpPr>
          <a:xfrm rot="10800000">
            <a:off x="8560875" y="4557750"/>
            <a:ext cx="476700" cy="502500"/>
            <a:chOff x="95250" y="112575"/>
            <a:chExt cx="476700" cy="502500"/>
          </a:xfrm>
        </p:grpSpPr>
        <p:cxnSp>
          <p:nvCxnSpPr>
            <p:cNvPr id="704" name="Google Shape;704;g306351b6c07_0_62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05" name="Google Shape;705;g306351b6c07_0_62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706" name="Google Shape;706;g306351b6c07_0_627"/>
          <p:cNvSpPr txBox="1"/>
          <p:nvPr/>
        </p:nvSpPr>
        <p:spPr>
          <a:xfrm>
            <a:off x="405149" y="251975"/>
            <a:ext cx="81558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2400" u="none" cap="none" strike="noStrike">
                <a:solidFill>
                  <a:schemeClr val="dk1"/>
                </a:solidFill>
                <a:latin typeface="Oswald"/>
                <a:ea typeface="Oswald"/>
                <a:cs typeface="Oswald"/>
                <a:sym typeface="Oswald"/>
              </a:rPr>
              <a:t>Beyond ‘Summary’ and ‘Main Finding’ you have many more parameters</a:t>
            </a:r>
            <a:endParaRPr b="0" i="0" sz="2400" u="none" cap="none" strike="noStrike">
              <a:solidFill>
                <a:schemeClr val="dk1"/>
              </a:solidFill>
              <a:latin typeface="Oswald"/>
              <a:ea typeface="Oswald"/>
              <a:cs typeface="Oswald"/>
              <a:sym typeface="Oswald"/>
            </a:endParaRPr>
          </a:p>
        </p:txBody>
      </p:sp>
      <p:graphicFrame>
        <p:nvGraphicFramePr>
          <p:cNvPr id="707" name="Google Shape;707;g306351b6c07_0_627"/>
          <p:cNvGraphicFramePr/>
          <p:nvPr/>
        </p:nvGraphicFramePr>
        <p:xfrm>
          <a:off x="405150" y="1307800"/>
          <a:ext cx="3000000" cy="3000000"/>
        </p:xfrm>
        <a:graphic>
          <a:graphicData uri="http://schemas.openxmlformats.org/drawingml/2006/table">
            <a:tbl>
              <a:tblPr>
                <a:noFill/>
                <a:tableStyleId>{D09467AB-D35D-4B33-A821-928160C17063}</a:tableStyleId>
              </a:tblPr>
              <a:tblGrid>
                <a:gridCol w="1388950"/>
                <a:gridCol w="1388950"/>
                <a:gridCol w="1388950"/>
                <a:gridCol w="1388950"/>
                <a:gridCol w="1388950"/>
                <a:gridCol w="1388950"/>
              </a:tblGrid>
              <a:tr h="54505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Methodology</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Summary of intro</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Research gaps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Study count</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Duration</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Population characteristics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54505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Intervention</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Summary of discussion</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Hypotheses tested</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Independent variables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Statistical techniques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Participant age</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54505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Outcome</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Study design</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Future research</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Dependent variables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Algorithms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Population sex</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54505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Limitations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Theoretical framework</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Funding source</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Measured variables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Software</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Organism</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54505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Intervention effects</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Research question</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Dataset</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Region</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Participant count</a:t>
                      </a:r>
                      <a:endParaRPr sz="120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chemeClr val="dk1"/>
                          </a:solidFill>
                          <a:latin typeface="Corbel"/>
                          <a:ea typeface="Corbel"/>
                          <a:cs typeface="Corbel"/>
                          <a:sym typeface="Corbel"/>
                        </a:rPr>
                        <a:t>Policy </a:t>
                      </a:r>
                      <a:r>
                        <a:rPr lang="en" sz="1150" u="none" cap="none" strike="noStrike">
                          <a:solidFill>
                            <a:schemeClr val="dk1"/>
                          </a:solidFill>
                          <a:latin typeface="Corbel"/>
                          <a:ea typeface="Corbel"/>
                          <a:cs typeface="Corbel"/>
                          <a:sym typeface="Corbel"/>
                        </a:rPr>
                        <a:t>recommendations</a:t>
                      </a:r>
                      <a:endParaRPr sz="1150" u="none" cap="none" strike="noStrike">
                        <a:solidFill>
                          <a:schemeClr val="dk1"/>
                        </a:solidFill>
                        <a:latin typeface="Corbel"/>
                        <a:ea typeface="Corbel"/>
                        <a:cs typeface="Corbel"/>
                        <a:sym typeface="Corbel"/>
                      </a:endParaRPr>
                    </a:p>
                  </a:txBody>
                  <a:tcPr marT="91425" marB="91425" marR="91425" marL="91425"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par>
                                <p:cTn fill="hold" nodeType="withEffect" presetClass="exit" presetID="10" presetSubtype="0">
                                  <p:stCondLst>
                                    <p:cond delay="0"/>
                                  </p:stCondLst>
                                  <p:childTnLst>
                                    <p:animEffect filter="fade" transition="out">
                                      <p:cBhvr>
                                        <p:cTn dur="1000"/>
                                        <p:tgtEl>
                                          <p:spTgt spid="706"/>
                                        </p:tgtEl>
                                      </p:cBhvr>
                                    </p:animEffect>
                                    <p:set>
                                      <p:cBhvr>
                                        <p:cTn dur="1" fill="hold">
                                          <p:stCondLst>
                                            <p:cond delay="1000"/>
                                          </p:stCondLst>
                                        </p:cTn>
                                        <p:tgtEl>
                                          <p:spTgt spid="7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grpSp>
        <p:nvGrpSpPr>
          <p:cNvPr id="712" name="Google Shape;712;g306351b6c07_0_656"/>
          <p:cNvGrpSpPr/>
          <p:nvPr/>
        </p:nvGrpSpPr>
        <p:grpSpPr>
          <a:xfrm>
            <a:off x="106425" y="108050"/>
            <a:ext cx="476700" cy="502500"/>
            <a:chOff x="95250" y="112575"/>
            <a:chExt cx="476700" cy="502500"/>
          </a:xfrm>
        </p:grpSpPr>
        <p:cxnSp>
          <p:nvCxnSpPr>
            <p:cNvPr id="713" name="Google Shape;713;g306351b6c07_0_65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14" name="Google Shape;714;g306351b6c07_0_65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15" name="Google Shape;715;g306351b6c07_0_656"/>
          <p:cNvGrpSpPr/>
          <p:nvPr/>
        </p:nvGrpSpPr>
        <p:grpSpPr>
          <a:xfrm flipH="1">
            <a:off x="8560875" y="108050"/>
            <a:ext cx="476700" cy="502500"/>
            <a:chOff x="95250" y="112575"/>
            <a:chExt cx="476700" cy="502500"/>
          </a:xfrm>
        </p:grpSpPr>
        <p:cxnSp>
          <p:nvCxnSpPr>
            <p:cNvPr id="716" name="Google Shape;716;g306351b6c07_0_65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17" name="Google Shape;717;g306351b6c07_0_65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18" name="Google Shape;718;g306351b6c07_0_656"/>
          <p:cNvGrpSpPr/>
          <p:nvPr/>
        </p:nvGrpSpPr>
        <p:grpSpPr>
          <a:xfrm rot="-5400000">
            <a:off x="106425" y="4557750"/>
            <a:ext cx="476700" cy="502500"/>
            <a:chOff x="95250" y="112575"/>
            <a:chExt cx="476700" cy="502500"/>
          </a:xfrm>
        </p:grpSpPr>
        <p:cxnSp>
          <p:nvCxnSpPr>
            <p:cNvPr id="719" name="Google Shape;719;g306351b6c07_0_65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20" name="Google Shape;720;g306351b6c07_0_65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21" name="Google Shape;721;g306351b6c07_0_656"/>
          <p:cNvGrpSpPr/>
          <p:nvPr/>
        </p:nvGrpSpPr>
        <p:grpSpPr>
          <a:xfrm rot="10800000">
            <a:off x="8560875" y="4557750"/>
            <a:ext cx="476700" cy="502500"/>
            <a:chOff x="95250" y="112575"/>
            <a:chExt cx="476700" cy="502500"/>
          </a:xfrm>
        </p:grpSpPr>
        <p:cxnSp>
          <p:nvCxnSpPr>
            <p:cNvPr id="722" name="Google Shape;722;g306351b6c07_0_656"/>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23" name="Google Shape;723;g306351b6c07_0_656"/>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724" name="Google Shape;724;g306351b6c07_0_656"/>
          <p:cNvSpPr txBox="1"/>
          <p:nvPr/>
        </p:nvSpPr>
        <p:spPr>
          <a:xfrm>
            <a:off x="411500" y="344100"/>
            <a:ext cx="84153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Elicit - Pros and Cons</a:t>
            </a:r>
            <a:endParaRPr b="0" i="0" sz="3200" u="none" cap="none" strike="noStrike">
              <a:solidFill>
                <a:schemeClr val="dk1"/>
              </a:solidFill>
              <a:latin typeface="Oswald"/>
              <a:ea typeface="Oswald"/>
              <a:cs typeface="Oswald"/>
              <a:sym typeface="Oswald"/>
            </a:endParaRPr>
          </a:p>
        </p:txBody>
      </p:sp>
      <p:sp>
        <p:nvSpPr>
          <p:cNvPr id="725" name="Google Shape;725;g306351b6c07_0_656"/>
          <p:cNvSpPr txBox="1"/>
          <p:nvPr/>
        </p:nvSpPr>
        <p:spPr>
          <a:xfrm>
            <a:off x="473825" y="1985000"/>
            <a:ext cx="4241100" cy="24012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40000"/>
              </a:lnSpc>
              <a:spcBef>
                <a:spcPts val="0"/>
              </a:spcBef>
              <a:spcAft>
                <a:spcPts val="0"/>
              </a:spcAft>
              <a:buClr>
                <a:srgbClr val="6AA84F"/>
              </a:buClr>
              <a:buSzPts val="1800"/>
              <a:buFont typeface="JetBrains Mono"/>
              <a:buChar char="⇢"/>
            </a:pPr>
            <a:r>
              <a:rPr b="1" i="0" lang="en" sz="1800" u="none" cap="none" strike="noStrike">
                <a:solidFill>
                  <a:schemeClr val="dk1"/>
                </a:solidFill>
                <a:latin typeface="Corbel"/>
                <a:ea typeface="Corbel"/>
                <a:cs typeface="Corbel"/>
                <a:sym typeface="Corbel"/>
              </a:rPr>
              <a:t>a versatile and adaptable tool</a:t>
            </a:r>
            <a:endParaRPr b="0" i="0" sz="1800" u="none" cap="none" strike="noStrike">
              <a:solidFill>
                <a:schemeClr val="dk1"/>
              </a:solidFill>
              <a:latin typeface="Corbel"/>
              <a:ea typeface="Corbel"/>
              <a:cs typeface="Corbel"/>
              <a:sym typeface="Corbel"/>
            </a:endParaRPr>
          </a:p>
          <a:p>
            <a:pPr indent="-228600" lvl="0" marL="457200" marR="0" rtl="0" algn="l">
              <a:lnSpc>
                <a:spcPct val="140000"/>
              </a:lnSpc>
              <a:spcBef>
                <a:spcPts val="0"/>
              </a:spcBef>
              <a:spcAft>
                <a:spcPts val="0"/>
              </a:spcAft>
              <a:buClr>
                <a:srgbClr val="6AA84F"/>
              </a:buClr>
              <a:buSzPts val="1800"/>
              <a:buFont typeface="Corbel"/>
              <a:buChar char="⇢"/>
            </a:pPr>
            <a:r>
              <a:rPr b="0" i="0" lang="en" sz="1800" u="none" cap="none" strike="noStrike">
                <a:solidFill>
                  <a:schemeClr val="dk1"/>
                </a:solidFill>
                <a:latin typeface="Corbel"/>
                <a:ea typeface="Corbel"/>
                <a:cs typeface="Corbel"/>
                <a:sym typeface="Corbel"/>
              </a:rPr>
              <a:t>integrates with Zotero</a:t>
            </a:r>
            <a:endParaRPr b="0" i="0" sz="1800" u="none" cap="none" strike="noStrike">
              <a:solidFill>
                <a:schemeClr val="dk1"/>
              </a:solidFill>
              <a:latin typeface="Corbel"/>
              <a:ea typeface="Corbel"/>
              <a:cs typeface="Corbel"/>
              <a:sym typeface="Corbel"/>
            </a:endParaRPr>
          </a:p>
          <a:p>
            <a:pPr indent="-228600" lvl="0" marL="457200" marR="0" rtl="0" algn="l">
              <a:lnSpc>
                <a:spcPct val="140000"/>
              </a:lnSpc>
              <a:spcBef>
                <a:spcPts val="0"/>
              </a:spcBef>
              <a:spcAft>
                <a:spcPts val="0"/>
              </a:spcAft>
              <a:buClr>
                <a:srgbClr val="6AA84F"/>
              </a:buClr>
              <a:buSzPts val="1800"/>
              <a:buFont typeface="Corbel"/>
              <a:buChar char="⇢"/>
            </a:pPr>
            <a:r>
              <a:rPr b="0" i="0" lang="en" sz="1800" u="none" cap="none" strike="noStrike">
                <a:solidFill>
                  <a:schemeClr val="dk1"/>
                </a:solidFill>
                <a:latin typeface="Corbel"/>
                <a:ea typeface="Corbel"/>
                <a:cs typeface="Corbel"/>
                <a:sym typeface="Corbel"/>
              </a:rPr>
              <a:t>Supports bulk upload of PDFs</a:t>
            </a:r>
            <a:endParaRPr b="0" i="0" sz="1800" u="none" cap="none" strike="noStrike">
              <a:solidFill>
                <a:schemeClr val="dk1"/>
              </a:solidFill>
              <a:latin typeface="Corbel"/>
              <a:ea typeface="Corbel"/>
              <a:cs typeface="Corbel"/>
              <a:sym typeface="Corbel"/>
            </a:endParaRPr>
          </a:p>
          <a:p>
            <a:pPr indent="-228600" lvl="0" marL="457200" marR="0" rtl="0" algn="l">
              <a:lnSpc>
                <a:spcPct val="140000"/>
              </a:lnSpc>
              <a:spcBef>
                <a:spcPts val="0"/>
              </a:spcBef>
              <a:spcAft>
                <a:spcPts val="0"/>
              </a:spcAft>
              <a:buClr>
                <a:srgbClr val="6AA84F"/>
              </a:buClr>
              <a:buSzPts val="1800"/>
              <a:buFont typeface="Corbel"/>
              <a:buChar char="⇢"/>
            </a:pPr>
            <a:r>
              <a:rPr b="0" i="0" lang="en" sz="1800" u="none" cap="none" strike="noStrike">
                <a:solidFill>
                  <a:schemeClr val="dk1"/>
                </a:solidFill>
                <a:latin typeface="Corbel"/>
                <a:ea typeface="Corbel"/>
                <a:cs typeface="Corbel"/>
                <a:sym typeface="Corbel"/>
              </a:rPr>
              <a:t>capable of summarizing multiple papers</a:t>
            </a:r>
            <a:endParaRPr b="0" i="0" sz="1800" u="none" cap="none" strike="noStrike">
              <a:solidFill>
                <a:schemeClr val="dk1"/>
              </a:solidFill>
              <a:latin typeface="Corbel"/>
              <a:ea typeface="Corbel"/>
              <a:cs typeface="Corbel"/>
              <a:sym typeface="Corbel"/>
            </a:endParaRPr>
          </a:p>
          <a:p>
            <a:pPr indent="-228600" lvl="0" marL="457200" marR="0" rtl="0" algn="l">
              <a:lnSpc>
                <a:spcPct val="140000"/>
              </a:lnSpc>
              <a:spcBef>
                <a:spcPts val="0"/>
              </a:spcBef>
              <a:spcAft>
                <a:spcPts val="0"/>
              </a:spcAft>
              <a:buClr>
                <a:srgbClr val="6AA84F"/>
              </a:buClr>
              <a:buSzPts val="1800"/>
              <a:buFont typeface="Corbel"/>
              <a:buChar char="⇢"/>
            </a:pPr>
            <a:r>
              <a:rPr b="0" i="0" lang="en" sz="1800" u="none" cap="none" strike="noStrike">
                <a:solidFill>
                  <a:schemeClr val="dk1"/>
                </a:solidFill>
                <a:latin typeface="Corbel"/>
                <a:ea typeface="Corbel"/>
                <a:cs typeface="Corbel"/>
                <a:sym typeface="Corbel"/>
              </a:rPr>
              <a:t>promises PDF privacy</a:t>
            </a:r>
            <a:endParaRPr b="0" i="0" sz="1800" u="none" cap="none" strike="noStrike">
              <a:solidFill>
                <a:schemeClr val="dk1"/>
              </a:solidFill>
              <a:latin typeface="Corbel"/>
              <a:ea typeface="Corbel"/>
              <a:cs typeface="Corbel"/>
              <a:sym typeface="Corbel"/>
            </a:endParaRPr>
          </a:p>
        </p:txBody>
      </p:sp>
      <p:sp>
        <p:nvSpPr>
          <p:cNvPr id="726" name="Google Shape;726;g306351b6c07_0_656"/>
          <p:cNvSpPr txBox="1"/>
          <p:nvPr/>
        </p:nvSpPr>
        <p:spPr>
          <a:xfrm>
            <a:off x="4714925" y="1945375"/>
            <a:ext cx="4327500" cy="2491200"/>
          </a:xfrm>
          <a:prstGeom prst="rect">
            <a:avLst/>
          </a:prstGeom>
          <a:noFill/>
          <a:ln>
            <a:noFill/>
          </a:ln>
        </p:spPr>
        <p:txBody>
          <a:bodyPr anchorCtr="0" anchor="t" bIns="91425" lIns="91425" spcFirstLastPara="1" rIns="91425" wrap="square" tIns="91425">
            <a:spAutoFit/>
          </a:bodyPr>
          <a:lstStyle/>
          <a:p>
            <a:pPr indent="-247650" lvl="0" marL="457200" marR="0" rtl="0" algn="l">
              <a:lnSpc>
                <a:spcPct val="115000"/>
              </a:lnSpc>
              <a:spcBef>
                <a:spcPts val="1200"/>
              </a:spcBef>
              <a:spcAft>
                <a:spcPts val="0"/>
              </a:spcAft>
              <a:buClr>
                <a:srgbClr val="A61C00"/>
              </a:buClr>
              <a:buSzPts val="2100"/>
              <a:buFont typeface="Corbel"/>
              <a:buChar char="⇢"/>
            </a:pPr>
            <a:r>
              <a:rPr b="0" i="0" lang="en" sz="1800" u="none" cap="none" strike="noStrike">
                <a:solidFill>
                  <a:schemeClr val="dk1"/>
                </a:solidFill>
                <a:latin typeface="Corbel"/>
                <a:ea typeface="Corbel"/>
                <a:cs typeface="Corbel"/>
                <a:sym typeface="Corbel"/>
              </a:rPr>
              <a:t>Offers multi-dimensional analysis with the paid version</a:t>
            </a:r>
            <a:endParaRPr b="0" i="0" sz="1800" u="none" cap="none" strike="noStrike">
              <a:solidFill>
                <a:schemeClr val="dk1"/>
              </a:solidFill>
              <a:latin typeface="Corbel"/>
              <a:ea typeface="Corbel"/>
              <a:cs typeface="Corbel"/>
              <a:sym typeface="Corbel"/>
            </a:endParaRPr>
          </a:p>
          <a:p>
            <a:pPr indent="-247650" lvl="0" marL="457200" marR="0" rtl="0" algn="l">
              <a:lnSpc>
                <a:spcPct val="140000"/>
              </a:lnSpc>
              <a:spcBef>
                <a:spcPts val="0"/>
              </a:spcBef>
              <a:spcAft>
                <a:spcPts val="0"/>
              </a:spcAft>
              <a:buClr>
                <a:srgbClr val="A61C00"/>
              </a:buClr>
              <a:buSzPts val="2100"/>
              <a:buFont typeface="Corbel"/>
              <a:buChar char="⇢"/>
            </a:pPr>
            <a:r>
              <a:rPr b="0" i="0" lang="en" sz="1800" u="none" cap="none" strike="noStrike">
                <a:solidFill>
                  <a:schemeClr val="dk1"/>
                </a:solidFill>
                <a:latin typeface="Corbel"/>
                <a:ea typeface="Corbel"/>
                <a:cs typeface="Corbel"/>
                <a:sym typeface="Corbel"/>
              </a:rPr>
              <a:t>Export functionality requires the Plus version </a:t>
            </a:r>
            <a:endParaRPr b="0" i="0" sz="1800" u="none" cap="none" strike="noStrike">
              <a:solidFill>
                <a:schemeClr val="dk1"/>
              </a:solidFill>
              <a:latin typeface="Corbel"/>
              <a:ea typeface="Corbel"/>
              <a:cs typeface="Corbel"/>
              <a:sym typeface="Corbel"/>
            </a:endParaRPr>
          </a:p>
          <a:p>
            <a:pPr indent="-247650" lvl="0" marL="457200" marR="0" rtl="0" algn="l">
              <a:lnSpc>
                <a:spcPct val="140000"/>
              </a:lnSpc>
              <a:spcBef>
                <a:spcPts val="0"/>
              </a:spcBef>
              <a:spcAft>
                <a:spcPts val="0"/>
              </a:spcAft>
              <a:buClr>
                <a:srgbClr val="A61C00"/>
              </a:buClr>
              <a:buSzPts val="2100"/>
              <a:buFont typeface="Corbel"/>
              <a:buChar char="⇢"/>
            </a:pPr>
            <a:r>
              <a:rPr b="0" i="0" lang="en" sz="1800" u="none" cap="none" strike="noStrike">
                <a:solidFill>
                  <a:schemeClr val="dk1"/>
                </a:solidFill>
                <a:latin typeface="Corbel"/>
                <a:ea typeface="Corbel"/>
                <a:cs typeface="Corbel"/>
                <a:sym typeface="Corbel"/>
              </a:rPr>
              <a:t>Most interactions require credits</a:t>
            </a:r>
            <a:endParaRPr b="0" i="0" sz="1800" u="none" cap="none" strike="noStrike">
              <a:solidFill>
                <a:schemeClr val="dk1"/>
              </a:solidFill>
              <a:latin typeface="Corbel"/>
              <a:ea typeface="Corbel"/>
              <a:cs typeface="Corbel"/>
              <a:sym typeface="Corbel"/>
            </a:endParaRPr>
          </a:p>
          <a:p>
            <a:pPr indent="-247650" lvl="0" marL="457200" marR="0" rtl="0" algn="l">
              <a:lnSpc>
                <a:spcPct val="140000"/>
              </a:lnSpc>
              <a:spcBef>
                <a:spcPts val="0"/>
              </a:spcBef>
              <a:spcAft>
                <a:spcPts val="0"/>
              </a:spcAft>
              <a:buClr>
                <a:srgbClr val="A61C00"/>
              </a:buClr>
              <a:buSzPts val="2100"/>
              <a:buFont typeface="Corbel"/>
              <a:buChar char="⇢"/>
            </a:pPr>
            <a:r>
              <a:rPr b="0" i="0" lang="en" sz="1800" u="none" cap="none" strike="noStrike">
                <a:solidFill>
                  <a:schemeClr val="dk1"/>
                </a:solidFill>
                <a:latin typeface="Corbel"/>
                <a:ea typeface="Corbel"/>
                <a:cs typeface="Corbel"/>
                <a:sym typeface="Corbel"/>
              </a:rPr>
              <a:t>some aspects lack transparency</a:t>
            </a:r>
            <a:endParaRPr b="0" i="0" sz="1800" u="none" cap="none" strike="noStrike">
              <a:solidFill>
                <a:schemeClr val="dk1"/>
              </a:solidFill>
              <a:latin typeface="Corbel"/>
              <a:ea typeface="Corbel"/>
              <a:cs typeface="Corbel"/>
              <a:sym typeface="Corbel"/>
            </a:endParaRPr>
          </a:p>
        </p:txBody>
      </p:sp>
      <p:sp>
        <p:nvSpPr>
          <p:cNvPr id="727" name="Google Shape;727;g306351b6c07_0_656"/>
          <p:cNvSpPr/>
          <p:nvPr/>
        </p:nvSpPr>
        <p:spPr>
          <a:xfrm>
            <a:off x="677275" y="1236425"/>
            <a:ext cx="791400" cy="791400"/>
          </a:xfrm>
          <a:prstGeom prst="mathPlus">
            <a:avLst>
              <a:gd fmla="val 23520" name="adj1"/>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8761D"/>
              </a:solidFill>
              <a:latin typeface="Arial"/>
              <a:ea typeface="Arial"/>
              <a:cs typeface="Arial"/>
              <a:sym typeface="Arial"/>
            </a:endParaRPr>
          </a:p>
        </p:txBody>
      </p:sp>
      <p:sp>
        <p:nvSpPr>
          <p:cNvPr id="728" name="Google Shape;728;g306351b6c07_0_656"/>
          <p:cNvSpPr/>
          <p:nvPr/>
        </p:nvSpPr>
        <p:spPr>
          <a:xfrm>
            <a:off x="4838525" y="1236425"/>
            <a:ext cx="791400" cy="791400"/>
          </a:xfrm>
          <a:prstGeom prst="mathMinus">
            <a:avLst>
              <a:gd fmla="val 23520" name="adj1"/>
            </a:avLst>
          </a:prstGeom>
          <a:solidFill>
            <a:srgbClr val="A61C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A61C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8af389b1bb_0_10"/>
          <p:cNvSpPr/>
          <p:nvPr/>
        </p:nvSpPr>
        <p:spPr>
          <a:xfrm>
            <a:off x="2537300" y="213450"/>
            <a:ext cx="3788400" cy="1556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34" name="Google Shape;734;g38af389b1bb_0_10"/>
          <p:cNvGrpSpPr/>
          <p:nvPr/>
        </p:nvGrpSpPr>
        <p:grpSpPr>
          <a:xfrm>
            <a:off x="106425" y="108050"/>
            <a:ext cx="476700" cy="502500"/>
            <a:chOff x="95250" y="112575"/>
            <a:chExt cx="476700" cy="502500"/>
          </a:xfrm>
        </p:grpSpPr>
        <p:cxnSp>
          <p:nvCxnSpPr>
            <p:cNvPr id="735" name="Google Shape;735;g38af389b1bb_0_1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36" name="Google Shape;736;g38af389b1bb_0_1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37" name="Google Shape;737;g38af389b1bb_0_10"/>
          <p:cNvGrpSpPr/>
          <p:nvPr/>
        </p:nvGrpSpPr>
        <p:grpSpPr>
          <a:xfrm flipH="1">
            <a:off x="8560875" y="108050"/>
            <a:ext cx="476700" cy="502500"/>
            <a:chOff x="95250" y="112575"/>
            <a:chExt cx="476700" cy="502500"/>
          </a:xfrm>
        </p:grpSpPr>
        <p:cxnSp>
          <p:nvCxnSpPr>
            <p:cNvPr id="738" name="Google Shape;738;g38af389b1bb_0_1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39" name="Google Shape;739;g38af389b1bb_0_1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40" name="Google Shape;740;g38af389b1bb_0_10"/>
          <p:cNvGrpSpPr/>
          <p:nvPr/>
        </p:nvGrpSpPr>
        <p:grpSpPr>
          <a:xfrm rot="-5400000">
            <a:off x="106425" y="4557750"/>
            <a:ext cx="476700" cy="502500"/>
            <a:chOff x="95250" y="112575"/>
            <a:chExt cx="476700" cy="502500"/>
          </a:xfrm>
        </p:grpSpPr>
        <p:cxnSp>
          <p:nvCxnSpPr>
            <p:cNvPr id="741" name="Google Shape;741;g38af389b1bb_0_1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42" name="Google Shape;742;g38af389b1bb_0_1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43" name="Google Shape;743;g38af389b1bb_0_10"/>
          <p:cNvGrpSpPr/>
          <p:nvPr/>
        </p:nvGrpSpPr>
        <p:grpSpPr>
          <a:xfrm rot="10800000">
            <a:off x="8560875" y="4557750"/>
            <a:ext cx="476700" cy="502500"/>
            <a:chOff x="95250" y="112575"/>
            <a:chExt cx="476700" cy="502500"/>
          </a:xfrm>
        </p:grpSpPr>
        <p:cxnSp>
          <p:nvCxnSpPr>
            <p:cNvPr id="744" name="Google Shape;744;g38af389b1bb_0_1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45" name="Google Shape;745;g38af389b1bb_0_1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746" name="Google Shape;746;g38af389b1bb_0_10"/>
          <p:cNvSpPr txBox="1"/>
          <p:nvPr/>
        </p:nvSpPr>
        <p:spPr>
          <a:xfrm>
            <a:off x="3863950" y="1110900"/>
            <a:ext cx="2408400" cy="4464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n" sz="1700" u="sng" cap="none" strike="noStrike">
                <a:solidFill>
                  <a:schemeClr val="hlink"/>
                </a:solidFill>
                <a:latin typeface="JetBrains Mono"/>
                <a:ea typeface="JetBrains Mono"/>
                <a:cs typeface="JetBrains Mono"/>
                <a:sym typeface="JetBrains Mono"/>
                <a:hlinkClick r:id="rId3"/>
              </a:rPr>
              <a:t>www.petal.org</a:t>
            </a:r>
            <a:r>
              <a:rPr b="0" i="0" lang="en" sz="1700" u="none" cap="none" strike="noStrike">
                <a:solidFill>
                  <a:srgbClr val="000000"/>
                </a:solidFill>
                <a:latin typeface="JetBrains Mono"/>
                <a:ea typeface="JetBrains Mono"/>
                <a:cs typeface="JetBrains Mono"/>
                <a:sym typeface="JetBrains Mono"/>
              </a:rPr>
              <a:t> </a:t>
            </a:r>
            <a:endParaRPr b="0" i="0" sz="1700" u="none" cap="none" strike="noStrike">
              <a:solidFill>
                <a:srgbClr val="000000"/>
              </a:solidFill>
              <a:latin typeface="JetBrains Mono"/>
              <a:ea typeface="JetBrains Mono"/>
              <a:cs typeface="JetBrains Mono"/>
              <a:sym typeface="JetBrains Mono"/>
            </a:endParaRPr>
          </a:p>
        </p:txBody>
      </p:sp>
      <p:sp>
        <p:nvSpPr>
          <p:cNvPr id="747" name="Google Shape;747;g38af389b1bb_0_10"/>
          <p:cNvSpPr txBox="1"/>
          <p:nvPr/>
        </p:nvSpPr>
        <p:spPr>
          <a:xfrm>
            <a:off x="307200" y="3222675"/>
            <a:ext cx="792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Open Sans"/>
                <a:ea typeface="Open Sans"/>
                <a:cs typeface="Open Sans"/>
                <a:sym typeface="Open Sans"/>
              </a:rPr>
              <a:t>“We </a:t>
            </a:r>
            <a:r>
              <a:rPr b="1" i="0" lang="en" sz="1200" u="none" cap="none" strike="noStrike">
                <a:solidFill>
                  <a:schemeClr val="dk1"/>
                </a:solidFill>
                <a:latin typeface="Open Sans"/>
                <a:ea typeface="Open Sans"/>
                <a:cs typeface="Open Sans"/>
                <a:sym typeface="Open Sans"/>
              </a:rPr>
              <a:t>do not currently use user-uploaded data for training</a:t>
            </a:r>
            <a:r>
              <a:rPr b="0" i="0" lang="en" sz="1200" u="none" cap="none" strike="noStrike">
                <a:solidFill>
                  <a:schemeClr val="dk1"/>
                </a:solidFill>
                <a:latin typeface="Open Sans"/>
                <a:ea typeface="Open Sans"/>
                <a:cs typeface="Open Sans"/>
                <a:sym typeface="Open Sans"/>
              </a:rPr>
              <a:t> purposes, either internally or externally with OpenAI. Other users are not able to access uploaded data without the explicit consent of the original uploader.”</a:t>
            </a:r>
            <a:endParaRPr b="0" i="0" sz="1200" u="none" cap="none" strike="noStrike">
              <a:solidFill>
                <a:schemeClr val="dk1"/>
              </a:solidFill>
              <a:latin typeface="Open Sans"/>
              <a:ea typeface="Open Sans"/>
              <a:cs typeface="Open Sans"/>
              <a:sym typeface="Open Sans"/>
            </a:endParaRPr>
          </a:p>
        </p:txBody>
      </p:sp>
      <p:sp>
        <p:nvSpPr>
          <p:cNvPr id="748" name="Google Shape;748;g38af389b1bb_0_10"/>
          <p:cNvSpPr txBox="1"/>
          <p:nvPr/>
        </p:nvSpPr>
        <p:spPr>
          <a:xfrm>
            <a:off x="307200" y="2905000"/>
            <a:ext cx="182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5"/>
                </a:solidFill>
                <a:latin typeface="Arial"/>
                <a:ea typeface="Arial"/>
                <a:cs typeface="Arial"/>
                <a:sym typeface="Arial"/>
              </a:rPr>
              <a:t>PRIVACY POLICY</a:t>
            </a:r>
            <a:endParaRPr b="1" i="0" sz="1400" u="none" cap="none" strike="noStrike">
              <a:solidFill>
                <a:schemeClr val="accent5"/>
              </a:solidFill>
              <a:latin typeface="Arial"/>
              <a:ea typeface="Arial"/>
              <a:cs typeface="Arial"/>
              <a:sym typeface="Arial"/>
            </a:endParaRPr>
          </a:p>
        </p:txBody>
      </p:sp>
      <p:pic>
        <p:nvPicPr>
          <p:cNvPr descr="Screenshot of Petal's logo" id="749" name="Google Shape;749;g38af389b1bb_0_10"/>
          <p:cNvPicPr preferRelativeResize="0"/>
          <p:nvPr/>
        </p:nvPicPr>
        <p:blipFill rotWithShape="1">
          <a:blip r:embed="rId4">
            <a:alphaModFix/>
          </a:blip>
          <a:srcRect b="0" l="-2354" r="-1813" t="0"/>
          <a:stretch/>
        </p:blipFill>
        <p:spPr>
          <a:xfrm>
            <a:off x="2515350" y="213450"/>
            <a:ext cx="3788174" cy="897452"/>
          </a:xfrm>
          <a:prstGeom prst="rect">
            <a:avLst/>
          </a:prstGeom>
          <a:noFill/>
          <a:ln>
            <a:noFill/>
          </a:ln>
        </p:spPr>
      </p:pic>
      <p:sp>
        <p:nvSpPr>
          <p:cNvPr id="750" name="Google Shape;750;g38af389b1bb_0_10"/>
          <p:cNvSpPr txBox="1"/>
          <p:nvPr/>
        </p:nvSpPr>
        <p:spPr>
          <a:xfrm>
            <a:off x="539850" y="1683950"/>
            <a:ext cx="80643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Let’s work on an example together</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Get/download a PDF of your choice with CC-BY license e.g. after publication or from Biorxiv</a:t>
            </a:r>
            <a:endParaRPr b="0" i="0" sz="1400" u="none" cap="none" strike="noStrike">
              <a:solidFill>
                <a:schemeClr val="dk1"/>
              </a:solidFill>
              <a:latin typeface="Arial"/>
              <a:ea typeface="Arial"/>
              <a:cs typeface="Arial"/>
              <a:sym typeface="Arial"/>
            </a:endParaRPr>
          </a:p>
        </p:txBody>
      </p:sp>
      <p:sp>
        <p:nvSpPr>
          <p:cNvPr id="751" name="Google Shape;751;g38af389b1bb_0_10"/>
          <p:cNvSpPr txBox="1"/>
          <p:nvPr/>
        </p:nvSpPr>
        <p:spPr>
          <a:xfrm>
            <a:off x="333950" y="3961577"/>
            <a:ext cx="1829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5"/>
                </a:solidFill>
                <a:latin typeface="Arial"/>
                <a:ea typeface="Arial"/>
                <a:cs typeface="Arial"/>
                <a:sym typeface="Arial"/>
              </a:rPr>
              <a:t>VIB POLICY</a:t>
            </a:r>
            <a:endParaRPr b="1" i="0" sz="1500" u="none" cap="none" strike="noStrike">
              <a:solidFill>
                <a:schemeClr val="accent5"/>
              </a:solidFill>
              <a:latin typeface="Arial"/>
              <a:ea typeface="Arial"/>
              <a:cs typeface="Arial"/>
              <a:sym typeface="Arial"/>
            </a:endParaRPr>
          </a:p>
        </p:txBody>
      </p:sp>
      <p:sp>
        <p:nvSpPr>
          <p:cNvPr id="752" name="Google Shape;752;g38af389b1bb_0_10"/>
          <p:cNvSpPr txBox="1"/>
          <p:nvPr/>
        </p:nvSpPr>
        <p:spPr>
          <a:xfrm>
            <a:off x="377400" y="4377075"/>
            <a:ext cx="8064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Clr>
                <a:srgbClr val="000000"/>
              </a:buClr>
              <a:buSzPts val="1400"/>
              <a:buFont typeface="Arial"/>
              <a:buNone/>
            </a:pPr>
            <a:r>
              <a:rPr b="0" i="0" lang="en" sz="1400" u="none" cap="none" strike="noStrike">
                <a:solidFill>
                  <a:schemeClr val="dk1"/>
                </a:solidFill>
                <a:latin typeface="Open Sans"/>
                <a:ea typeface="Open Sans"/>
                <a:cs typeface="Open Sans"/>
                <a:sym typeface="Open Sans"/>
              </a:rPr>
              <a:t>“Not officially screened but do not use for proprietary, confidential, and personal information ”</a:t>
            </a:r>
            <a:endParaRPr b="0" i="0" sz="1400" u="none" cap="none" strike="noStrike">
              <a:solidFill>
                <a:schemeClr val="dk1"/>
              </a:solidFill>
              <a:latin typeface="Open Sans"/>
              <a:ea typeface="Open Sans"/>
              <a:cs typeface="Open Sans"/>
              <a:sym typeface="Open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grpSp>
        <p:nvGrpSpPr>
          <p:cNvPr id="757" name="Google Shape;757;g38af389b1bb_0_33"/>
          <p:cNvGrpSpPr/>
          <p:nvPr/>
        </p:nvGrpSpPr>
        <p:grpSpPr>
          <a:xfrm>
            <a:off x="106425" y="108050"/>
            <a:ext cx="476700" cy="502500"/>
            <a:chOff x="95250" y="112575"/>
            <a:chExt cx="476700" cy="502500"/>
          </a:xfrm>
        </p:grpSpPr>
        <p:cxnSp>
          <p:nvCxnSpPr>
            <p:cNvPr id="758" name="Google Shape;758;g38af389b1bb_0_33"/>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59" name="Google Shape;759;g38af389b1bb_0_33"/>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60" name="Google Shape;760;g38af389b1bb_0_33"/>
          <p:cNvGrpSpPr/>
          <p:nvPr/>
        </p:nvGrpSpPr>
        <p:grpSpPr>
          <a:xfrm flipH="1">
            <a:off x="8560875" y="108050"/>
            <a:ext cx="476700" cy="502500"/>
            <a:chOff x="95250" y="112575"/>
            <a:chExt cx="476700" cy="502500"/>
          </a:xfrm>
        </p:grpSpPr>
        <p:cxnSp>
          <p:nvCxnSpPr>
            <p:cNvPr id="761" name="Google Shape;761;g38af389b1bb_0_33"/>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62" name="Google Shape;762;g38af389b1bb_0_33"/>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63" name="Google Shape;763;g38af389b1bb_0_33"/>
          <p:cNvGrpSpPr/>
          <p:nvPr/>
        </p:nvGrpSpPr>
        <p:grpSpPr>
          <a:xfrm rot="-5400000">
            <a:off x="106425" y="4557750"/>
            <a:ext cx="476700" cy="502500"/>
            <a:chOff x="95250" y="112575"/>
            <a:chExt cx="476700" cy="502500"/>
          </a:xfrm>
        </p:grpSpPr>
        <p:cxnSp>
          <p:nvCxnSpPr>
            <p:cNvPr id="764" name="Google Shape;764;g38af389b1bb_0_33"/>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65" name="Google Shape;765;g38af389b1bb_0_33"/>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66" name="Google Shape;766;g38af389b1bb_0_33"/>
          <p:cNvGrpSpPr/>
          <p:nvPr/>
        </p:nvGrpSpPr>
        <p:grpSpPr>
          <a:xfrm rot="10800000">
            <a:off x="8560875" y="4557750"/>
            <a:ext cx="476700" cy="502500"/>
            <a:chOff x="95250" y="112575"/>
            <a:chExt cx="476700" cy="502500"/>
          </a:xfrm>
        </p:grpSpPr>
        <p:cxnSp>
          <p:nvCxnSpPr>
            <p:cNvPr id="767" name="Google Shape;767;g38af389b1bb_0_33"/>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68" name="Google Shape;768;g38af389b1bb_0_33"/>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pic>
        <p:nvPicPr>
          <p:cNvPr descr="Screenshot of the Petal dashboard" id="769" name="Google Shape;769;g38af389b1bb_0_33"/>
          <p:cNvPicPr preferRelativeResize="0"/>
          <p:nvPr/>
        </p:nvPicPr>
        <p:blipFill rotWithShape="1">
          <a:blip r:embed="rId3">
            <a:alphaModFix/>
          </a:blip>
          <a:srcRect b="0" l="0" r="0" t="10850"/>
          <a:stretch/>
        </p:blipFill>
        <p:spPr>
          <a:xfrm>
            <a:off x="736176" y="1058135"/>
            <a:ext cx="7477898" cy="3027229"/>
          </a:xfrm>
          <a:prstGeom prst="rect">
            <a:avLst/>
          </a:prstGeom>
          <a:noFill/>
          <a:ln cap="flat" cmpd="sng" w="9525">
            <a:solidFill>
              <a:srgbClr val="CCCCCC"/>
            </a:solidFill>
            <a:prstDash val="solid"/>
            <a:round/>
            <a:headEnd len="sm" w="sm" type="none"/>
            <a:tailEnd len="sm" w="sm" type="none"/>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pic>
        <p:nvPicPr>
          <p:cNvPr descr="A screenshot of a computer&#10;&#10;Description automatically generated" id="774" name="Google Shape;774;g38af389b1bb_0_49"/>
          <p:cNvPicPr preferRelativeResize="0"/>
          <p:nvPr/>
        </p:nvPicPr>
        <p:blipFill rotWithShape="1">
          <a:blip r:embed="rId3">
            <a:alphaModFix/>
          </a:blip>
          <a:srcRect b="0" l="0" r="16785" t="0"/>
          <a:stretch/>
        </p:blipFill>
        <p:spPr>
          <a:xfrm>
            <a:off x="481900" y="1311375"/>
            <a:ext cx="5541800" cy="2843048"/>
          </a:xfrm>
          <a:prstGeom prst="rect">
            <a:avLst/>
          </a:prstGeom>
          <a:noFill/>
          <a:ln>
            <a:noFill/>
          </a:ln>
        </p:spPr>
      </p:pic>
      <p:grpSp>
        <p:nvGrpSpPr>
          <p:cNvPr id="775" name="Google Shape;775;g38af389b1bb_0_49"/>
          <p:cNvGrpSpPr/>
          <p:nvPr/>
        </p:nvGrpSpPr>
        <p:grpSpPr>
          <a:xfrm>
            <a:off x="106425" y="108050"/>
            <a:ext cx="476700" cy="502500"/>
            <a:chOff x="95250" y="112575"/>
            <a:chExt cx="476700" cy="502500"/>
          </a:xfrm>
        </p:grpSpPr>
        <p:cxnSp>
          <p:nvCxnSpPr>
            <p:cNvPr id="776" name="Google Shape;776;g38af389b1bb_0_49"/>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77" name="Google Shape;777;g38af389b1bb_0_49"/>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78" name="Google Shape;778;g38af389b1bb_0_49"/>
          <p:cNvGrpSpPr/>
          <p:nvPr/>
        </p:nvGrpSpPr>
        <p:grpSpPr>
          <a:xfrm flipH="1">
            <a:off x="8560875" y="108050"/>
            <a:ext cx="476700" cy="502500"/>
            <a:chOff x="95250" y="112575"/>
            <a:chExt cx="476700" cy="502500"/>
          </a:xfrm>
        </p:grpSpPr>
        <p:cxnSp>
          <p:nvCxnSpPr>
            <p:cNvPr id="779" name="Google Shape;779;g38af389b1bb_0_49"/>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80" name="Google Shape;780;g38af389b1bb_0_49"/>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81" name="Google Shape;781;g38af389b1bb_0_49"/>
          <p:cNvGrpSpPr/>
          <p:nvPr/>
        </p:nvGrpSpPr>
        <p:grpSpPr>
          <a:xfrm rot="-5400000">
            <a:off x="106425" y="4557750"/>
            <a:ext cx="476700" cy="502500"/>
            <a:chOff x="95250" y="112575"/>
            <a:chExt cx="476700" cy="502500"/>
          </a:xfrm>
        </p:grpSpPr>
        <p:cxnSp>
          <p:nvCxnSpPr>
            <p:cNvPr id="782" name="Google Shape;782;g38af389b1bb_0_49"/>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83" name="Google Shape;783;g38af389b1bb_0_49"/>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84" name="Google Shape;784;g38af389b1bb_0_49"/>
          <p:cNvGrpSpPr/>
          <p:nvPr/>
        </p:nvGrpSpPr>
        <p:grpSpPr>
          <a:xfrm rot="10800000">
            <a:off x="8560875" y="4557750"/>
            <a:ext cx="476700" cy="502500"/>
            <a:chOff x="95250" y="112575"/>
            <a:chExt cx="476700" cy="502500"/>
          </a:xfrm>
        </p:grpSpPr>
        <p:cxnSp>
          <p:nvCxnSpPr>
            <p:cNvPr id="785" name="Google Shape;785;g38af389b1bb_0_49"/>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86" name="Google Shape;786;g38af389b1bb_0_49"/>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787" name="Google Shape;787;g38af389b1bb_0_49"/>
          <p:cNvSpPr/>
          <p:nvPr/>
        </p:nvSpPr>
        <p:spPr>
          <a:xfrm>
            <a:off x="4560550" y="159250"/>
            <a:ext cx="646300" cy="4842550"/>
          </a:xfrm>
          <a:custGeom>
            <a:rect b="b" l="l" r="r" t="t"/>
            <a:pathLst>
              <a:path extrusionOk="0" h="193702" w="25852">
                <a:moveTo>
                  <a:pt x="25019" y="0"/>
                </a:moveTo>
                <a:lnTo>
                  <a:pt x="172" y="62062"/>
                </a:lnTo>
                <a:lnTo>
                  <a:pt x="0" y="160857"/>
                </a:lnTo>
                <a:lnTo>
                  <a:pt x="25852" y="193702"/>
                </a:lnTo>
                <a:close/>
              </a:path>
            </a:pathLst>
          </a:custGeom>
          <a:solidFill>
            <a:srgbClr val="FFFFFF">
              <a:alpha val="64313"/>
            </a:srgbClr>
          </a:solidFill>
          <a:ln cap="flat" cmpd="sng" w="28575">
            <a:solidFill>
              <a:srgbClr val="B7B7B7"/>
            </a:solidFill>
            <a:prstDash val="solid"/>
            <a:round/>
            <a:headEnd len="sm" w="sm" type="none"/>
            <a:tailEnd len="sm" w="sm" type="none"/>
          </a:ln>
        </p:spPr>
      </p:sp>
      <p:pic>
        <p:nvPicPr>
          <p:cNvPr descr="A screenshot of a cell phone&#10;&#10;Description automatically generated" id="788" name="Google Shape;788;g38af389b1bb_0_49"/>
          <p:cNvPicPr preferRelativeResize="0"/>
          <p:nvPr/>
        </p:nvPicPr>
        <p:blipFill rotWithShape="1">
          <a:blip r:embed="rId4">
            <a:alphaModFix/>
          </a:blip>
          <a:srcRect b="0" l="0" r="0" t="0"/>
          <a:stretch/>
        </p:blipFill>
        <p:spPr>
          <a:xfrm>
            <a:off x="5206850" y="159250"/>
            <a:ext cx="3138276" cy="4825001"/>
          </a:xfrm>
          <a:prstGeom prst="rect">
            <a:avLst/>
          </a:prstGeom>
          <a:noFill/>
          <a:ln cap="flat" cmpd="sng" w="38100">
            <a:solidFill>
              <a:srgbClr val="000000"/>
            </a:solidFill>
            <a:prstDash val="solid"/>
            <a:round/>
            <a:headEnd len="sm" w="sm" type="none"/>
            <a:tailEnd len="sm" w="sm" type="none"/>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grpSp>
        <p:nvGrpSpPr>
          <p:cNvPr id="793" name="Google Shape;793;g38af389b1bb_0_67"/>
          <p:cNvGrpSpPr/>
          <p:nvPr/>
        </p:nvGrpSpPr>
        <p:grpSpPr>
          <a:xfrm>
            <a:off x="106425" y="108050"/>
            <a:ext cx="476700" cy="502500"/>
            <a:chOff x="95250" y="112575"/>
            <a:chExt cx="476700" cy="502500"/>
          </a:xfrm>
        </p:grpSpPr>
        <p:cxnSp>
          <p:nvCxnSpPr>
            <p:cNvPr id="794" name="Google Shape;794;g38af389b1bb_0_6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95" name="Google Shape;795;g38af389b1bb_0_6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96" name="Google Shape;796;g38af389b1bb_0_67"/>
          <p:cNvGrpSpPr/>
          <p:nvPr/>
        </p:nvGrpSpPr>
        <p:grpSpPr>
          <a:xfrm flipH="1">
            <a:off x="8560875" y="108050"/>
            <a:ext cx="476700" cy="502500"/>
            <a:chOff x="95250" y="112575"/>
            <a:chExt cx="476700" cy="502500"/>
          </a:xfrm>
        </p:grpSpPr>
        <p:cxnSp>
          <p:nvCxnSpPr>
            <p:cNvPr id="797" name="Google Shape;797;g38af389b1bb_0_6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798" name="Google Shape;798;g38af389b1bb_0_6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799" name="Google Shape;799;g38af389b1bb_0_67"/>
          <p:cNvGrpSpPr/>
          <p:nvPr/>
        </p:nvGrpSpPr>
        <p:grpSpPr>
          <a:xfrm rot="-5400000">
            <a:off x="106425" y="4557750"/>
            <a:ext cx="476700" cy="502500"/>
            <a:chOff x="95250" y="112575"/>
            <a:chExt cx="476700" cy="502500"/>
          </a:xfrm>
        </p:grpSpPr>
        <p:cxnSp>
          <p:nvCxnSpPr>
            <p:cNvPr id="800" name="Google Shape;800;g38af389b1bb_0_6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801" name="Google Shape;801;g38af389b1bb_0_6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802" name="Google Shape;802;g38af389b1bb_0_67"/>
          <p:cNvGrpSpPr/>
          <p:nvPr/>
        </p:nvGrpSpPr>
        <p:grpSpPr>
          <a:xfrm rot="10800000">
            <a:off x="8560875" y="4557750"/>
            <a:ext cx="476700" cy="502500"/>
            <a:chOff x="95250" y="112575"/>
            <a:chExt cx="476700" cy="502500"/>
          </a:xfrm>
        </p:grpSpPr>
        <p:cxnSp>
          <p:nvCxnSpPr>
            <p:cNvPr id="803" name="Google Shape;803;g38af389b1bb_0_67"/>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804" name="Google Shape;804;g38af389b1bb_0_67"/>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805" name="Google Shape;805;g38af389b1bb_0_67"/>
          <p:cNvSpPr txBox="1"/>
          <p:nvPr/>
        </p:nvSpPr>
        <p:spPr>
          <a:xfrm>
            <a:off x="1373575" y="206375"/>
            <a:ext cx="6913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1800" u="none" cap="none" strike="noStrike">
                <a:solidFill>
                  <a:schemeClr val="dk1"/>
                </a:solidFill>
                <a:latin typeface="Arial"/>
                <a:ea typeface="Arial"/>
                <a:cs typeface="Arial"/>
                <a:sym typeface="Arial"/>
              </a:rPr>
              <a:t>How is the FAIRness of training material measured?</a:t>
            </a:r>
            <a:endParaRPr b="0" i="0" sz="1800" u="none" cap="none" strike="noStrike">
              <a:solidFill>
                <a:schemeClr val="dk1"/>
              </a:solidFill>
              <a:latin typeface="Arial"/>
              <a:ea typeface="Arial"/>
              <a:cs typeface="Arial"/>
              <a:sym typeface="Arial"/>
            </a:endParaRPr>
          </a:p>
        </p:txBody>
      </p:sp>
      <p:sp>
        <p:nvSpPr>
          <p:cNvPr id="806" name="Google Shape;806;g38af389b1bb_0_67"/>
          <p:cNvSpPr txBox="1"/>
          <p:nvPr/>
        </p:nvSpPr>
        <p:spPr>
          <a:xfrm>
            <a:off x="596025" y="913991"/>
            <a:ext cx="8049000" cy="3632700"/>
          </a:xfrm>
          <a:prstGeom prst="rect">
            <a:avLst/>
          </a:prstGeom>
          <a:solidFill>
            <a:schemeClr val="lt1"/>
          </a:solidFill>
          <a:ln cap="flat" cmpd="sng" w="19050">
            <a:solidFill>
              <a:srgbClr val="DBA3B9"/>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12B36"/>
                </a:solidFill>
                <a:latin typeface="Courier New"/>
                <a:ea typeface="Courier New"/>
                <a:cs typeface="Courier New"/>
                <a:sym typeface="Courier New"/>
              </a:rPr>
              <a:t>The FAIRness of training material is measured by the extent to which the material complies with the FAIR principles, which stand for Findable, Accessible, Interoperable, and Reusable. The paper emphasizes the importance of increasing the FAIRness of training materials to make life science resources more discoverable [1.1].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12B36"/>
                </a:solidFill>
                <a:latin typeface="Courier New"/>
                <a:ea typeface="Courier New"/>
                <a:cs typeface="Courier New"/>
                <a:sym typeface="Courier New"/>
              </a:rPr>
              <a:t>It suggests that adding structured metadata to web pages using metadata schemas for structured data from the collaborative project Schema.org greatly facilitates the process of making training events and materials more FAIR [1.2].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12B36"/>
                </a:solidFill>
                <a:latin typeface="Courier New"/>
                <a:ea typeface="Courier New"/>
                <a:cs typeface="Courier New"/>
                <a:sym typeface="Courier New"/>
              </a:rPr>
              <a:t>Furthermore, the paper highlights the use of Bioschemas specifications to enrich training resources, allowing for more efficient sharing of structured metadata like prerequisites, target audience, and learning outcomes, which contributes to the FAIRness of the materials [1.3]. </a:t>
            </a:r>
            <a:br>
              <a:rPr b="0" i="0" lang="en" sz="1400" u="none" cap="none" strike="noStrike">
                <a:solidFill>
                  <a:srgbClr val="212B36"/>
                </a:solidFill>
                <a:latin typeface="Courier New"/>
                <a:ea typeface="Courier New"/>
                <a:cs typeface="Courier New"/>
                <a:sym typeface="Courier New"/>
              </a:rPr>
            </a:br>
            <a:endParaRPr b="0" i="0" sz="1400" u="none" cap="none" strike="noStrike">
              <a:solidFill>
                <a:srgbClr val="212B36"/>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12B36"/>
                </a:solidFill>
                <a:highlight>
                  <a:schemeClr val="accent6"/>
                </a:highlight>
                <a:latin typeface="Courier New"/>
                <a:ea typeface="Courier New"/>
                <a:cs typeface="Courier New"/>
                <a:sym typeface="Courier New"/>
              </a:rPr>
              <a:t>If you need further details on the specific metrics used to measure FAIRness, the paper does not explicitly mention them.</a:t>
            </a:r>
            <a:endParaRPr b="0" i="0" sz="1400" u="none" cap="none" strike="noStrike">
              <a:solidFill>
                <a:srgbClr val="212B36"/>
              </a:solidFill>
              <a:highlight>
                <a:schemeClr val="accent6"/>
              </a:highlight>
              <a:latin typeface="Courier New"/>
              <a:ea typeface="Courier New"/>
              <a:cs typeface="Courier New"/>
              <a:sym typeface="Courier New"/>
            </a:endParaRPr>
          </a:p>
        </p:txBody>
      </p:sp>
      <p:sp>
        <p:nvSpPr>
          <p:cNvPr id="807" name="Google Shape;807;g38af389b1bb_0_67"/>
          <p:cNvSpPr txBox="1"/>
          <p:nvPr/>
        </p:nvSpPr>
        <p:spPr>
          <a:xfrm>
            <a:off x="310738" y="221825"/>
            <a:ext cx="1464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5"/>
                </a:solidFill>
                <a:latin typeface="JetBrains Mono Light"/>
                <a:ea typeface="JetBrains Mono Light"/>
                <a:cs typeface="JetBrains Mono Light"/>
                <a:sym typeface="JetBrains Mono Light"/>
              </a:rPr>
              <a:t>PROMPT:</a:t>
            </a:r>
            <a:endParaRPr b="0" i="0" sz="1800" u="none" cap="none" strike="noStrike">
              <a:solidFill>
                <a:schemeClr val="accent5"/>
              </a:solidFill>
              <a:latin typeface="JetBrains Mono Light"/>
              <a:ea typeface="JetBrains Mono Light"/>
              <a:cs typeface="JetBrains Mono Light"/>
              <a:sym typeface="JetBrains Mono 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grpSp>
        <p:nvGrpSpPr>
          <p:cNvPr id="812" name="Google Shape;812;g3cfdd9c33af_0_40"/>
          <p:cNvGrpSpPr/>
          <p:nvPr/>
        </p:nvGrpSpPr>
        <p:grpSpPr>
          <a:xfrm>
            <a:off x="106425" y="108050"/>
            <a:ext cx="476700" cy="502500"/>
            <a:chOff x="95250" y="112575"/>
            <a:chExt cx="476700" cy="502500"/>
          </a:xfrm>
        </p:grpSpPr>
        <p:cxnSp>
          <p:nvCxnSpPr>
            <p:cNvPr id="813" name="Google Shape;813;g3cfdd9c33af_0_4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814" name="Google Shape;814;g3cfdd9c33af_0_4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815" name="Google Shape;815;g3cfdd9c33af_0_40"/>
          <p:cNvGrpSpPr/>
          <p:nvPr/>
        </p:nvGrpSpPr>
        <p:grpSpPr>
          <a:xfrm flipH="1">
            <a:off x="8560875" y="108050"/>
            <a:ext cx="476700" cy="502500"/>
            <a:chOff x="95250" y="112575"/>
            <a:chExt cx="476700" cy="502500"/>
          </a:xfrm>
        </p:grpSpPr>
        <p:cxnSp>
          <p:nvCxnSpPr>
            <p:cNvPr id="816" name="Google Shape;816;g3cfdd9c33af_0_4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817" name="Google Shape;817;g3cfdd9c33af_0_4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818" name="Google Shape;818;g3cfdd9c33af_0_40"/>
          <p:cNvGrpSpPr/>
          <p:nvPr/>
        </p:nvGrpSpPr>
        <p:grpSpPr>
          <a:xfrm rot="-5400000">
            <a:off x="106425" y="4557750"/>
            <a:ext cx="476700" cy="502500"/>
            <a:chOff x="95250" y="112575"/>
            <a:chExt cx="476700" cy="502500"/>
          </a:xfrm>
        </p:grpSpPr>
        <p:cxnSp>
          <p:nvCxnSpPr>
            <p:cNvPr id="819" name="Google Shape;819;g3cfdd9c33af_0_4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820" name="Google Shape;820;g3cfdd9c33af_0_4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821" name="Google Shape;821;g3cfdd9c33af_0_40"/>
          <p:cNvGrpSpPr/>
          <p:nvPr/>
        </p:nvGrpSpPr>
        <p:grpSpPr>
          <a:xfrm rot="10800000">
            <a:off x="8560875" y="4557750"/>
            <a:ext cx="476700" cy="502500"/>
            <a:chOff x="95250" y="112575"/>
            <a:chExt cx="476700" cy="502500"/>
          </a:xfrm>
        </p:grpSpPr>
        <p:cxnSp>
          <p:nvCxnSpPr>
            <p:cNvPr id="822" name="Google Shape;822;g3cfdd9c33af_0_40"/>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823" name="Google Shape;823;g3cfdd9c33af_0_40"/>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824" name="Google Shape;824;g3cfdd9c33af_0_40"/>
          <p:cNvSpPr txBox="1"/>
          <p:nvPr/>
        </p:nvSpPr>
        <p:spPr>
          <a:xfrm>
            <a:off x="2028402" y="1392725"/>
            <a:ext cx="4759500" cy="7695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n" sz="1900" u="sng" cap="none" strike="noStrike">
                <a:solidFill>
                  <a:schemeClr val="hlink"/>
                </a:solidFill>
                <a:latin typeface="JetBrains Mono Light"/>
                <a:ea typeface="JetBrains Mono Light"/>
                <a:cs typeface="JetBrains Mono Light"/>
                <a:sym typeface="JetBrains Mono Light"/>
                <a:hlinkClick r:id="rId3"/>
              </a:rPr>
              <a:t>https://notebooklm.google.com</a:t>
            </a:r>
            <a:r>
              <a:rPr b="0" i="0" lang="en" sz="1900" u="none" cap="none" strike="noStrike">
                <a:solidFill>
                  <a:srgbClr val="000000"/>
                </a:solidFill>
                <a:latin typeface="JetBrains Mono Light"/>
                <a:ea typeface="JetBrains Mono Light"/>
                <a:cs typeface="JetBrains Mono Light"/>
                <a:sym typeface="JetBrains Mono Light"/>
              </a:rPr>
              <a:t>  </a:t>
            </a:r>
            <a:endParaRPr b="0" i="0" sz="1900" u="none" cap="none" strike="noStrike">
              <a:solidFill>
                <a:srgbClr val="000000"/>
              </a:solidFill>
              <a:latin typeface="JetBrains Mono Light"/>
              <a:ea typeface="JetBrains Mono Light"/>
              <a:cs typeface="JetBrains Mono Light"/>
              <a:sym typeface="JetBrains Mono Light"/>
            </a:endParaRPr>
          </a:p>
          <a:p>
            <a:pPr indent="0" lvl="0" marL="0" marR="0" rtl="0" algn="ctr">
              <a:lnSpc>
                <a:spcPct val="100000"/>
              </a:lnSpc>
              <a:spcBef>
                <a:spcPts val="0"/>
              </a:spcBef>
              <a:spcAft>
                <a:spcPts val="0"/>
              </a:spcAft>
              <a:buClr>
                <a:srgbClr val="000000"/>
              </a:buClr>
              <a:buSzPts val="2500"/>
              <a:buFont typeface="Arial"/>
              <a:buNone/>
            </a:pPr>
            <a:r>
              <a:rPr b="0" i="0" lang="en" sz="1900" u="none" cap="none" strike="noStrike">
                <a:solidFill>
                  <a:srgbClr val="000000"/>
                </a:solidFill>
                <a:latin typeface="JetBrains Mono Light"/>
                <a:ea typeface="JetBrains Mono Light"/>
                <a:cs typeface="JetBrains Mono Light"/>
                <a:sym typeface="JetBrains Mono Light"/>
              </a:rPr>
              <a:t>  </a:t>
            </a:r>
            <a:endParaRPr b="0" i="0" sz="1900" u="none" cap="none" strike="noStrike">
              <a:solidFill>
                <a:srgbClr val="000000"/>
              </a:solidFill>
              <a:latin typeface="JetBrains Mono Light"/>
              <a:ea typeface="JetBrains Mono Light"/>
              <a:cs typeface="JetBrains Mono Light"/>
              <a:sym typeface="JetBrains Mono Light"/>
            </a:endParaRPr>
          </a:p>
        </p:txBody>
      </p:sp>
      <p:sp>
        <p:nvSpPr>
          <p:cNvPr id="825" name="Google Shape;825;g3cfdd9c33af_0_40"/>
          <p:cNvSpPr txBox="1"/>
          <p:nvPr/>
        </p:nvSpPr>
        <p:spPr>
          <a:xfrm>
            <a:off x="1337568" y="3065200"/>
            <a:ext cx="670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Clr>
                <a:srgbClr val="000000"/>
              </a:buClr>
              <a:buSzPts val="1400"/>
              <a:buFont typeface="Arial"/>
              <a:buNone/>
            </a:pPr>
            <a:r>
              <a:rPr b="0" i="0" lang="en" sz="1400" u="none" cap="none" strike="noStrike">
                <a:solidFill>
                  <a:schemeClr val="dk1"/>
                </a:solidFill>
                <a:latin typeface="Open Sans"/>
                <a:ea typeface="Open Sans"/>
                <a:cs typeface="Open Sans"/>
                <a:sym typeface="Open Sans"/>
              </a:rPr>
              <a:t>See policy from Google</a:t>
            </a:r>
            <a:endParaRPr b="0" i="0" sz="1400" u="none" cap="none" strike="noStrike">
              <a:solidFill>
                <a:schemeClr val="dk1"/>
              </a:solidFill>
              <a:latin typeface="Open Sans"/>
              <a:ea typeface="Open Sans"/>
              <a:cs typeface="Open Sans"/>
              <a:sym typeface="Open Sans"/>
            </a:endParaRPr>
          </a:p>
        </p:txBody>
      </p:sp>
      <p:sp>
        <p:nvSpPr>
          <p:cNvPr id="826" name="Google Shape;826;g3cfdd9c33af_0_40"/>
          <p:cNvSpPr txBox="1"/>
          <p:nvPr/>
        </p:nvSpPr>
        <p:spPr>
          <a:xfrm>
            <a:off x="1322625" y="2693077"/>
            <a:ext cx="1829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5"/>
                </a:solidFill>
                <a:latin typeface="Arial"/>
                <a:ea typeface="Arial"/>
                <a:cs typeface="Arial"/>
                <a:sym typeface="Arial"/>
              </a:rPr>
              <a:t>PRIVACY POLICY</a:t>
            </a:r>
            <a:endParaRPr b="1" i="0" sz="1500" u="none" cap="none" strike="noStrike">
              <a:solidFill>
                <a:schemeClr val="accent5"/>
              </a:solidFill>
              <a:latin typeface="Arial"/>
              <a:ea typeface="Arial"/>
              <a:cs typeface="Arial"/>
              <a:sym typeface="Arial"/>
            </a:endParaRPr>
          </a:p>
        </p:txBody>
      </p:sp>
      <p:sp>
        <p:nvSpPr>
          <p:cNvPr id="827" name="Google Shape;827;g3cfdd9c33af_0_40"/>
          <p:cNvSpPr txBox="1"/>
          <p:nvPr/>
        </p:nvSpPr>
        <p:spPr>
          <a:xfrm>
            <a:off x="1327600" y="3465400"/>
            <a:ext cx="23016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accent5"/>
                </a:solidFill>
                <a:latin typeface="Arial"/>
                <a:ea typeface="Arial"/>
                <a:cs typeface="Arial"/>
                <a:sym typeface="Arial"/>
              </a:rPr>
              <a:t>RECOMMENDATION</a:t>
            </a:r>
            <a:endParaRPr b="1" i="0" sz="1500" u="none" cap="none" strike="noStrike">
              <a:solidFill>
                <a:schemeClr val="accent5"/>
              </a:solidFill>
              <a:latin typeface="Arial"/>
              <a:ea typeface="Arial"/>
              <a:cs typeface="Arial"/>
              <a:sym typeface="Arial"/>
            </a:endParaRPr>
          </a:p>
        </p:txBody>
      </p:sp>
      <p:sp>
        <p:nvSpPr>
          <p:cNvPr id="828" name="Google Shape;828;g3cfdd9c33af_0_40"/>
          <p:cNvSpPr txBox="1"/>
          <p:nvPr/>
        </p:nvSpPr>
        <p:spPr>
          <a:xfrm>
            <a:off x="1371051" y="3880900"/>
            <a:ext cx="730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0"/>
              </a:spcBef>
              <a:spcAft>
                <a:spcPts val="0"/>
              </a:spcAft>
              <a:buClr>
                <a:srgbClr val="000000"/>
              </a:buClr>
              <a:buSzPts val="1400"/>
              <a:buFont typeface="Arial"/>
              <a:buNone/>
            </a:pPr>
            <a:r>
              <a:rPr b="0" i="0" lang="en" sz="1400" u="none" cap="none" strike="noStrike">
                <a:solidFill>
                  <a:schemeClr val="dk1"/>
                </a:solidFill>
                <a:latin typeface="Open Sans"/>
                <a:ea typeface="Open Sans"/>
                <a:cs typeface="Open Sans"/>
                <a:sym typeface="Open Sans"/>
              </a:rPr>
              <a:t>“Do not use for proprietary, confidential, and personal information with free version”</a:t>
            </a:r>
            <a:endParaRPr b="0" i="0" sz="1400" u="none" cap="none" strike="noStrike">
              <a:solidFill>
                <a:schemeClr val="dk1"/>
              </a:solidFill>
              <a:latin typeface="Open Sans"/>
              <a:ea typeface="Open Sans"/>
              <a:cs typeface="Open Sans"/>
              <a:sym typeface="Open Sans"/>
            </a:endParaRPr>
          </a:p>
        </p:txBody>
      </p:sp>
      <p:pic>
        <p:nvPicPr>
          <p:cNvPr id="829" name="Google Shape;829;g3cfdd9c33af_0_40" title="Screenshot 2026-03-14 at 17.19.35.png"/>
          <p:cNvPicPr preferRelativeResize="0"/>
          <p:nvPr/>
        </p:nvPicPr>
        <p:blipFill rotWithShape="1">
          <a:blip r:embed="rId4">
            <a:alphaModFix/>
          </a:blip>
          <a:srcRect b="0" l="0" r="0" t="0"/>
          <a:stretch/>
        </p:blipFill>
        <p:spPr>
          <a:xfrm>
            <a:off x="2403950" y="301825"/>
            <a:ext cx="3714750" cy="990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g38af389b1bb_0_0"/>
          <p:cNvSpPr txBox="1"/>
          <p:nvPr/>
        </p:nvSpPr>
        <p:spPr>
          <a:xfrm>
            <a:off x="0" y="40933"/>
            <a:ext cx="9144000" cy="585000"/>
          </a:xfrm>
          <a:prstGeom prst="rect">
            <a:avLst/>
          </a:prstGeom>
          <a:noFill/>
          <a:ln>
            <a:noFill/>
          </a:ln>
          <a:effectLst>
            <a:outerShdw blurRad="57150" rotWithShape="0" algn="bl" dir="5400000" dist="19050">
              <a:srgbClr val="D9D9D9">
                <a:alpha val="4862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2600" u="none" cap="none" strike="noStrike">
                <a:solidFill>
                  <a:schemeClr val="dk1"/>
                </a:solidFill>
                <a:latin typeface="Oswald"/>
                <a:ea typeface="Oswald"/>
                <a:cs typeface="Oswald"/>
                <a:sym typeface="Oswald"/>
              </a:rPr>
              <a:t> How to use NotebookLM in the exploratory process?</a:t>
            </a:r>
            <a:endParaRPr b="0" i="0" sz="2600" u="none" cap="none" strike="noStrike">
              <a:solidFill>
                <a:schemeClr val="dk1"/>
              </a:solidFill>
              <a:latin typeface="Oswald"/>
              <a:ea typeface="Oswald"/>
              <a:cs typeface="Oswald"/>
              <a:sym typeface="Oswald"/>
            </a:endParaRPr>
          </a:p>
        </p:txBody>
      </p:sp>
      <p:grpSp>
        <p:nvGrpSpPr>
          <p:cNvPr id="835" name="Google Shape;835;g38af389b1bb_0_0"/>
          <p:cNvGrpSpPr/>
          <p:nvPr/>
        </p:nvGrpSpPr>
        <p:grpSpPr>
          <a:xfrm>
            <a:off x="546093" y="759520"/>
            <a:ext cx="7503961" cy="4157704"/>
            <a:chOff x="1487639" y="778197"/>
            <a:chExt cx="7503961" cy="4157704"/>
          </a:xfrm>
        </p:grpSpPr>
        <p:pic>
          <p:nvPicPr>
            <p:cNvPr id="836" name="Google Shape;836;g38af389b1bb_0_0" title="g49.png"/>
            <p:cNvPicPr preferRelativeResize="0"/>
            <p:nvPr/>
          </p:nvPicPr>
          <p:blipFill rotWithShape="1">
            <a:blip r:embed="rId3">
              <a:alphaModFix/>
            </a:blip>
            <a:srcRect b="0" l="28444" r="0" t="0"/>
            <a:stretch/>
          </p:blipFill>
          <p:spPr>
            <a:xfrm>
              <a:off x="2666800" y="778325"/>
              <a:ext cx="6324800" cy="4157576"/>
            </a:xfrm>
            <a:prstGeom prst="rect">
              <a:avLst/>
            </a:prstGeom>
            <a:noFill/>
            <a:ln>
              <a:noFill/>
            </a:ln>
          </p:spPr>
        </p:pic>
        <p:pic>
          <p:nvPicPr>
            <p:cNvPr id="837" name="Google Shape;837;g38af389b1bb_0_0" title="g49.png"/>
            <p:cNvPicPr preferRelativeResize="0"/>
            <p:nvPr/>
          </p:nvPicPr>
          <p:blipFill rotWithShape="1">
            <a:blip r:embed="rId3">
              <a:alphaModFix/>
            </a:blip>
            <a:srcRect b="0" l="0" r="85040" t="0"/>
            <a:stretch/>
          </p:blipFill>
          <p:spPr>
            <a:xfrm>
              <a:off x="1487639" y="778197"/>
              <a:ext cx="1322350" cy="4157576"/>
            </a:xfrm>
            <a:prstGeom prst="rect">
              <a:avLst/>
            </a:prstGeom>
            <a:noFill/>
            <a:ln>
              <a:noFill/>
            </a:ln>
          </p:spPr>
        </p:pic>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cfdd9c33af_0_63"/>
          <p:cNvSpPr txBox="1"/>
          <p:nvPr/>
        </p:nvSpPr>
        <p:spPr>
          <a:xfrm>
            <a:off x="0" y="40933"/>
            <a:ext cx="9144000" cy="585000"/>
          </a:xfrm>
          <a:prstGeom prst="rect">
            <a:avLst/>
          </a:prstGeom>
          <a:noFill/>
          <a:ln>
            <a:noFill/>
          </a:ln>
          <a:effectLst>
            <a:outerShdw blurRad="57150" rotWithShape="0" algn="bl" dir="5400000" dist="19050">
              <a:srgbClr val="D9D9D9">
                <a:alpha val="4862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2600" u="none" cap="none" strike="noStrike">
                <a:solidFill>
                  <a:schemeClr val="dk1"/>
                </a:solidFill>
                <a:latin typeface="Oswald"/>
                <a:ea typeface="Oswald"/>
                <a:cs typeface="Oswald"/>
                <a:sym typeface="Oswald"/>
              </a:rPr>
              <a:t>NotebookLM</a:t>
            </a:r>
            <a:endParaRPr b="0" i="0" sz="2600" u="none" cap="none" strike="noStrike">
              <a:solidFill>
                <a:schemeClr val="dk1"/>
              </a:solidFill>
              <a:latin typeface="Oswald"/>
              <a:ea typeface="Oswald"/>
              <a:cs typeface="Oswald"/>
              <a:sym typeface="Oswald"/>
            </a:endParaRPr>
          </a:p>
        </p:txBody>
      </p:sp>
      <p:pic>
        <p:nvPicPr>
          <p:cNvPr id="843" name="Google Shape;843;g3cfdd9c33af_0_63"/>
          <p:cNvPicPr preferRelativeResize="0"/>
          <p:nvPr/>
        </p:nvPicPr>
        <p:blipFill rotWithShape="1">
          <a:blip r:embed="rId3">
            <a:alphaModFix/>
          </a:blip>
          <a:srcRect b="0" l="0" r="0" t="0"/>
          <a:stretch/>
        </p:blipFill>
        <p:spPr>
          <a:xfrm>
            <a:off x="152400" y="778333"/>
            <a:ext cx="8839204" cy="3245645"/>
          </a:xfrm>
          <a:prstGeom prst="rect">
            <a:avLst/>
          </a:prstGeom>
          <a:noFill/>
          <a:ln>
            <a:noFill/>
          </a:ln>
        </p:spPr>
      </p:pic>
      <p:sp>
        <p:nvSpPr>
          <p:cNvPr id="844" name="Google Shape;844;g3cfdd9c33af_0_63"/>
          <p:cNvSpPr txBox="1"/>
          <p:nvPr/>
        </p:nvSpPr>
        <p:spPr>
          <a:xfrm>
            <a:off x="3102000" y="4256225"/>
            <a:ext cx="242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Let’s explore </a:t>
            </a:r>
            <a:r>
              <a:rPr b="0" i="0" lang="en" sz="1400" u="sng" cap="none" strike="noStrike">
                <a:solidFill>
                  <a:schemeClr val="hlink"/>
                </a:solidFill>
                <a:latin typeface="Arial"/>
                <a:ea typeface="Arial"/>
                <a:cs typeface="Arial"/>
                <a:sym typeface="Arial"/>
                <a:hlinkClick r:id="rId4"/>
              </a:rPr>
              <a:t>this example</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g368bcb40ff2_0_146"/>
          <p:cNvSpPr txBox="1"/>
          <p:nvPr/>
        </p:nvSpPr>
        <p:spPr>
          <a:xfrm>
            <a:off x="0" y="40933"/>
            <a:ext cx="9144000" cy="585000"/>
          </a:xfrm>
          <a:prstGeom prst="rect">
            <a:avLst/>
          </a:prstGeom>
          <a:noFill/>
          <a:ln>
            <a:noFill/>
          </a:ln>
          <a:effectLst>
            <a:outerShdw blurRad="57150" rotWithShape="0" algn="bl" dir="5400000" dist="19050">
              <a:srgbClr val="D9D9D9">
                <a:alpha val="4862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2600" u="none" cap="none" strike="noStrike">
                <a:solidFill>
                  <a:schemeClr val="dk1"/>
                </a:solidFill>
                <a:latin typeface="Oswald"/>
                <a:ea typeface="Oswald"/>
                <a:cs typeface="Oswald"/>
                <a:sym typeface="Oswald"/>
              </a:rPr>
              <a:t>Activity NotebookLM</a:t>
            </a:r>
            <a:endParaRPr b="0" i="0" sz="2600" u="none" cap="none" strike="noStrike">
              <a:solidFill>
                <a:schemeClr val="dk1"/>
              </a:solidFill>
              <a:latin typeface="Oswald"/>
              <a:ea typeface="Oswald"/>
              <a:cs typeface="Oswald"/>
              <a:sym typeface="Oswald"/>
            </a:endParaRPr>
          </a:p>
        </p:txBody>
      </p:sp>
      <p:sp>
        <p:nvSpPr>
          <p:cNvPr id="850" name="Google Shape;850;g368bcb40ff2_0_146"/>
          <p:cNvSpPr txBox="1"/>
          <p:nvPr/>
        </p:nvSpPr>
        <p:spPr>
          <a:xfrm>
            <a:off x="1252300" y="1107150"/>
            <a:ext cx="78468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2400"/>
              <a:buFont typeface="Arial"/>
              <a:buNone/>
            </a:pPr>
            <a:r>
              <a:rPr b="0" i="0" lang="en" sz="2000" u="none" cap="none" strike="noStrike">
                <a:solidFill>
                  <a:schemeClr val="dk1"/>
                </a:solidFill>
                <a:latin typeface="Open Sans"/>
                <a:ea typeface="Open Sans"/>
                <a:cs typeface="Open Sans"/>
                <a:sym typeface="Open Sans"/>
              </a:rPr>
              <a:t>─ Create an account + login</a:t>
            </a:r>
            <a:endParaRPr b="1" i="0" sz="20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2000" u="none" cap="none" strike="noStrike">
                <a:solidFill>
                  <a:schemeClr val="dk1"/>
                </a:solidFill>
                <a:latin typeface="Open Sans"/>
                <a:ea typeface="Open Sans"/>
                <a:cs typeface="Open Sans"/>
                <a:sym typeface="Open Sans"/>
              </a:rPr>
              <a:t>─ Create a </a:t>
            </a:r>
            <a:r>
              <a:rPr b="1" i="0" lang="en" sz="2000" u="none" cap="none" strike="noStrike">
                <a:solidFill>
                  <a:schemeClr val="dk1"/>
                </a:solidFill>
                <a:latin typeface="Open Sans"/>
                <a:ea typeface="Open Sans"/>
                <a:cs typeface="Open Sans"/>
                <a:sym typeface="Open Sans"/>
              </a:rPr>
              <a:t>notebook</a:t>
            </a:r>
            <a:endParaRPr b="1" i="0" sz="20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2000" u="none" cap="none" strike="noStrike">
                <a:solidFill>
                  <a:schemeClr val="dk1"/>
                </a:solidFill>
                <a:latin typeface="Open Sans"/>
                <a:ea typeface="Open Sans"/>
                <a:cs typeface="Open Sans"/>
                <a:sym typeface="Open Sans"/>
              </a:rPr>
              <a:t>─ Add at least 5 PDFs with coherent but complementary content. </a:t>
            </a:r>
            <a:endParaRPr b="0" i="0" sz="20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2000" u="none" cap="none" strike="noStrike">
                <a:solidFill>
                  <a:schemeClr val="dk1"/>
                </a:solidFill>
                <a:latin typeface="Open Sans"/>
                <a:ea typeface="Open Sans"/>
                <a:cs typeface="Open Sans"/>
                <a:sym typeface="Open Sans"/>
              </a:rPr>
              <a:t>─ EXPLORE e.g the mindmap function.</a:t>
            </a:r>
            <a:endParaRPr b="0" i="0" sz="20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chemeClr val="dk1"/>
              </a:buClr>
              <a:buSzPts val="2400"/>
              <a:buFont typeface="Arial"/>
              <a:buNone/>
            </a:pPr>
            <a:r>
              <a:rPr b="0" i="0" lang="en" sz="2000" u="none" cap="none" strike="noStrike">
                <a:solidFill>
                  <a:schemeClr val="dk1"/>
                </a:solidFill>
                <a:latin typeface="Open Sans"/>
                <a:ea typeface="Open Sans"/>
                <a:cs typeface="Open Sans"/>
                <a:sym typeface="Open Sans"/>
              </a:rPr>
              <a:t>─ Try out specialised prompts.</a:t>
            </a:r>
            <a:endParaRPr b="0" i="0" sz="2000" u="none" cap="none" strike="noStrike">
              <a:solidFill>
                <a:schemeClr val="dk1"/>
              </a:solidFill>
              <a:latin typeface="Open Sans"/>
              <a:ea typeface="Open Sans"/>
              <a:cs typeface="Open Sans"/>
              <a:sym typeface="Open Sans"/>
            </a:endParaRPr>
          </a:p>
        </p:txBody>
      </p:sp>
      <p:sp>
        <p:nvSpPr>
          <p:cNvPr id="851" name="Google Shape;851;g368bcb40ff2_0_146"/>
          <p:cNvSpPr txBox="1"/>
          <p:nvPr/>
        </p:nvSpPr>
        <p:spPr>
          <a:xfrm>
            <a:off x="790991" y="1107142"/>
            <a:ext cx="6198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accent5"/>
                </a:solidFill>
                <a:latin typeface="Cabin Sketch"/>
                <a:ea typeface="Cabin Sketch"/>
                <a:cs typeface="Cabin Sketch"/>
                <a:sym typeface="Cabin Sketch"/>
              </a:rPr>
              <a:t>1</a:t>
            </a:r>
            <a:endParaRPr b="1" i="0" sz="2300" u="none" cap="none" strike="noStrike">
              <a:solidFill>
                <a:schemeClr val="accent5"/>
              </a:solidFill>
              <a:latin typeface="Cabin Sketch"/>
              <a:ea typeface="Cabin Sketch"/>
              <a:cs typeface="Cabin Sketch"/>
              <a:sym typeface="Cabin Sketch"/>
            </a:endParaRPr>
          </a:p>
        </p:txBody>
      </p:sp>
      <p:sp>
        <p:nvSpPr>
          <p:cNvPr id="852" name="Google Shape;852;g368bcb40ff2_0_146"/>
          <p:cNvSpPr txBox="1"/>
          <p:nvPr/>
        </p:nvSpPr>
        <p:spPr>
          <a:xfrm>
            <a:off x="790991" y="1704979"/>
            <a:ext cx="6198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accent5"/>
                </a:solidFill>
                <a:latin typeface="Cabin Sketch"/>
                <a:ea typeface="Cabin Sketch"/>
                <a:cs typeface="Cabin Sketch"/>
                <a:sym typeface="Cabin Sketch"/>
              </a:rPr>
              <a:t>2</a:t>
            </a:r>
            <a:endParaRPr b="1" i="0" sz="2300" u="none" cap="none" strike="noStrike">
              <a:solidFill>
                <a:schemeClr val="accent5"/>
              </a:solidFill>
              <a:latin typeface="Cabin Sketch"/>
              <a:ea typeface="Cabin Sketch"/>
              <a:cs typeface="Cabin Sketch"/>
              <a:sym typeface="Cabin Sketch"/>
            </a:endParaRPr>
          </a:p>
        </p:txBody>
      </p:sp>
      <p:sp>
        <p:nvSpPr>
          <p:cNvPr id="853" name="Google Shape;853;g368bcb40ff2_0_146"/>
          <p:cNvSpPr txBox="1"/>
          <p:nvPr/>
        </p:nvSpPr>
        <p:spPr>
          <a:xfrm>
            <a:off x="790991" y="2315392"/>
            <a:ext cx="6198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accent5"/>
                </a:solidFill>
                <a:latin typeface="Cabin Sketch"/>
                <a:ea typeface="Cabin Sketch"/>
                <a:cs typeface="Cabin Sketch"/>
                <a:sym typeface="Cabin Sketch"/>
              </a:rPr>
              <a:t>3</a:t>
            </a:r>
            <a:endParaRPr b="1" i="0" sz="2300" u="none" cap="none" strike="noStrike">
              <a:solidFill>
                <a:schemeClr val="accent5"/>
              </a:solidFill>
              <a:latin typeface="Cabin Sketch"/>
              <a:ea typeface="Cabin Sketch"/>
              <a:cs typeface="Cabin Sketch"/>
              <a:sym typeface="Cabin Sketch"/>
            </a:endParaRPr>
          </a:p>
        </p:txBody>
      </p:sp>
      <p:sp>
        <p:nvSpPr>
          <p:cNvPr id="854" name="Google Shape;854;g368bcb40ff2_0_146"/>
          <p:cNvSpPr txBox="1"/>
          <p:nvPr/>
        </p:nvSpPr>
        <p:spPr>
          <a:xfrm>
            <a:off x="790991" y="2925817"/>
            <a:ext cx="6198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accent5"/>
                </a:solidFill>
                <a:latin typeface="Cabin Sketch"/>
                <a:ea typeface="Cabin Sketch"/>
                <a:cs typeface="Cabin Sketch"/>
                <a:sym typeface="Cabin Sketch"/>
              </a:rPr>
              <a:t>4</a:t>
            </a:r>
            <a:endParaRPr b="1" i="0" sz="2300" u="none" cap="none" strike="noStrike">
              <a:solidFill>
                <a:schemeClr val="accent5"/>
              </a:solidFill>
              <a:latin typeface="Cabin Sketch"/>
              <a:ea typeface="Cabin Sketch"/>
              <a:cs typeface="Cabin Sketch"/>
              <a:sym typeface="Cabin Sketch"/>
            </a:endParaRPr>
          </a:p>
        </p:txBody>
      </p:sp>
      <p:sp>
        <p:nvSpPr>
          <p:cNvPr id="855" name="Google Shape;855;g368bcb40ff2_0_146"/>
          <p:cNvSpPr txBox="1"/>
          <p:nvPr/>
        </p:nvSpPr>
        <p:spPr>
          <a:xfrm>
            <a:off x="124500" y="4543675"/>
            <a:ext cx="454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Link to exercise on GitHub: </a:t>
            </a:r>
            <a:r>
              <a:rPr b="0" i="0" lang="en" sz="1400" u="sng" cap="none" strike="noStrike">
                <a:solidFill>
                  <a:schemeClr val="hlink"/>
                </a:solidFill>
                <a:latin typeface="Arial"/>
                <a:ea typeface="Arial"/>
                <a:cs typeface="Arial"/>
                <a:sym typeface="Arial"/>
                <a:hlinkClick r:id="rId3"/>
              </a:rPr>
              <a:t>https://shorturl.at/JEvRI</a:t>
            </a: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g3840b7833a0_0_248"/>
          <p:cNvSpPr txBox="1"/>
          <p:nvPr/>
        </p:nvSpPr>
        <p:spPr>
          <a:xfrm>
            <a:off x="1275926" y="167075"/>
            <a:ext cx="67323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AI-assisted literature discovery and analysis</a:t>
            </a:r>
            <a:endParaRPr b="0" i="0" sz="3200" u="none" cap="none" strike="noStrike">
              <a:solidFill>
                <a:schemeClr val="dk1"/>
              </a:solidFill>
              <a:latin typeface="Oswald"/>
              <a:ea typeface="Oswald"/>
              <a:cs typeface="Oswald"/>
              <a:sym typeface="Oswald"/>
            </a:endParaRPr>
          </a:p>
        </p:txBody>
      </p:sp>
      <p:pic>
        <p:nvPicPr>
          <p:cNvPr id="861" name="Google Shape;861;g3840b7833a0_0_248" title="From-Literature-Search-to-Writing.png"/>
          <p:cNvPicPr preferRelativeResize="0"/>
          <p:nvPr/>
        </p:nvPicPr>
        <p:blipFill rotWithShape="1">
          <a:blip r:embed="rId3">
            <a:alphaModFix/>
          </a:blip>
          <a:srcRect b="54801" l="0" r="0" t="10609"/>
          <a:stretch/>
        </p:blipFill>
        <p:spPr>
          <a:xfrm>
            <a:off x="790475" y="1079100"/>
            <a:ext cx="7217752" cy="3533348"/>
          </a:xfrm>
          <a:prstGeom prst="rect">
            <a:avLst/>
          </a:prstGeom>
          <a:noFill/>
          <a:ln>
            <a:noFill/>
          </a:ln>
        </p:spPr>
      </p:pic>
      <p:sp>
        <p:nvSpPr>
          <p:cNvPr id="862" name="Google Shape;862;g3840b7833a0_0_248"/>
          <p:cNvSpPr/>
          <p:nvPr/>
        </p:nvSpPr>
        <p:spPr>
          <a:xfrm>
            <a:off x="1763500" y="3103395"/>
            <a:ext cx="4875600" cy="1244700"/>
          </a:xfrm>
          <a:prstGeom prst="rect">
            <a:avLst/>
          </a:prstGeom>
          <a:noFill/>
          <a:ln cap="flat" cmpd="sng" w="381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840b7833a0_0_217"/>
          <p:cNvSpPr/>
          <p:nvPr/>
        </p:nvSpPr>
        <p:spPr>
          <a:xfrm>
            <a:off x="2789785" y="1323164"/>
            <a:ext cx="5221800" cy="731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868" name="Google Shape;868;g3840b7833a0_0_217"/>
          <p:cNvSpPr/>
          <p:nvPr/>
        </p:nvSpPr>
        <p:spPr>
          <a:xfrm>
            <a:off x="2834110" y="1367464"/>
            <a:ext cx="5221800" cy="7317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869" name="Google Shape;869;g3840b7833a0_0_217"/>
          <p:cNvSpPr txBox="1"/>
          <p:nvPr/>
        </p:nvSpPr>
        <p:spPr>
          <a:xfrm>
            <a:off x="2914400" y="1390876"/>
            <a:ext cx="4765800" cy="677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5"/>
                </a:solidFill>
                <a:latin typeface="Arial"/>
                <a:ea typeface="Arial"/>
                <a:cs typeface="Arial"/>
                <a:sym typeface="Arial"/>
              </a:rPr>
              <a:t>Ideas, sources, analysis, variety and range</a:t>
            </a:r>
            <a:br>
              <a:rPr b="0" i="0" lang="en" sz="1400" u="none" cap="none" strike="noStrike">
                <a:solidFill>
                  <a:schemeClr val="accent5"/>
                </a:solidFill>
                <a:latin typeface="Arial"/>
                <a:ea typeface="Arial"/>
                <a:cs typeface="Arial"/>
                <a:sym typeface="Arial"/>
              </a:rPr>
            </a:br>
            <a:r>
              <a:rPr b="0" i="0" lang="en" sz="1400" u="none" cap="none" strike="noStrike">
                <a:solidFill>
                  <a:schemeClr val="accent5"/>
                </a:solidFill>
                <a:latin typeface="Arial"/>
                <a:ea typeface="Arial"/>
                <a:cs typeface="Arial"/>
                <a:sym typeface="Arial"/>
              </a:rPr>
              <a:t>of language</a:t>
            </a:r>
            <a:endParaRPr b="0" i="0" sz="1200" u="none" cap="none" strike="noStrike">
              <a:solidFill>
                <a:schemeClr val="accent5"/>
              </a:solidFill>
              <a:latin typeface="Roboto"/>
              <a:ea typeface="Roboto"/>
              <a:cs typeface="Roboto"/>
              <a:sym typeface="Roboto"/>
            </a:endParaRPr>
          </a:p>
        </p:txBody>
      </p:sp>
      <p:sp>
        <p:nvSpPr>
          <p:cNvPr id="870" name="Google Shape;870;g3840b7833a0_0_217"/>
          <p:cNvSpPr/>
          <p:nvPr/>
        </p:nvSpPr>
        <p:spPr>
          <a:xfrm>
            <a:off x="2767623" y="2208839"/>
            <a:ext cx="5221800" cy="731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871" name="Google Shape;871;g3840b7833a0_0_217"/>
          <p:cNvSpPr/>
          <p:nvPr/>
        </p:nvSpPr>
        <p:spPr>
          <a:xfrm>
            <a:off x="2811948" y="2253139"/>
            <a:ext cx="5221800" cy="7317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872" name="Google Shape;872;g3840b7833a0_0_217"/>
          <p:cNvSpPr/>
          <p:nvPr/>
        </p:nvSpPr>
        <p:spPr>
          <a:xfrm>
            <a:off x="2811935" y="3050214"/>
            <a:ext cx="5221800" cy="731700"/>
          </a:xfrm>
          <a:prstGeom prst="rect">
            <a:avLst/>
          </a:prstGeom>
          <a:no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873" name="Google Shape;873;g3840b7833a0_0_217"/>
          <p:cNvSpPr/>
          <p:nvPr/>
        </p:nvSpPr>
        <p:spPr>
          <a:xfrm>
            <a:off x="2856260" y="3094514"/>
            <a:ext cx="5221800" cy="7317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highlight>
                <a:srgbClr val="9900FF"/>
              </a:highlight>
              <a:latin typeface="Arial"/>
              <a:ea typeface="Arial"/>
              <a:cs typeface="Arial"/>
              <a:sym typeface="Arial"/>
            </a:endParaRPr>
          </a:p>
        </p:txBody>
      </p:sp>
      <p:sp>
        <p:nvSpPr>
          <p:cNvPr id="874" name="Google Shape;874;g3840b7833a0_0_217"/>
          <p:cNvSpPr txBox="1"/>
          <p:nvPr/>
        </p:nvSpPr>
        <p:spPr>
          <a:xfrm>
            <a:off x="127450" y="134150"/>
            <a:ext cx="58392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Dimensions of the writing process</a:t>
            </a:r>
            <a:endParaRPr b="0" i="0" sz="3200" u="none" cap="none" strike="noStrike">
              <a:solidFill>
                <a:schemeClr val="dk1"/>
              </a:solidFill>
              <a:latin typeface="Oswald"/>
              <a:ea typeface="Oswald"/>
              <a:cs typeface="Oswald"/>
              <a:sym typeface="Oswald"/>
            </a:endParaRPr>
          </a:p>
        </p:txBody>
      </p:sp>
      <p:sp>
        <p:nvSpPr>
          <p:cNvPr id="875" name="Google Shape;875;g3840b7833a0_0_217"/>
          <p:cNvSpPr txBox="1"/>
          <p:nvPr/>
        </p:nvSpPr>
        <p:spPr>
          <a:xfrm>
            <a:off x="719674" y="1374175"/>
            <a:ext cx="2004300" cy="629700"/>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rgbClr val="000000"/>
              </a:buClr>
              <a:buSzPts val="3700"/>
              <a:buFont typeface="Arial"/>
              <a:buNone/>
            </a:pPr>
            <a:r>
              <a:rPr b="0" i="0" lang="en" sz="3700" u="none" cap="none" strike="noStrike">
                <a:solidFill>
                  <a:schemeClr val="accent5"/>
                </a:solidFill>
                <a:latin typeface="Corbel"/>
                <a:ea typeface="Corbel"/>
                <a:cs typeface="Corbel"/>
                <a:sym typeface="Corbel"/>
              </a:rPr>
              <a:t>Depth </a:t>
            </a:r>
            <a:endParaRPr b="0" i="0" sz="3700" u="none" cap="none" strike="noStrike">
              <a:solidFill>
                <a:schemeClr val="accent5"/>
              </a:solidFill>
              <a:latin typeface="Corbel"/>
              <a:ea typeface="Corbel"/>
              <a:cs typeface="Corbel"/>
              <a:sym typeface="Corbel"/>
            </a:endParaRPr>
          </a:p>
        </p:txBody>
      </p:sp>
      <p:sp>
        <p:nvSpPr>
          <p:cNvPr id="876" name="Google Shape;876;g3840b7833a0_0_217"/>
          <p:cNvSpPr txBox="1"/>
          <p:nvPr/>
        </p:nvSpPr>
        <p:spPr>
          <a:xfrm>
            <a:off x="52332" y="2256900"/>
            <a:ext cx="2715300" cy="629700"/>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rgbClr val="000000"/>
              </a:buClr>
              <a:buSzPts val="3700"/>
              <a:buFont typeface="Arial"/>
              <a:buNone/>
            </a:pPr>
            <a:r>
              <a:rPr b="0" i="0" lang="en" sz="3700" u="none" cap="none" strike="noStrike">
                <a:solidFill>
                  <a:schemeClr val="accent5"/>
                </a:solidFill>
                <a:latin typeface="Corbel"/>
                <a:ea typeface="Corbel"/>
                <a:cs typeface="Corbel"/>
                <a:sym typeface="Corbel"/>
              </a:rPr>
              <a:t>Flow</a:t>
            </a:r>
            <a:endParaRPr b="0" i="0" sz="3700" u="none" cap="none" strike="noStrike">
              <a:solidFill>
                <a:schemeClr val="accent5"/>
              </a:solidFill>
              <a:latin typeface="Corbel"/>
              <a:ea typeface="Corbel"/>
              <a:cs typeface="Corbel"/>
              <a:sym typeface="Corbel"/>
            </a:endParaRPr>
          </a:p>
        </p:txBody>
      </p:sp>
      <p:sp>
        <p:nvSpPr>
          <p:cNvPr id="877" name="Google Shape;877;g3840b7833a0_0_217"/>
          <p:cNvSpPr txBox="1"/>
          <p:nvPr/>
        </p:nvSpPr>
        <p:spPr>
          <a:xfrm>
            <a:off x="2914400" y="2257725"/>
            <a:ext cx="4373100" cy="677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5"/>
                </a:solidFill>
                <a:latin typeface="Arial"/>
                <a:ea typeface="Arial"/>
                <a:cs typeface="Arial"/>
                <a:sym typeface="Arial"/>
              </a:rPr>
              <a:t>Smooth expression, clear connection, fluency</a:t>
            </a:r>
            <a:endParaRPr b="0" i="0" sz="1200" u="none" cap="none" strike="noStrike">
              <a:solidFill>
                <a:schemeClr val="accent5"/>
              </a:solidFill>
              <a:latin typeface="Roboto"/>
              <a:ea typeface="Roboto"/>
              <a:cs typeface="Roboto"/>
              <a:sym typeface="Roboto"/>
            </a:endParaRPr>
          </a:p>
        </p:txBody>
      </p:sp>
      <p:sp>
        <p:nvSpPr>
          <p:cNvPr id="878" name="Google Shape;878;g3840b7833a0_0_217"/>
          <p:cNvSpPr txBox="1"/>
          <p:nvPr/>
        </p:nvSpPr>
        <p:spPr>
          <a:xfrm>
            <a:off x="237725" y="3203674"/>
            <a:ext cx="2529900" cy="513300"/>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rgbClr val="000000"/>
              </a:buClr>
              <a:buSzPts val="3700"/>
              <a:buFont typeface="Arial"/>
              <a:buNone/>
            </a:pPr>
            <a:r>
              <a:rPr b="0" i="0" lang="en" sz="3700" u="none" cap="none" strike="noStrike">
                <a:solidFill>
                  <a:schemeClr val="accent5"/>
                </a:solidFill>
                <a:latin typeface="Corbel"/>
                <a:ea typeface="Corbel"/>
                <a:cs typeface="Corbel"/>
                <a:sym typeface="Corbel"/>
              </a:rPr>
              <a:t>Accuracy</a:t>
            </a:r>
            <a:endParaRPr b="0" i="0" sz="3700" u="none" cap="none" strike="noStrike">
              <a:solidFill>
                <a:schemeClr val="accent5"/>
              </a:solidFill>
              <a:latin typeface="Corbel"/>
              <a:ea typeface="Corbel"/>
              <a:cs typeface="Corbel"/>
              <a:sym typeface="Corbel"/>
            </a:endParaRPr>
          </a:p>
        </p:txBody>
      </p:sp>
      <p:sp>
        <p:nvSpPr>
          <p:cNvPr id="879" name="Google Shape;879;g3840b7833a0_0_217"/>
          <p:cNvSpPr txBox="1"/>
          <p:nvPr/>
        </p:nvSpPr>
        <p:spPr>
          <a:xfrm>
            <a:off x="2914400" y="3094525"/>
            <a:ext cx="3849900" cy="677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5"/>
                </a:solidFill>
                <a:latin typeface="Arial"/>
                <a:ea typeface="Arial"/>
                <a:cs typeface="Arial"/>
                <a:sym typeface="Arial"/>
              </a:rPr>
              <a:t>Precise spelling, grammar, punctuation, </a:t>
            </a:r>
            <a:endParaRPr b="0" i="0" sz="1400" u="none" cap="none" strike="noStrike">
              <a:solidFill>
                <a:schemeClr val="accent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5"/>
                </a:solidFill>
                <a:latin typeface="Arial"/>
                <a:ea typeface="Arial"/>
                <a:cs typeface="Arial"/>
                <a:sym typeface="Arial"/>
              </a:rPr>
              <a:t>citations formatting</a:t>
            </a:r>
            <a:endParaRPr b="0" i="0" sz="1200" u="none" cap="none" strike="noStrike">
              <a:solidFill>
                <a:schemeClr val="accent5"/>
              </a:solidFill>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g37eb8bae26d_0_141"/>
          <p:cNvSpPr txBox="1"/>
          <p:nvPr/>
        </p:nvSpPr>
        <p:spPr>
          <a:xfrm>
            <a:off x="-50" y="286550"/>
            <a:ext cx="9144000" cy="585000"/>
          </a:xfrm>
          <a:prstGeom prst="rect">
            <a:avLst/>
          </a:prstGeom>
          <a:noFill/>
          <a:ln>
            <a:noFill/>
          </a:ln>
          <a:effectLst>
            <a:outerShdw blurRad="57150" rotWithShape="0" algn="bl" dir="5400000" dist="19050">
              <a:srgbClr val="D9D9D9">
                <a:alpha val="4862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2600" u="none" cap="none" strike="noStrike">
                <a:solidFill>
                  <a:schemeClr val="dk1"/>
                </a:solidFill>
                <a:latin typeface="Oswald"/>
                <a:ea typeface="Oswald"/>
                <a:cs typeface="Oswald"/>
                <a:sym typeface="Oswald"/>
              </a:rPr>
              <a:t>HITL Writing – “AI” sandwich with human quality control (QC)</a:t>
            </a:r>
            <a:endParaRPr b="0" i="0" sz="2600" u="none" cap="none" strike="noStrike">
              <a:solidFill>
                <a:schemeClr val="dk1"/>
              </a:solidFill>
              <a:latin typeface="Oswald"/>
              <a:ea typeface="Oswald"/>
              <a:cs typeface="Oswald"/>
              <a:sym typeface="Oswald"/>
            </a:endParaRPr>
          </a:p>
        </p:txBody>
      </p:sp>
      <p:pic>
        <p:nvPicPr>
          <p:cNvPr descr="Plate with solid fill" id="885" name="Google Shape;885;g37eb8bae26d_0_141"/>
          <p:cNvPicPr preferRelativeResize="0"/>
          <p:nvPr/>
        </p:nvPicPr>
        <p:blipFill rotWithShape="1">
          <a:blip r:embed="rId3">
            <a:alphaModFix/>
          </a:blip>
          <a:srcRect b="0" l="0" r="0" t="0"/>
          <a:stretch/>
        </p:blipFill>
        <p:spPr>
          <a:xfrm>
            <a:off x="626914" y="2384919"/>
            <a:ext cx="7890180" cy="2360584"/>
          </a:xfrm>
          <a:prstGeom prst="rect">
            <a:avLst/>
          </a:prstGeom>
          <a:noFill/>
          <a:ln>
            <a:noFill/>
          </a:ln>
        </p:spPr>
      </p:pic>
      <p:sp>
        <p:nvSpPr>
          <p:cNvPr id="886" name="Google Shape;886;g37eb8bae26d_0_141"/>
          <p:cNvSpPr/>
          <p:nvPr/>
        </p:nvSpPr>
        <p:spPr>
          <a:xfrm>
            <a:off x="858625" y="3039825"/>
            <a:ext cx="7426800" cy="1062900"/>
          </a:xfrm>
          <a:prstGeom prst="ellipse">
            <a:avLst/>
          </a:prstGeom>
          <a:solidFill>
            <a:srgbClr val="FFFFFF">
              <a:alpha val="6470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g37eb8bae26d_0_141"/>
          <p:cNvSpPr/>
          <p:nvPr/>
        </p:nvSpPr>
        <p:spPr>
          <a:xfrm>
            <a:off x="2441598" y="1640729"/>
            <a:ext cx="4422000" cy="547200"/>
          </a:xfrm>
          <a:prstGeom prst="round2SameRect">
            <a:avLst>
              <a:gd fmla="val 50000" name="adj1"/>
              <a:gd fmla="val 50000" name="adj2"/>
            </a:avLst>
          </a:prstGeom>
          <a:solidFill>
            <a:srgbClr val="93BBC2"/>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AI Exploration</a:t>
            </a:r>
            <a:endParaRPr b="1" i="0" sz="1800" u="none" cap="none" strike="noStrike">
              <a:solidFill>
                <a:schemeClr val="dk1"/>
              </a:solidFill>
              <a:latin typeface="Arial"/>
              <a:ea typeface="Arial"/>
              <a:cs typeface="Arial"/>
              <a:sym typeface="Arial"/>
            </a:endParaRPr>
          </a:p>
        </p:txBody>
      </p:sp>
      <p:sp>
        <p:nvSpPr>
          <p:cNvPr id="888" name="Google Shape;888;g37eb8bae26d_0_141"/>
          <p:cNvSpPr/>
          <p:nvPr/>
        </p:nvSpPr>
        <p:spPr>
          <a:xfrm>
            <a:off x="2441598" y="2910224"/>
            <a:ext cx="4422000" cy="547200"/>
          </a:xfrm>
          <a:prstGeom prst="round2SameRect">
            <a:avLst>
              <a:gd fmla="val 50000" name="adj1"/>
              <a:gd fmla="val 50000" name="adj2"/>
            </a:avLst>
          </a:prstGeom>
          <a:solidFill>
            <a:srgbClr val="93BBC2"/>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 AI supports feedback</a:t>
            </a:r>
            <a:endParaRPr b="1" i="0" sz="1800" u="none" cap="none" strike="noStrike">
              <a:solidFill>
                <a:schemeClr val="dk1"/>
              </a:solidFill>
              <a:latin typeface="Arial"/>
              <a:ea typeface="Arial"/>
              <a:cs typeface="Arial"/>
              <a:sym typeface="Arial"/>
            </a:endParaRPr>
          </a:p>
        </p:txBody>
      </p:sp>
      <p:sp>
        <p:nvSpPr>
          <p:cNvPr id="889" name="Google Shape;889;g37eb8bae26d_0_141"/>
          <p:cNvSpPr/>
          <p:nvPr/>
        </p:nvSpPr>
        <p:spPr>
          <a:xfrm>
            <a:off x="2049575" y="2275475"/>
            <a:ext cx="5188200" cy="547200"/>
          </a:xfrm>
          <a:prstGeom prst="round2SameRect">
            <a:avLst>
              <a:gd fmla="val 50000" name="adj1"/>
              <a:gd fmla="val 50000" name="adj2"/>
            </a:avLst>
          </a:prstGeom>
          <a:solidFill>
            <a:srgbClr val="FCE5CD"/>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Human Drafting</a:t>
            </a:r>
            <a:endParaRPr b="1" i="0" sz="1800" u="none" cap="none" strike="noStrike">
              <a:solidFill>
                <a:schemeClr val="dk1"/>
              </a:solidFill>
              <a:latin typeface="Arial"/>
              <a:ea typeface="Arial"/>
              <a:cs typeface="Arial"/>
              <a:sym typeface="Arial"/>
            </a:endParaRPr>
          </a:p>
        </p:txBody>
      </p:sp>
      <p:sp>
        <p:nvSpPr>
          <p:cNvPr id="890" name="Google Shape;890;g37eb8bae26d_0_141"/>
          <p:cNvSpPr txBox="1"/>
          <p:nvPr/>
        </p:nvSpPr>
        <p:spPr>
          <a:xfrm>
            <a:off x="626928" y="3468775"/>
            <a:ext cx="7890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Human QC</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59"/>
          <p:cNvSpPr txBox="1"/>
          <p:nvPr/>
        </p:nvSpPr>
        <p:spPr>
          <a:xfrm>
            <a:off x="153600" y="88750"/>
            <a:ext cx="80688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Story telling – write and illustrate an article</a:t>
            </a:r>
            <a:endParaRPr b="0" i="0" sz="3200" u="none" cap="none" strike="noStrike">
              <a:solidFill>
                <a:schemeClr val="dk1"/>
              </a:solidFill>
              <a:latin typeface="Oswald"/>
              <a:ea typeface="Oswald"/>
              <a:cs typeface="Oswald"/>
              <a:sym typeface="Oswald"/>
            </a:endParaRPr>
          </a:p>
        </p:txBody>
      </p:sp>
      <p:sp>
        <p:nvSpPr>
          <p:cNvPr id="896" name="Google Shape;896;p59"/>
          <p:cNvSpPr txBox="1"/>
          <p:nvPr/>
        </p:nvSpPr>
        <p:spPr>
          <a:xfrm>
            <a:off x="931950" y="962911"/>
            <a:ext cx="7280100" cy="3523200"/>
          </a:xfrm>
          <a:prstGeom prst="rect">
            <a:avLst/>
          </a:prstGeom>
          <a:noFill/>
          <a:ln>
            <a:noFill/>
          </a:ln>
        </p:spPr>
        <p:txBody>
          <a:bodyPr anchorCtr="0" anchor="t" bIns="91425" lIns="91425" spcFirstLastPara="1" rIns="91425" wrap="square" tIns="91425">
            <a:spAutoFit/>
          </a:bodyPr>
          <a:lstStyle/>
          <a:p>
            <a:pPr indent="-234950" lvl="0" marL="457200" marR="0" rtl="0" algn="l">
              <a:lnSpc>
                <a:spcPct val="115000"/>
              </a:lnSpc>
              <a:spcBef>
                <a:spcPts val="1200"/>
              </a:spcBef>
              <a:spcAft>
                <a:spcPts val="0"/>
              </a:spcAft>
              <a:buClr>
                <a:schemeClr val="dk1"/>
              </a:buClr>
              <a:buSzPts val="100"/>
              <a:buFont typeface="Arial"/>
              <a:buChar char="●"/>
            </a:pPr>
            <a:r>
              <a:rPr b="0" i="0" lang="en" sz="1400" u="none" cap="none" strike="noStrike">
                <a:solidFill>
                  <a:schemeClr val="dk1"/>
                </a:solidFill>
                <a:latin typeface="Open Sans"/>
                <a:ea typeface="Open Sans"/>
                <a:cs typeface="Open Sans"/>
                <a:sym typeface="Open Sans"/>
              </a:rPr>
              <a:t>The qualities of a good research report</a:t>
            </a:r>
            <a:endParaRPr b="0" i="0" sz="1400" u="none" cap="none" strike="noStrike">
              <a:solidFill>
                <a:schemeClr val="dk1"/>
              </a:solidFill>
              <a:latin typeface="Open Sans"/>
              <a:ea typeface="Open Sans"/>
              <a:cs typeface="Open Sans"/>
              <a:sym typeface="Open Sans"/>
            </a:endParaRPr>
          </a:p>
          <a:p>
            <a:pPr indent="-234950" lvl="0" marL="457200" marR="0" rtl="0" algn="l">
              <a:lnSpc>
                <a:spcPct val="115000"/>
              </a:lnSpc>
              <a:spcBef>
                <a:spcPts val="0"/>
              </a:spcBef>
              <a:spcAft>
                <a:spcPts val="0"/>
              </a:spcAft>
              <a:buClr>
                <a:schemeClr val="dk1"/>
              </a:buClr>
              <a:buSzPts val="100"/>
              <a:buFont typeface="Arial"/>
              <a:buChar char="●"/>
            </a:pPr>
            <a:r>
              <a:rPr b="0" i="0" lang="en" sz="1400" u="none" cap="none" strike="noStrike">
                <a:solidFill>
                  <a:schemeClr val="dk1"/>
                </a:solidFill>
                <a:latin typeface="Open Sans"/>
                <a:ea typeface="Open Sans"/>
                <a:cs typeface="Open Sans"/>
                <a:sym typeface="Open Sans"/>
              </a:rPr>
              <a:t>The preliminary phase: purpose, audience and contents</a:t>
            </a:r>
            <a:endParaRPr b="0" i="0" sz="1400" u="none" cap="none" strike="noStrike">
              <a:solidFill>
                <a:schemeClr val="dk1"/>
              </a:solidFill>
              <a:latin typeface="Open Sans"/>
              <a:ea typeface="Open Sans"/>
              <a:cs typeface="Open Sans"/>
              <a:sym typeface="Open Sans"/>
            </a:endParaRPr>
          </a:p>
          <a:p>
            <a:pPr indent="-234950" lvl="0" marL="457200" marR="0" rtl="0" algn="l">
              <a:lnSpc>
                <a:spcPct val="115000"/>
              </a:lnSpc>
              <a:spcBef>
                <a:spcPts val="0"/>
              </a:spcBef>
              <a:spcAft>
                <a:spcPts val="0"/>
              </a:spcAft>
              <a:buClr>
                <a:schemeClr val="dk1"/>
              </a:buClr>
              <a:buSzPts val="100"/>
              <a:buFont typeface="Arial"/>
              <a:buChar char="●"/>
            </a:pPr>
            <a:r>
              <a:rPr b="0" i="0" lang="en" sz="1400" u="none" cap="none" strike="noStrike">
                <a:solidFill>
                  <a:schemeClr val="dk1"/>
                </a:solidFill>
                <a:latin typeface="Open Sans"/>
                <a:ea typeface="Open Sans"/>
                <a:cs typeface="Open Sans"/>
                <a:sym typeface="Open Sans"/>
              </a:rPr>
              <a:t>Structuring a research report/paper</a:t>
            </a:r>
            <a:endParaRPr b="0" i="0" sz="1400" u="none" cap="none" strike="noStrike">
              <a:solidFill>
                <a:schemeClr val="dk1"/>
              </a:solidFill>
              <a:latin typeface="Open Sans"/>
              <a:ea typeface="Open Sans"/>
              <a:cs typeface="Open Sans"/>
              <a:sym typeface="Open Sans"/>
            </a:endParaRPr>
          </a:p>
          <a:p>
            <a:pPr indent="-234950" lvl="0" marL="457200" marR="0" rtl="0" algn="l">
              <a:lnSpc>
                <a:spcPct val="115000"/>
              </a:lnSpc>
              <a:spcBef>
                <a:spcPts val="0"/>
              </a:spcBef>
              <a:spcAft>
                <a:spcPts val="0"/>
              </a:spcAft>
              <a:buClr>
                <a:schemeClr val="dk1"/>
              </a:buClr>
              <a:buSzPts val="100"/>
              <a:buFont typeface="Arial"/>
              <a:buChar char="●"/>
            </a:pPr>
            <a:r>
              <a:rPr b="0" i="0" lang="en" sz="1400" u="none" cap="none" strike="noStrike">
                <a:solidFill>
                  <a:schemeClr val="dk1"/>
                </a:solidFill>
                <a:latin typeface="Open Sans"/>
                <a:ea typeface="Open Sans"/>
                <a:cs typeface="Open Sans"/>
                <a:sym typeface="Open Sans"/>
              </a:rPr>
              <a:t>Parts of a research report/paper</a:t>
            </a:r>
            <a:br>
              <a:rPr b="0" i="0" lang="en" sz="1400" u="none" cap="none" strike="noStrike">
                <a:solidFill>
                  <a:schemeClr val="dk1"/>
                </a:solidFill>
                <a:latin typeface="Open Sans"/>
                <a:ea typeface="Open Sans"/>
                <a:cs typeface="Open Sans"/>
                <a:sym typeface="Open Sans"/>
              </a:rPr>
            </a:br>
            <a:endParaRPr b="0" i="0" sz="1400" u="none" cap="none" strike="noStrike">
              <a:solidFill>
                <a:schemeClr val="dk1"/>
              </a:solidFill>
              <a:latin typeface="Open Sans"/>
              <a:ea typeface="Open Sans"/>
              <a:cs typeface="Open Sans"/>
              <a:sym typeface="Open Sans"/>
            </a:endParaRPr>
          </a:p>
          <a:p>
            <a:pPr indent="-234950" lvl="0" marL="457200" marR="0" rtl="0" algn="l">
              <a:lnSpc>
                <a:spcPct val="115000"/>
              </a:lnSpc>
              <a:spcBef>
                <a:spcPts val="0"/>
              </a:spcBef>
              <a:spcAft>
                <a:spcPts val="0"/>
              </a:spcAft>
              <a:buClr>
                <a:schemeClr val="dk1"/>
              </a:buClr>
              <a:buSzPts val="100"/>
              <a:buFont typeface="Arial"/>
              <a:buChar char="●"/>
            </a:pPr>
            <a:r>
              <a:rPr b="0" i="0" lang="en" sz="1400" u="none" cap="none" strike="noStrike">
                <a:solidFill>
                  <a:schemeClr val="dk1"/>
                </a:solidFill>
                <a:latin typeface="Open Sans"/>
                <a:ea typeface="Open Sans"/>
                <a:cs typeface="Open Sans"/>
                <a:sym typeface="Open Sans"/>
              </a:rPr>
              <a:t>Proposal writing</a:t>
            </a:r>
            <a:endParaRPr b="0" i="0" sz="1400" u="none" cap="none" strike="noStrike">
              <a:solidFill>
                <a:schemeClr val="dk1"/>
              </a:solidFill>
              <a:latin typeface="Open Sans"/>
              <a:ea typeface="Open Sans"/>
              <a:cs typeface="Open Sans"/>
              <a:sym typeface="Open Sans"/>
            </a:endParaRPr>
          </a:p>
          <a:p>
            <a:pPr indent="-234950" lvl="0" marL="457200" marR="0" rtl="0" algn="l">
              <a:lnSpc>
                <a:spcPct val="115000"/>
              </a:lnSpc>
              <a:spcBef>
                <a:spcPts val="0"/>
              </a:spcBef>
              <a:spcAft>
                <a:spcPts val="0"/>
              </a:spcAft>
              <a:buClr>
                <a:schemeClr val="dk1"/>
              </a:buClr>
              <a:buSzPts val="100"/>
              <a:buFont typeface="Arial"/>
              <a:buChar char="●"/>
            </a:pPr>
            <a:r>
              <a:rPr b="0" i="0" lang="en" sz="1400" u="none" cap="none" strike="noStrike">
                <a:solidFill>
                  <a:schemeClr val="dk1"/>
                </a:solidFill>
                <a:latin typeface="Open Sans"/>
                <a:ea typeface="Open Sans"/>
                <a:cs typeface="Open Sans"/>
                <a:sym typeface="Open Sans"/>
              </a:rPr>
              <a:t>Writing the research report of proposal</a:t>
            </a:r>
            <a:endParaRPr b="0" i="0" sz="1400" u="none" cap="none" strike="noStrike">
              <a:solidFill>
                <a:schemeClr val="dk1"/>
              </a:solidFill>
              <a:latin typeface="Open Sans"/>
              <a:ea typeface="Open Sans"/>
              <a:cs typeface="Open Sans"/>
              <a:sym typeface="Open Sans"/>
            </a:endParaRPr>
          </a:p>
          <a:p>
            <a:pPr indent="-234950" lvl="0" marL="457200" marR="0" rtl="0" algn="l">
              <a:lnSpc>
                <a:spcPct val="115000"/>
              </a:lnSpc>
              <a:spcBef>
                <a:spcPts val="0"/>
              </a:spcBef>
              <a:spcAft>
                <a:spcPts val="0"/>
              </a:spcAft>
              <a:buClr>
                <a:schemeClr val="dk1"/>
              </a:buClr>
              <a:buSzPts val="100"/>
              <a:buFont typeface="Arial"/>
              <a:buChar char="●"/>
            </a:pPr>
            <a:r>
              <a:rPr b="0" i="0" lang="en" sz="1400" u="none" cap="none" strike="noStrike">
                <a:solidFill>
                  <a:schemeClr val="dk1"/>
                </a:solidFill>
                <a:latin typeface="Open Sans"/>
                <a:ea typeface="Open Sans"/>
                <a:cs typeface="Open Sans"/>
                <a:sym typeface="Open Sans"/>
              </a:rPr>
              <a:t>Visual appearance</a:t>
            </a:r>
            <a:endParaRPr b="0" i="0" sz="1400" u="none" cap="none" strike="noStrike">
              <a:solidFill>
                <a:schemeClr val="dk1"/>
              </a:solidFill>
              <a:latin typeface="Open Sans"/>
              <a:ea typeface="Open Sans"/>
              <a:cs typeface="Open Sans"/>
              <a:sym typeface="Open Sans"/>
            </a:endParaRPr>
          </a:p>
          <a:p>
            <a:pPr indent="-234950" lvl="0" marL="457200" marR="0" rtl="0" algn="l">
              <a:lnSpc>
                <a:spcPct val="115000"/>
              </a:lnSpc>
              <a:spcBef>
                <a:spcPts val="0"/>
              </a:spcBef>
              <a:spcAft>
                <a:spcPts val="0"/>
              </a:spcAft>
              <a:buClr>
                <a:schemeClr val="dk1"/>
              </a:buClr>
              <a:buSzPts val="100"/>
              <a:buFont typeface="Arial"/>
              <a:buChar char="●"/>
            </a:pPr>
            <a:r>
              <a:rPr b="0" i="0" lang="en" sz="1400" u="none" cap="none" strike="noStrike">
                <a:solidFill>
                  <a:schemeClr val="dk1"/>
                </a:solidFill>
                <a:latin typeface="Open Sans"/>
                <a:ea typeface="Open Sans"/>
                <a:cs typeface="Open Sans"/>
                <a:sym typeface="Open Sans"/>
              </a:rPr>
              <a:t>Academic posters</a:t>
            </a:r>
            <a:endParaRPr b="0" i="0" sz="1800" u="none" cap="none" strike="noStrike">
              <a:solidFill>
                <a:schemeClr val="dk1"/>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Oswald"/>
                <a:ea typeface="Oswald"/>
                <a:cs typeface="Oswald"/>
                <a:sym typeface="Oswald"/>
              </a:rPr>
              <a:t>We recommend our courses on </a:t>
            </a:r>
            <a:br>
              <a:rPr b="0" i="0" lang="en" sz="1800" u="none" cap="none" strike="noStrike">
                <a:solidFill>
                  <a:schemeClr val="dk1"/>
                </a:solidFill>
                <a:latin typeface="Oswald"/>
                <a:ea typeface="Oswald"/>
                <a:cs typeface="Oswald"/>
                <a:sym typeface="Oswald"/>
              </a:rPr>
            </a:br>
            <a:r>
              <a:rPr b="0" i="0" lang="en" sz="1800" u="none" cap="none" strike="noStrike">
                <a:solidFill>
                  <a:schemeClr val="accent5"/>
                </a:solidFill>
                <a:latin typeface="Oswald"/>
                <a:ea typeface="Oswald"/>
                <a:cs typeface="Oswald"/>
                <a:sym typeface="Oswald"/>
              </a:rPr>
              <a:t>        	Scientific writing</a:t>
            </a:r>
            <a:br>
              <a:rPr b="0" i="0" lang="en" sz="1800" u="sng" cap="none" strike="noStrike">
                <a:solidFill>
                  <a:schemeClr val="accent5"/>
                </a:solidFill>
                <a:latin typeface="Oswald"/>
                <a:ea typeface="Oswald"/>
                <a:cs typeface="Oswald"/>
                <a:sym typeface="Oswald"/>
              </a:rPr>
            </a:br>
            <a:r>
              <a:rPr b="0" i="0" lang="en" sz="1800" u="sng" cap="none" strike="noStrike">
                <a:solidFill>
                  <a:schemeClr val="accent5"/>
                </a:solidFill>
                <a:latin typeface="Oswald"/>
                <a:ea typeface="Oswald"/>
                <a:cs typeface="Oswald"/>
                <a:sym typeface="Oswald"/>
              </a:rPr>
              <a:t>	</a:t>
            </a:r>
            <a:r>
              <a:rPr b="0" i="0" lang="en" sz="1800" u="sng" cap="none" strike="noStrike">
                <a:solidFill>
                  <a:schemeClr val="accent5"/>
                </a:solidFill>
                <a:latin typeface="Oswald"/>
                <a:ea typeface="Oswald"/>
                <a:cs typeface="Oswald"/>
                <a:sym typeface="Oswald"/>
                <a:hlinkClick r:id="rId3">
                  <a:extLst>
                    <a:ext uri="{A12FA001-AC4F-418D-AE19-62706E023703}">
                      <ahyp:hlinkClr val="tx"/>
                    </a:ext>
                  </a:extLst>
                </a:hlinkClick>
              </a:rPr>
              <a:t>Show don't tell</a:t>
            </a:r>
            <a:br>
              <a:rPr b="0" i="0" lang="en" sz="1800" u="none" cap="none" strike="noStrike">
                <a:solidFill>
                  <a:schemeClr val="accent5"/>
                </a:solidFill>
                <a:latin typeface="Oswald"/>
                <a:ea typeface="Oswald"/>
                <a:cs typeface="Oswald"/>
                <a:sym typeface="Oswald"/>
              </a:rPr>
            </a:br>
            <a:r>
              <a:rPr b="0" i="0" lang="en" sz="1800" u="none" cap="none" strike="noStrike">
                <a:solidFill>
                  <a:schemeClr val="accent5"/>
                </a:solidFill>
                <a:latin typeface="Oswald"/>
                <a:ea typeface="Oswald"/>
                <a:cs typeface="Oswald"/>
                <a:sym typeface="Oswald"/>
              </a:rPr>
              <a:t>        	</a:t>
            </a:r>
            <a:r>
              <a:rPr b="0" i="0" lang="en" sz="1800" u="sng" cap="none" strike="noStrike">
                <a:solidFill>
                  <a:schemeClr val="accent5"/>
                </a:solidFill>
                <a:latin typeface="Oswald"/>
                <a:ea typeface="Oswald"/>
                <a:cs typeface="Oswald"/>
                <a:sym typeface="Oswald"/>
                <a:hlinkClick r:id="rId4">
                  <a:extLst>
                    <a:ext uri="{A12FA001-AC4F-418D-AE19-62706E023703}">
                      <ahyp:hlinkClr val="tx"/>
                    </a:ext>
                  </a:extLst>
                </a:hlinkClick>
              </a:rPr>
              <a:t>Gimp and Inkscape</a:t>
            </a:r>
            <a:endParaRPr b="0" i="0" sz="1800" u="none" cap="none" strike="noStrike">
              <a:solidFill>
                <a:schemeClr val="accent5"/>
              </a:solidFill>
              <a:latin typeface="Oswald"/>
              <a:ea typeface="Oswald"/>
              <a:cs typeface="Oswald"/>
              <a:sym typeface="Oswald"/>
            </a:endParaRPr>
          </a:p>
        </p:txBody>
      </p:sp>
      <p:sp>
        <p:nvSpPr>
          <p:cNvPr id="897" name="Google Shape;897;p59"/>
          <p:cNvSpPr txBox="1"/>
          <p:nvPr/>
        </p:nvSpPr>
        <p:spPr>
          <a:xfrm>
            <a:off x="5852300" y="2557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7eb8bae26d_0_50"/>
          <p:cNvSpPr txBox="1"/>
          <p:nvPr/>
        </p:nvSpPr>
        <p:spPr>
          <a:xfrm>
            <a:off x="0" y="40933"/>
            <a:ext cx="9144000" cy="585000"/>
          </a:xfrm>
          <a:prstGeom prst="rect">
            <a:avLst/>
          </a:prstGeom>
          <a:noFill/>
          <a:ln>
            <a:noFill/>
          </a:ln>
          <a:effectLst>
            <a:outerShdw blurRad="57150" rotWithShape="0" algn="bl" dir="5400000" dist="19050">
              <a:srgbClr val="D9D9D9">
                <a:alpha val="4862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2600" u="none" cap="none" strike="noStrike">
                <a:solidFill>
                  <a:schemeClr val="dk1"/>
                </a:solidFill>
                <a:latin typeface="Oswald"/>
                <a:ea typeface="Oswald"/>
                <a:cs typeface="Oswald"/>
                <a:sym typeface="Oswald"/>
              </a:rPr>
              <a:t>Writing – Levels of LLM use</a:t>
            </a:r>
            <a:endParaRPr b="0" i="0" sz="2600" u="none" cap="none" strike="noStrike">
              <a:solidFill>
                <a:schemeClr val="dk1"/>
              </a:solidFill>
              <a:latin typeface="Oswald"/>
              <a:ea typeface="Oswald"/>
              <a:cs typeface="Oswald"/>
              <a:sym typeface="Oswald"/>
            </a:endParaRPr>
          </a:p>
        </p:txBody>
      </p:sp>
      <p:graphicFrame>
        <p:nvGraphicFramePr>
          <p:cNvPr id="903" name="Google Shape;903;g37eb8bae26d_0_50"/>
          <p:cNvGraphicFramePr/>
          <p:nvPr/>
        </p:nvGraphicFramePr>
        <p:xfrm>
          <a:off x="345655" y="922213"/>
          <a:ext cx="3000000" cy="3000000"/>
        </p:xfrm>
        <a:graphic>
          <a:graphicData uri="http://schemas.openxmlformats.org/drawingml/2006/table">
            <a:tbl>
              <a:tblPr>
                <a:noFill/>
                <a:tableStyleId>{D09467AB-D35D-4B33-A821-928160C17063}</a:tableStyleId>
              </a:tblPr>
              <a:tblGrid>
                <a:gridCol w="4616475"/>
                <a:gridCol w="40529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Level</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Example prompt</a:t>
                      </a:r>
                      <a:endParaRPr b="1"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(1) Basic editing, such as checking spelling and grammar, or suggesting synonyms.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“Check the spelling and grammar in this paragraph, and suggest synonyms for any repetitive words.”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(2) Structural editing, such as paraphrasing, translating, or improving the structure of the text,</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or its flow or coherence.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“Paraphrase this lengthy sentence to improve its clarity and flow, and translate it to French.”</a:t>
                      </a:r>
                      <a:endParaRPr sz="1400" u="none" cap="none" strike="noStrike"/>
                    </a:p>
                  </a:txBody>
                  <a:tcPr marT="91425" marB="91425" marR="91425" marL="91425"/>
                </a:tc>
              </a:tr>
            </a:tbl>
          </a:graphicData>
        </a:graphic>
      </p:graphicFrame>
      <p:sp>
        <p:nvSpPr>
          <p:cNvPr id="904" name="Google Shape;904;g37eb8bae26d_0_50"/>
          <p:cNvSpPr txBox="1"/>
          <p:nvPr/>
        </p:nvSpPr>
        <p:spPr>
          <a:xfrm>
            <a:off x="345650" y="4593700"/>
            <a:ext cx="5362200" cy="29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Attribution </a:t>
            </a:r>
            <a:r>
              <a:rPr b="0" i="0" lang="en" sz="700" u="sng" cap="none" strike="noStrike">
                <a:solidFill>
                  <a:schemeClr val="hlink"/>
                </a:solidFill>
                <a:latin typeface="Arial"/>
                <a:ea typeface="Arial"/>
                <a:cs typeface="Arial"/>
                <a:sym typeface="Arial"/>
                <a:hlinkClick r:id="rId3"/>
              </a:rPr>
              <a:t>https://arxiv.org/abs/2310.17143</a:t>
            </a:r>
            <a:r>
              <a:rPr b="0" i="0" lang="en" sz="700" u="none" cap="none" strike="noStrike">
                <a:solidFill>
                  <a:srgbClr val="000000"/>
                </a:solidFill>
                <a:latin typeface="Arial"/>
                <a:ea typeface="Arial"/>
                <a:cs typeface="Arial"/>
                <a:sym typeface="Arial"/>
              </a:rPr>
              <a:t> (final publication: https://doi.org/10.1038/s41551-024-01185-8)</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60"/>
          <p:cNvSpPr txBox="1"/>
          <p:nvPr/>
        </p:nvSpPr>
        <p:spPr>
          <a:xfrm>
            <a:off x="0" y="40933"/>
            <a:ext cx="9144000" cy="585000"/>
          </a:xfrm>
          <a:prstGeom prst="rect">
            <a:avLst/>
          </a:prstGeom>
          <a:noFill/>
          <a:ln>
            <a:noFill/>
          </a:ln>
          <a:effectLst>
            <a:outerShdw blurRad="57150" rotWithShape="0" algn="bl" dir="5400000" dist="19050">
              <a:srgbClr val="D9D9D9">
                <a:alpha val="4862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2600" u="none" cap="none" strike="noStrike">
                <a:solidFill>
                  <a:schemeClr val="dk1"/>
                </a:solidFill>
                <a:latin typeface="Oswald"/>
                <a:ea typeface="Oswald"/>
                <a:cs typeface="Oswald"/>
                <a:sym typeface="Oswald"/>
              </a:rPr>
              <a:t>Writing – Levels of LLM use</a:t>
            </a:r>
            <a:endParaRPr b="0" i="0" sz="2600" u="none" cap="none" strike="noStrike">
              <a:solidFill>
                <a:schemeClr val="dk1"/>
              </a:solidFill>
              <a:latin typeface="Oswald"/>
              <a:ea typeface="Oswald"/>
              <a:cs typeface="Oswald"/>
              <a:sym typeface="Oswald"/>
            </a:endParaRPr>
          </a:p>
        </p:txBody>
      </p:sp>
      <p:graphicFrame>
        <p:nvGraphicFramePr>
          <p:cNvPr id="910" name="Google Shape;910;p60"/>
          <p:cNvGraphicFramePr/>
          <p:nvPr/>
        </p:nvGraphicFramePr>
        <p:xfrm>
          <a:off x="309530" y="879788"/>
          <a:ext cx="3000000" cy="3000000"/>
        </p:xfrm>
        <a:graphic>
          <a:graphicData uri="http://schemas.openxmlformats.org/drawingml/2006/table">
            <a:tbl>
              <a:tblPr>
                <a:noFill/>
                <a:tableStyleId>{D09467AB-D35D-4B33-A821-928160C17063}</a:tableStyleId>
              </a:tblPr>
              <a:tblGrid>
                <a:gridCol w="4616475"/>
                <a:gridCol w="4052975"/>
              </a:tblGrid>
              <a:tr h="100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Level</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Example prompt</a:t>
                      </a:r>
                      <a:endParaRPr b="1"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(3) Creating derivative content, such as summarizing, creating titles and abstracts, rewriting or generating analogies.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“Summarize this document and create a short, catchy title for a journal submission.”</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(4) Creating new content, such as completing, continuing or expanding text, or brainstorming ideas.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“Continue the text to explain the key question being addressed. Show why it is important, drawing parallels or analogies where you see fit.”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(5) Evaluation or feedback, such as assessing the quality of the writing or finding weaknesses in it.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“Review this introduction and highlight any logical gaps or areas that need further development.”</a:t>
                      </a:r>
                      <a:endParaRPr sz="1400" u="none" cap="none" strike="noStrike"/>
                    </a:p>
                  </a:txBody>
                  <a:tcPr marT="91425" marB="91425" marR="91425" marL="91425"/>
                </a:tc>
              </a:tr>
            </a:tbl>
          </a:graphicData>
        </a:graphic>
      </p:graphicFrame>
      <p:sp>
        <p:nvSpPr>
          <p:cNvPr id="911" name="Google Shape;911;p60"/>
          <p:cNvSpPr txBox="1"/>
          <p:nvPr/>
        </p:nvSpPr>
        <p:spPr>
          <a:xfrm>
            <a:off x="36175" y="4803500"/>
            <a:ext cx="530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700" u="none" cap="none" strike="noStrike">
                <a:solidFill>
                  <a:schemeClr val="dk1"/>
                </a:solidFill>
                <a:latin typeface="Arial"/>
                <a:ea typeface="Arial"/>
                <a:cs typeface="Arial"/>
                <a:sym typeface="Arial"/>
              </a:rPr>
              <a:t>Attribution </a:t>
            </a:r>
            <a:r>
              <a:rPr b="0" i="0" lang="en" sz="700" u="sng" cap="none" strike="noStrike">
                <a:solidFill>
                  <a:schemeClr val="accent5"/>
                </a:solidFill>
                <a:latin typeface="Arial"/>
                <a:ea typeface="Arial"/>
                <a:cs typeface="Arial"/>
                <a:sym typeface="Arial"/>
                <a:hlinkClick r:id="rId3">
                  <a:extLst>
                    <a:ext uri="{A12FA001-AC4F-418D-AE19-62706E023703}">
                      <ahyp:hlinkClr val="tx"/>
                    </a:ext>
                  </a:extLst>
                </a:hlinkClick>
              </a:rPr>
              <a:t>https://arxiv.org/abs/2310.17143</a:t>
            </a:r>
            <a:r>
              <a:rPr b="0" i="0" lang="en" sz="700" u="none" cap="none" strike="noStrike">
                <a:solidFill>
                  <a:schemeClr val="dk1"/>
                </a:solidFill>
                <a:latin typeface="Arial"/>
                <a:ea typeface="Arial"/>
                <a:cs typeface="Arial"/>
                <a:sym typeface="Arial"/>
              </a:rPr>
              <a:t> (final publication: https://doi.org/10.1038/s41551-024-01185-8)</a:t>
            </a:r>
            <a:endParaRPr b="0" i="0" sz="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pic>
        <p:nvPicPr>
          <p:cNvPr id="916" name="Google Shape;916;g3af92d0617a_1_0" title="Screenshot 2026-03-14 at 17.44.05.png"/>
          <p:cNvPicPr preferRelativeResize="0"/>
          <p:nvPr/>
        </p:nvPicPr>
        <p:blipFill rotWithShape="1">
          <a:blip r:embed="rId3">
            <a:alphaModFix/>
          </a:blip>
          <a:srcRect b="0" l="0" r="0" t="0"/>
          <a:stretch/>
        </p:blipFill>
        <p:spPr>
          <a:xfrm>
            <a:off x="152400" y="152400"/>
            <a:ext cx="8553126" cy="43371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37eb8bae26d_0_151"/>
          <p:cNvSpPr txBox="1"/>
          <p:nvPr/>
        </p:nvSpPr>
        <p:spPr>
          <a:xfrm>
            <a:off x="411500" y="344100"/>
            <a:ext cx="84153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When and how to cite the use of AI?</a:t>
            </a:r>
            <a:endParaRPr b="0" i="0" sz="3200" u="none" cap="none" strike="noStrike">
              <a:solidFill>
                <a:schemeClr val="dk1"/>
              </a:solidFill>
              <a:latin typeface="Oswald"/>
              <a:ea typeface="Oswald"/>
              <a:cs typeface="Oswald"/>
              <a:sym typeface="Oswald"/>
            </a:endParaRPr>
          </a:p>
        </p:txBody>
      </p:sp>
      <p:grpSp>
        <p:nvGrpSpPr>
          <p:cNvPr id="922" name="Google Shape;922;g37eb8bae26d_0_151"/>
          <p:cNvGrpSpPr/>
          <p:nvPr/>
        </p:nvGrpSpPr>
        <p:grpSpPr>
          <a:xfrm>
            <a:off x="106425" y="108050"/>
            <a:ext cx="476700" cy="502500"/>
            <a:chOff x="95250" y="112575"/>
            <a:chExt cx="476700" cy="502500"/>
          </a:xfrm>
        </p:grpSpPr>
        <p:cxnSp>
          <p:nvCxnSpPr>
            <p:cNvPr id="923" name="Google Shape;923;g37eb8bae26d_0_151"/>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924" name="Google Shape;924;g37eb8bae26d_0_151"/>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925" name="Google Shape;925;g37eb8bae26d_0_151"/>
          <p:cNvGrpSpPr/>
          <p:nvPr/>
        </p:nvGrpSpPr>
        <p:grpSpPr>
          <a:xfrm flipH="1">
            <a:off x="8560875" y="108050"/>
            <a:ext cx="476700" cy="502500"/>
            <a:chOff x="95250" y="112575"/>
            <a:chExt cx="476700" cy="502500"/>
          </a:xfrm>
        </p:grpSpPr>
        <p:cxnSp>
          <p:nvCxnSpPr>
            <p:cNvPr id="926" name="Google Shape;926;g37eb8bae26d_0_151"/>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927" name="Google Shape;927;g37eb8bae26d_0_151"/>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928" name="Google Shape;928;g37eb8bae26d_0_151"/>
          <p:cNvGrpSpPr/>
          <p:nvPr/>
        </p:nvGrpSpPr>
        <p:grpSpPr>
          <a:xfrm rot="-5400000">
            <a:off x="106425" y="4557750"/>
            <a:ext cx="476700" cy="502500"/>
            <a:chOff x="95250" y="112575"/>
            <a:chExt cx="476700" cy="502500"/>
          </a:xfrm>
        </p:grpSpPr>
        <p:cxnSp>
          <p:nvCxnSpPr>
            <p:cNvPr id="929" name="Google Shape;929;g37eb8bae26d_0_151"/>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930" name="Google Shape;930;g37eb8bae26d_0_151"/>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931" name="Google Shape;931;g37eb8bae26d_0_151"/>
          <p:cNvGrpSpPr/>
          <p:nvPr/>
        </p:nvGrpSpPr>
        <p:grpSpPr>
          <a:xfrm rot="10800000">
            <a:off x="8560875" y="4557750"/>
            <a:ext cx="476700" cy="502500"/>
            <a:chOff x="95250" y="112575"/>
            <a:chExt cx="476700" cy="502500"/>
          </a:xfrm>
        </p:grpSpPr>
        <p:cxnSp>
          <p:nvCxnSpPr>
            <p:cNvPr id="932" name="Google Shape;932;g37eb8bae26d_0_151"/>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933" name="Google Shape;933;g37eb8bae26d_0_151"/>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934" name="Google Shape;934;g37eb8bae26d_0_151"/>
          <p:cNvSpPr txBox="1"/>
          <p:nvPr/>
        </p:nvSpPr>
        <p:spPr>
          <a:xfrm>
            <a:off x="411500" y="4557750"/>
            <a:ext cx="7852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Open Sans"/>
                <a:ea typeface="Open Sans"/>
                <a:cs typeface="Open Sans"/>
                <a:sym typeface="Open Sans"/>
              </a:rPr>
              <a:t>white paper, Dec 2023, International Association of Scientific, Technical, and Medical Publishers</a:t>
            </a:r>
            <a:br>
              <a:rPr b="0" i="0" lang="en" sz="900" u="none" cap="none" strike="noStrike">
                <a:solidFill>
                  <a:schemeClr val="dk1"/>
                </a:solidFill>
                <a:latin typeface="Open Sans"/>
                <a:ea typeface="Open Sans"/>
                <a:cs typeface="Open Sans"/>
                <a:sym typeface="Open Sans"/>
              </a:rPr>
            </a:br>
            <a:r>
              <a:rPr b="0" i="0" lang="en" sz="900" u="none" cap="none" strike="noStrike">
                <a:solidFill>
                  <a:schemeClr val="dk1"/>
                </a:solidFill>
                <a:latin typeface="Open Sans"/>
                <a:ea typeface="Open Sans"/>
                <a:cs typeface="Open Sans"/>
                <a:sym typeface="Open Sans"/>
              </a:rPr>
              <a:t>Generative AI in Scholarly Communications: Ethical and Practical Guidelines for the Use of Generative AI in the Publication Process (STM, 2023)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g3892c90d450_0_5"/>
          <p:cNvSpPr txBox="1"/>
          <p:nvPr/>
        </p:nvSpPr>
        <p:spPr>
          <a:xfrm>
            <a:off x="411500" y="344100"/>
            <a:ext cx="84153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When to cite the use of AI</a:t>
            </a:r>
            <a:endParaRPr b="0" i="0" sz="3200" u="none" cap="none" strike="noStrike">
              <a:solidFill>
                <a:schemeClr val="dk1"/>
              </a:solidFill>
              <a:latin typeface="Oswald"/>
              <a:ea typeface="Oswald"/>
              <a:cs typeface="Oswald"/>
              <a:sym typeface="Oswald"/>
            </a:endParaRPr>
          </a:p>
        </p:txBody>
      </p:sp>
      <p:grpSp>
        <p:nvGrpSpPr>
          <p:cNvPr id="940" name="Google Shape;940;g3892c90d450_0_5"/>
          <p:cNvGrpSpPr/>
          <p:nvPr/>
        </p:nvGrpSpPr>
        <p:grpSpPr>
          <a:xfrm>
            <a:off x="106425" y="108050"/>
            <a:ext cx="476700" cy="502500"/>
            <a:chOff x="95250" y="112575"/>
            <a:chExt cx="476700" cy="502500"/>
          </a:xfrm>
        </p:grpSpPr>
        <p:cxnSp>
          <p:nvCxnSpPr>
            <p:cNvPr id="941" name="Google Shape;941;g3892c90d450_0_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942" name="Google Shape;942;g3892c90d450_0_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943" name="Google Shape;943;g3892c90d450_0_5"/>
          <p:cNvGrpSpPr/>
          <p:nvPr/>
        </p:nvGrpSpPr>
        <p:grpSpPr>
          <a:xfrm flipH="1">
            <a:off x="8560875" y="108050"/>
            <a:ext cx="476700" cy="502500"/>
            <a:chOff x="95250" y="112575"/>
            <a:chExt cx="476700" cy="502500"/>
          </a:xfrm>
        </p:grpSpPr>
        <p:cxnSp>
          <p:nvCxnSpPr>
            <p:cNvPr id="944" name="Google Shape;944;g3892c90d450_0_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945" name="Google Shape;945;g3892c90d450_0_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946" name="Google Shape;946;g3892c90d450_0_5"/>
          <p:cNvGrpSpPr/>
          <p:nvPr/>
        </p:nvGrpSpPr>
        <p:grpSpPr>
          <a:xfrm rot="-5400000">
            <a:off x="106425" y="4557750"/>
            <a:ext cx="476700" cy="502500"/>
            <a:chOff x="95250" y="112575"/>
            <a:chExt cx="476700" cy="502500"/>
          </a:xfrm>
        </p:grpSpPr>
        <p:cxnSp>
          <p:nvCxnSpPr>
            <p:cNvPr id="947" name="Google Shape;947;g3892c90d450_0_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948" name="Google Shape;948;g3892c90d450_0_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grpSp>
        <p:nvGrpSpPr>
          <p:cNvPr id="949" name="Google Shape;949;g3892c90d450_0_5"/>
          <p:cNvGrpSpPr/>
          <p:nvPr/>
        </p:nvGrpSpPr>
        <p:grpSpPr>
          <a:xfrm rot="10800000">
            <a:off x="8560875" y="4557750"/>
            <a:ext cx="476700" cy="502500"/>
            <a:chOff x="95250" y="112575"/>
            <a:chExt cx="476700" cy="502500"/>
          </a:xfrm>
        </p:grpSpPr>
        <p:cxnSp>
          <p:nvCxnSpPr>
            <p:cNvPr id="950" name="Google Shape;950;g3892c90d450_0_5"/>
            <p:cNvCxnSpPr/>
            <p:nvPr/>
          </p:nvCxnSpPr>
          <p:spPr>
            <a:xfrm>
              <a:off x="95250" y="112575"/>
              <a:ext cx="0" cy="502500"/>
            </a:xfrm>
            <a:prstGeom prst="straightConnector1">
              <a:avLst/>
            </a:prstGeom>
            <a:noFill/>
            <a:ln cap="flat" cmpd="sng" w="38100">
              <a:solidFill>
                <a:srgbClr val="E1D1D7"/>
              </a:solidFill>
              <a:prstDash val="solid"/>
              <a:round/>
              <a:headEnd len="sm" w="sm" type="none"/>
              <a:tailEnd len="sm" w="sm" type="none"/>
            </a:ln>
          </p:spPr>
        </p:cxnSp>
        <p:cxnSp>
          <p:nvCxnSpPr>
            <p:cNvPr id="951" name="Google Shape;951;g3892c90d450_0_5"/>
            <p:cNvCxnSpPr/>
            <p:nvPr/>
          </p:nvCxnSpPr>
          <p:spPr>
            <a:xfrm>
              <a:off x="95250" y="132425"/>
              <a:ext cx="476700" cy="0"/>
            </a:xfrm>
            <a:prstGeom prst="straightConnector1">
              <a:avLst/>
            </a:prstGeom>
            <a:noFill/>
            <a:ln cap="flat" cmpd="sng" w="38100">
              <a:solidFill>
                <a:srgbClr val="E1D1D7"/>
              </a:solidFill>
              <a:prstDash val="solid"/>
              <a:round/>
              <a:headEnd len="sm" w="sm" type="none"/>
              <a:tailEnd len="sm" w="sm" type="none"/>
            </a:ln>
          </p:spPr>
        </p:cxnSp>
      </p:grpSp>
      <p:sp>
        <p:nvSpPr>
          <p:cNvPr id="952" name="Google Shape;952;g3892c90d450_0_5"/>
          <p:cNvSpPr txBox="1"/>
          <p:nvPr/>
        </p:nvSpPr>
        <p:spPr>
          <a:xfrm>
            <a:off x="596025" y="1744089"/>
            <a:ext cx="8230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chemeClr val="dk1"/>
                </a:solidFill>
                <a:latin typeface="Open Sans"/>
                <a:ea typeface="Open Sans"/>
                <a:cs typeface="Open Sans"/>
                <a:sym typeface="Open Sans"/>
              </a:rPr>
              <a:t>Disclosure should be required only when usage goes beyond basic author support (defined as “refining, correcting, formatting, and editing text and documents”).</a:t>
            </a:r>
            <a:endParaRPr b="0" i="0" sz="900" u="none" cap="none" strike="noStrike">
              <a:solidFill>
                <a:schemeClr val="dk1"/>
              </a:solidFill>
              <a:latin typeface="Open Sans"/>
              <a:ea typeface="Open Sans"/>
              <a:cs typeface="Open Sans"/>
              <a:sym typeface="Open Sans"/>
            </a:endParaRPr>
          </a:p>
        </p:txBody>
      </p:sp>
      <p:sp>
        <p:nvSpPr>
          <p:cNvPr id="953" name="Google Shape;953;g3892c90d450_0_5"/>
          <p:cNvSpPr txBox="1"/>
          <p:nvPr/>
        </p:nvSpPr>
        <p:spPr>
          <a:xfrm>
            <a:off x="411500" y="4557750"/>
            <a:ext cx="7852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Open Sans"/>
                <a:ea typeface="Open Sans"/>
                <a:cs typeface="Open Sans"/>
                <a:sym typeface="Open Sans"/>
              </a:rPr>
              <a:t>white paper, Dec 2023, International Association of Scientific, Technical, and Medical Publishers</a:t>
            </a:r>
            <a:br>
              <a:rPr b="0" i="0" lang="en" sz="900" u="none" cap="none" strike="noStrike">
                <a:solidFill>
                  <a:schemeClr val="dk1"/>
                </a:solidFill>
                <a:latin typeface="Open Sans"/>
                <a:ea typeface="Open Sans"/>
                <a:cs typeface="Open Sans"/>
                <a:sym typeface="Open Sans"/>
              </a:rPr>
            </a:br>
            <a:r>
              <a:rPr b="0" i="0" lang="en" sz="900" u="none" cap="none" strike="noStrike">
                <a:solidFill>
                  <a:schemeClr val="dk1"/>
                </a:solidFill>
                <a:latin typeface="Open Sans"/>
                <a:ea typeface="Open Sans"/>
                <a:cs typeface="Open Sans"/>
                <a:sym typeface="Open Sans"/>
              </a:rPr>
              <a:t>Generative AI in Scholarly Communications: Ethical and Practical Guidelines for the Use of Generative AI in the Publication Process (STM, 2023)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g37eb8bae26d_0_132"/>
          <p:cNvSpPr txBox="1"/>
          <p:nvPr/>
        </p:nvSpPr>
        <p:spPr>
          <a:xfrm>
            <a:off x="0" y="40933"/>
            <a:ext cx="9144000" cy="585000"/>
          </a:xfrm>
          <a:prstGeom prst="rect">
            <a:avLst/>
          </a:prstGeom>
          <a:noFill/>
          <a:ln>
            <a:noFill/>
          </a:ln>
          <a:effectLst>
            <a:outerShdw blurRad="57150" rotWithShape="0" algn="bl" dir="5400000" dist="19050">
              <a:srgbClr val="D9D9D9">
                <a:alpha val="4862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2600" u="none" cap="none" strike="noStrike">
                <a:solidFill>
                  <a:schemeClr val="dk1"/>
                </a:solidFill>
                <a:latin typeface="Oswald"/>
                <a:ea typeface="Oswald"/>
                <a:cs typeface="Oswald"/>
                <a:sym typeface="Oswald"/>
              </a:rPr>
              <a:t>What’s the publisher’s point of view?</a:t>
            </a:r>
            <a:endParaRPr b="0" i="0" sz="2600" u="none" cap="none" strike="noStrike">
              <a:solidFill>
                <a:schemeClr val="dk1"/>
              </a:solidFill>
              <a:latin typeface="Oswald"/>
              <a:ea typeface="Oswald"/>
              <a:cs typeface="Oswald"/>
              <a:sym typeface="Oswald"/>
            </a:endParaRPr>
          </a:p>
        </p:txBody>
      </p:sp>
      <p:sp>
        <p:nvSpPr>
          <p:cNvPr id="959" name="Google Shape;959;g37eb8bae26d_0_132"/>
          <p:cNvSpPr txBox="1"/>
          <p:nvPr/>
        </p:nvSpPr>
        <p:spPr>
          <a:xfrm>
            <a:off x="447875" y="881350"/>
            <a:ext cx="7780200" cy="1499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 sz="1500" u="none" cap="none" strike="noStrike">
                <a:solidFill>
                  <a:schemeClr val="dk1"/>
                </a:solidFill>
                <a:latin typeface="Arial"/>
                <a:ea typeface="Arial"/>
                <a:cs typeface="Arial"/>
                <a:sym typeface="Arial"/>
              </a:rPr>
              <a:t>The allowable use of GAI and how it should be disclosed varies between publishers and journals.  Standardised guidelines have not yet been developed (</a:t>
            </a:r>
            <a:r>
              <a:rPr b="0" i="0" lang="en" sz="1500" u="sng" cap="none" strike="noStrike">
                <a:solidFill>
                  <a:schemeClr val="hlink"/>
                </a:solidFill>
                <a:latin typeface="Arial"/>
                <a:ea typeface="Arial"/>
                <a:cs typeface="Arial"/>
                <a:sym typeface="Arial"/>
                <a:hlinkClick r:id="rId3"/>
              </a:rPr>
              <a:t>Ganjavi, et al., 2024</a:t>
            </a:r>
            <a:r>
              <a:rPr b="0" i="0" lang="en"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 sz="1500" u="sng" cap="none" strike="noStrike">
                <a:solidFill>
                  <a:schemeClr val="hlink"/>
                </a:solidFill>
                <a:latin typeface="Arial"/>
                <a:ea typeface="Arial"/>
                <a:cs typeface="Arial"/>
                <a:sym typeface="Arial"/>
                <a:hlinkClick r:id="rId4"/>
              </a:rPr>
              <a:t>Activity</a:t>
            </a:r>
            <a:r>
              <a:rPr b="0" i="0" lang="en" sz="1500" u="none" cap="none" strike="noStrike">
                <a:solidFill>
                  <a:schemeClr val="dk1"/>
                </a:solidFill>
                <a:latin typeface="Arial"/>
                <a:ea typeface="Arial"/>
                <a:cs typeface="Arial"/>
                <a:sym typeface="Arial"/>
              </a:rPr>
              <a:t> (in pairs): </a:t>
            </a:r>
            <a:br>
              <a:rPr b="0" i="0" lang="en" sz="1100" u="none" cap="none" strike="noStrike">
                <a:solidFill>
                  <a:schemeClr val="dk1"/>
                </a:solidFill>
                <a:latin typeface="Arial"/>
                <a:ea typeface="Arial"/>
                <a:cs typeface="Arial"/>
                <a:sym typeface="Arial"/>
              </a:rPr>
            </a:br>
            <a:br>
              <a:rPr b="0" i="0" lang="en" sz="1100" u="none" cap="none" strike="noStrike">
                <a:solidFill>
                  <a:schemeClr val="dk1"/>
                </a:solidFill>
                <a:latin typeface="Arial"/>
                <a:ea typeface="Arial"/>
                <a:cs typeface="Arial"/>
                <a:sym typeface="Arial"/>
              </a:rPr>
            </a:br>
            <a:endParaRPr b="0" i="0" sz="1100" u="sng" cap="none" strike="noStrike">
              <a:solidFill>
                <a:schemeClr val="hlink"/>
              </a:solidFill>
              <a:latin typeface="Arial"/>
              <a:ea typeface="Arial"/>
              <a:cs typeface="Arial"/>
              <a:sym typeface="Arial"/>
            </a:endParaRPr>
          </a:p>
        </p:txBody>
      </p:sp>
      <p:sp>
        <p:nvSpPr>
          <p:cNvPr id="960" name="Google Shape;960;g37eb8bae26d_0_132"/>
          <p:cNvSpPr txBox="1"/>
          <p:nvPr/>
        </p:nvSpPr>
        <p:spPr>
          <a:xfrm>
            <a:off x="181100" y="4810250"/>
            <a:ext cx="8084700" cy="29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chemeClr val="dk1"/>
                </a:solidFill>
                <a:latin typeface="Arial"/>
                <a:ea typeface="Arial"/>
                <a:cs typeface="Arial"/>
                <a:sym typeface="Arial"/>
              </a:rPr>
              <a:t>Charles Sturt University Library. (2024). </a:t>
            </a:r>
            <a:r>
              <a:rPr b="0" i="1" lang="en" sz="700" u="none" cap="none" strike="noStrike">
                <a:solidFill>
                  <a:schemeClr val="dk1"/>
                </a:solidFill>
                <a:latin typeface="Arial"/>
                <a:ea typeface="Arial"/>
                <a:cs typeface="Arial"/>
                <a:sym typeface="Arial"/>
              </a:rPr>
              <a:t>Using AI tools at university</a:t>
            </a:r>
            <a:r>
              <a:rPr b="0" i="0" lang="en" sz="700" u="none" cap="none" strike="noStrike">
                <a:solidFill>
                  <a:schemeClr val="dk1"/>
                </a:solidFill>
                <a:latin typeface="Arial"/>
                <a:ea typeface="Arial"/>
                <a:cs typeface="Arial"/>
                <a:sym typeface="Arial"/>
              </a:rPr>
              <a:t>. Charles Sturt University. Retrieved from</a:t>
            </a:r>
            <a:r>
              <a:rPr b="0" i="0" lang="en" sz="700" u="none" cap="none" strike="noStrike">
                <a:solidFill>
                  <a:schemeClr val="dk1"/>
                </a:solidFill>
                <a:uFill>
                  <a:noFill/>
                </a:uFill>
                <a:latin typeface="Arial"/>
                <a:ea typeface="Arial"/>
                <a:cs typeface="Arial"/>
                <a:sym typeface="Arial"/>
                <a:hlinkClick r:id="rId5">
                  <a:extLst>
                    <a:ext uri="{A12FA001-AC4F-418D-AE19-62706E023703}">
                      <ahyp:hlinkClr val="tx"/>
                    </a:ext>
                  </a:extLst>
                </a:hlinkClick>
              </a:rPr>
              <a:t> </a:t>
            </a:r>
            <a:r>
              <a:rPr b="0" i="0" lang="en" sz="700" u="sng" cap="none" strike="noStrike">
                <a:solidFill>
                  <a:schemeClr val="hlink"/>
                </a:solidFill>
                <a:latin typeface="Arial"/>
                <a:ea typeface="Arial"/>
                <a:cs typeface="Arial"/>
                <a:sym typeface="Arial"/>
                <a:hlinkClick r:id="rId6"/>
              </a:rPr>
              <a:t>https://opentext.csu.edu.au/usingai</a:t>
            </a:r>
            <a:endParaRPr b="0" i="0" sz="700" u="none" cap="none" strike="noStrike">
              <a:solidFill>
                <a:srgbClr val="000000"/>
              </a:solidFill>
              <a:latin typeface="Arial"/>
              <a:ea typeface="Arial"/>
              <a:cs typeface="Arial"/>
              <a:sym typeface="Arial"/>
            </a:endParaRPr>
          </a:p>
        </p:txBody>
      </p:sp>
      <p:sp>
        <p:nvSpPr>
          <p:cNvPr id="961" name="Google Shape;961;g37eb8bae26d_0_132"/>
          <p:cNvSpPr txBox="1"/>
          <p:nvPr/>
        </p:nvSpPr>
        <p:spPr>
          <a:xfrm>
            <a:off x="1575774" y="1946657"/>
            <a:ext cx="71850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2400"/>
              <a:buFont typeface="Arial"/>
              <a:buNone/>
            </a:pPr>
            <a:r>
              <a:rPr b="0" i="0" lang="en" sz="2000" u="none" cap="none" strike="noStrike">
                <a:solidFill>
                  <a:schemeClr val="dk1"/>
                </a:solidFill>
                <a:latin typeface="Open Sans"/>
                <a:ea typeface="Open Sans"/>
                <a:cs typeface="Open Sans"/>
                <a:sym typeface="Open Sans"/>
              </a:rPr>
              <a:t>─ Use Perplexity as a chatbot</a:t>
            </a:r>
            <a:endParaRPr b="1" i="0" sz="20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2000" u="none" cap="none" strike="noStrike">
                <a:solidFill>
                  <a:schemeClr val="dk1"/>
                </a:solidFill>
                <a:latin typeface="Open Sans"/>
                <a:ea typeface="Open Sans"/>
                <a:cs typeface="Open Sans"/>
                <a:sym typeface="Open Sans"/>
              </a:rPr>
              <a:t>─ Formulate a prompt for a comparative analysis of policies about GenAI use for writing and illustrations.</a:t>
            </a:r>
            <a:endParaRPr b="1" i="0" sz="20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2000" u="none" cap="none" strike="noStrike">
                <a:solidFill>
                  <a:schemeClr val="dk1"/>
                </a:solidFill>
                <a:latin typeface="Open Sans"/>
                <a:ea typeface="Open Sans"/>
                <a:cs typeface="Open Sans"/>
                <a:sym typeface="Open Sans"/>
              </a:rPr>
              <a:t>─ Reflect with your partner about accuracy, </a:t>
            </a:r>
            <a:endParaRPr b="0" i="0" sz="20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rgbClr val="000000"/>
              </a:buClr>
              <a:buSzPts val="2400"/>
              <a:buFont typeface="Arial"/>
              <a:buNone/>
            </a:pPr>
            <a:r>
              <a:rPr b="0" i="0" lang="en" sz="2000" u="none" cap="none" strike="noStrike">
                <a:solidFill>
                  <a:schemeClr val="dk1"/>
                </a:solidFill>
                <a:latin typeface="Open Sans"/>
                <a:ea typeface="Open Sans"/>
                <a:cs typeface="Open Sans"/>
                <a:sym typeface="Open Sans"/>
              </a:rPr>
              <a:t>─ Write down at least two reflections in share doc</a:t>
            </a:r>
            <a:endParaRPr b="0" i="0" sz="2000" u="none" cap="none" strike="noStrike">
              <a:solidFill>
                <a:schemeClr val="dk1"/>
              </a:solidFill>
              <a:latin typeface="Open Sans"/>
              <a:ea typeface="Open Sans"/>
              <a:cs typeface="Open Sans"/>
              <a:sym typeface="Open Sans"/>
            </a:endParaRPr>
          </a:p>
        </p:txBody>
      </p:sp>
      <p:sp>
        <p:nvSpPr>
          <p:cNvPr id="962" name="Google Shape;962;g37eb8bae26d_0_132"/>
          <p:cNvSpPr txBox="1"/>
          <p:nvPr/>
        </p:nvSpPr>
        <p:spPr>
          <a:xfrm>
            <a:off x="1114448" y="1946649"/>
            <a:ext cx="6198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accent5"/>
                </a:solidFill>
                <a:latin typeface="Cabin Sketch"/>
                <a:ea typeface="Cabin Sketch"/>
                <a:cs typeface="Cabin Sketch"/>
                <a:sym typeface="Cabin Sketch"/>
              </a:rPr>
              <a:t>1</a:t>
            </a:r>
            <a:endParaRPr b="1" i="0" sz="2300" u="none" cap="none" strike="noStrike">
              <a:solidFill>
                <a:schemeClr val="accent5"/>
              </a:solidFill>
              <a:latin typeface="Cabin Sketch"/>
              <a:ea typeface="Cabin Sketch"/>
              <a:cs typeface="Cabin Sketch"/>
              <a:sym typeface="Cabin Sketch"/>
            </a:endParaRPr>
          </a:p>
        </p:txBody>
      </p:sp>
      <p:sp>
        <p:nvSpPr>
          <p:cNvPr id="963" name="Google Shape;963;g37eb8bae26d_0_132"/>
          <p:cNvSpPr txBox="1"/>
          <p:nvPr/>
        </p:nvSpPr>
        <p:spPr>
          <a:xfrm>
            <a:off x="1114448" y="2544486"/>
            <a:ext cx="6198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accent5"/>
                </a:solidFill>
                <a:latin typeface="Cabin Sketch"/>
                <a:ea typeface="Cabin Sketch"/>
                <a:cs typeface="Cabin Sketch"/>
                <a:sym typeface="Cabin Sketch"/>
              </a:rPr>
              <a:t>2</a:t>
            </a:r>
            <a:endParaRPr b="1" i="0" sz="2300" u="none" cap="none" strike="noStrike">
              <a:solidFill>
                <a:schemeClr val="accent5"/>
              </a:solidFill>
              <a:latin typeface="Cabin Sketch"/>
              <a:ea typeface="Cabin Sketch"/>
              <a:cs typeface="Cabin Sketch"/>
              <a:sym typeface="Cabin Sketch"/>
            </a:endParaRPr>
          </a:p>
        </p:txBody>
      </p:sp>
      <p:sp>
        <p:nvSpPr>
          <p:cNvPr id="964" name="Google Shape;964;g37eb8bae26d_0_132"/>
          <p:cNvSpPr txBox="1"/>
          <p:nvPr/>
        </p:nvSpPr>
        <p:spPr>
          <a:xfrm>
            <a:off x="1114448" y="4368036"/>
            <a:ext cx="6198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accent5"/>
                </a:solidFill>
                <a:latin typeface="Cabin Sketch"/>
                <a:ea typeface="Cabin Sketch"/>
                <a:cs typeface="Cabin Sketch"/>
                <a:sym typeface="Cabin Sketch"/>
              </a:rPr>
              <a:t>4</a:t>
            </a:r>
            <a:endParaRPr b="1" i="0" sz="2300" u="none" cap="none" strike="noStrike">
              <a:solidFill>
                <a:schemeClr val="accent5"/>
              </a:solidFill>
              <a:latin typeface="Cabin Sketch"/>
              <a:ea typeface="Cabin Sketch"/>
              <a:cs typeface="Cabin Sketch"/>
              <a:sym typeface="Cabin Sketch"/>
            </a:endParaRPr>
          </a:p>
        </p:txBody>
      </p:sp>
      <p:sp>
        <p:nvSpPr>
          <p:cNvPr id="965" name="Google Shape;965;g37eb8bae26d_0_132"/>
          <p:cNvSpPr txBox="1"/>
          <p:nvPr/>
        </p:nvSpPr>
        <p:spPr>
          <a:xfrm>
            <a:off x="1114448" y="3757611"/>
            <a:ext cx="6198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accent5"/>
                </a:solidFill>
                <a:latin typeface="Cabin Sketch"/>
                <a:ea typeface="Cabin Sketch"/>
                <a:cs typeface="Cabin Sketch"/>
                <a:sym typeface="Cabin Sketch"/>
              </a:rPr>
              <a:t>3</a:t>
            </a:r>
            <a:endParaRPr b="1" i="0" sz="2300" u="none" cap="none" strike="noStrike">
              <a:solidFill>
                <a:schemeClr val="accent5"/>
              </a:solidFill>
              <a:latin typeface="Cabin Sketch"/>
              <a:ea typeface="Cabin Sketch"/>
              <a:cs typeface="Cabin Sketch"/>
              <a:sym typeface="Cabin Sketch"/>
            </a:endParaRPr>
          </a:p>
        </p:txBody>
      </p:sp>
      <p:sp>
        <p:nvSpPr>
          <p:cNvPr id="966" name="Google Shape;966;g37eb8bae26d_0_132"/>
          <p:cNvSpPr txBox="1"/>
          <p:nvPr/>
        </p:nvSpPr>
        <p:spPr>
          <a:xfrm>
            <a:off x="6156451" y="16061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JetBrains Mono"/>
                <a:ea typeface="JetBrains Mono"/>
                <a:cs typeface="JetBrains Mono"/>
                <a:sym typeface="JetBrains Mono"/>
              </a:rPr>
              <a:t>https://shorturl.at/XSrIY</a:t>
            </a:r>
            <a:endParaRPr b="0" i="0" sz="1400" u="none" cap="none" strike="noStrike">
              <a:solidFill>
                <a:srgbClr val="000000"/>
              </a:solidFill>
              <a:latin typeface="JetBrains Mono"/>
              <a:ea typeface="JetBrains Mono"/>
              <a:cs typeface="JetBrains Mono"/>
              <a:sym typeface="JetBrains Mono"/>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37eb8bae26d_0_25"/>
          <p:cNvSpPr txBox="1"/>
          <p:nvPr/>
        </p:nvSpPr>
        <p:spPr>
          <a:xfrm>
            <a:off x="-50" y="286550"/>
            <a:ext cx="9144000" cy="585000"/>
          </a:xfrm>
          <a:prstGeom prst="rect">
            <a:avLst/>
          </a:prstGeom>
          <a:noFill/>
          <a:ln>
            <a:noFill/>
          </a:ln>
          <a:effectLst>
            <a:outerShdw blurRad="57150" rotWithShape="0" algn="bl" dir="5400000" dist="19050">
              <a:srgbClr val="D9D9D9">
                <a:alpha val="4862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Infographics</a:t>
            </a:r>
            <a:endParaRPr b="0" i="0" sz="2600" u="none" cap="none" strike="noStrike">
              <a:solidFill>
                <a:schemeClr val="dk1"/>
              </a:solidFill>
              <a:latin typeface="Oswald"/>
              <a:ea typeface="Oswald"/>
              <a:cs typeface="Oswald"/>
              <a:sym typeface="Oswald"/>
            </a:endParaRPr>
          </a:p>
        </p:txBody>
      </p:sp>
      <p:pic>
        <p:nvPicPr>
          <p:cNvPr descr="Plate with solid fill" id="972" name="Google Shape;972;g37eb8bae26d_0_25"/>
          <p:cNvPicPr preferRelativeResize="0"/>
          <p:nvPr/>
        </p:nvPicPr>
        <p:blipFill rotWithShape="1">
          <a:blip r:embed="rId3">
            <a:alphaModFix/>
          </a:blip>
          <a:srcRect b="0" l="0" r="0" t="0"/>
          <a:stretch/>
        </p:blipFill>
        <p:spPr>
          <a:xfrm>
            <a:off x="626914" y="2384919"/>
            <a:ext cx="7890180" cy="2360584"/>
          </a:xfrm>
          <a:prstGeom prst="rect">
            <a:avLst/>
          </a:prstGeom>
          <a:noFill/>
          <a:ln>
            <a:noFill/>
          </a:ln>
        </p:spPr>
      </p:pic>
      <p:sp>
        <p:nvSpPr>
          <p:cNvPr id="973" name="Google Shape;973;g37eb8bae26d_0_25"/>
          <p:cNvSpPr/>
          <p:nvPr/>
        </p:nvSpPr>
        <p:spPr>
          <a:xfrm>
            <a:off x="858625" y="3039825"/>
            <a:ext cx="7426800" cy="1062900"/>
          </a:xfrm>
          <a:prstGeom prst="ellipse">
            <a:avLst/>
          </a:prstGeom>
          <a:solidFill>
            <a:srgbClr val="FFFFFF">
              <a:alpha val="6470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g37eb8bae26d_0_25"/>
          <p:cNvSpPr/>
          <p:nvPr/>
        </p:nvSpPr>
        <p:spPr>
          <a:xfrm>
            <a:off x="2441598" y="1640729"/>
            <a:ext cx="4422000" cy="547200"/>
          </a:xfrm>
          <a:prstGeom prst="round2SameRect">
            <a:avLst>
              <a:gd fmla="val 50000" name="adj1"/>
              <a:gd fmla="val 50000" name="adj2"/>
            </a:avLst>
          </a:prstGeom>
          <a:solidFill>
            <a:srgbClr val="93BBC2"/>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AI Creation with Napkin.AI</a:t>
            </a:r>
            <a:endParaRPr b="1" i="0" sz="1800" u="none" cap="none" strike="noStrike">
              <a:solidFill>
                <a:schemeClr val="dk1"/>
              </a:solidFill>
              <a:latin typeface="Arial"/>
              <a:ea typeface="Arial"/>
              <a:cs typeface="Arial"/>
              <a:sym typeface="Arial"/>
            </a:endParaRPr>
          </a:p>
        </p:txBody>
      </p:sp>
      <p:sp>
        <p:nvSpPr>
          <p:cNvPr id="975" name="Google Shape;975;g37eb8bae26d_0_25"/>
          <p:cNvSpPr/>
          <p:nvPr/>
        </p:nvSpPr>
        <p:spPr>
          <a:xfrm>
            <a:off x="2441598" y="2910224"/>
            <a:ext cx="4422000" cy="547200"/>
          </a:xfrm>
          <a:prstGeom prst="round2SameRect">
            <a:avLst>
              <a:gd fmla="val 50000" name="adj1"/>
              <a:gd fmla="val 50000" name="adj2"/>
            </a:avLst>
          </a:prstGeom>
          <a:solidFill>
            <a:srgbClr val="93BBC2"/>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 AI supports feedback</a:t>
            </a:r>
            <a:endParaRPr b="1" i="0" sz="1800" u="none" cap="none" strike="noStrike">
              <a:solidFill>
                <a:schemeClr val="dk1"/>
              </a:solidFill>
              <a:latin typeface="Arial"/>
              <a:ea typeface="Arial"/>
              <a:cs typeface="Arial"/>
              <a:sym typeface="Arial"/>
            </a:endParaRPr>
          </a:p>
        </p:txBody>
      </p:sp>
      <p:sp>
        <p:nvSpPr>
          <p:cNvPr id="976" name="Google Shape;976;g37eb8bae26d_0_25"/>
          <p:cNvSpPr/>
          <p:nvPr/>
        </p:nvSpPr>
        <p:spPr>
          <a:xfrm>
            <a:off x="2049575" y="2275475"/>
            <a:ext cx="5188200" cy="547200"/>
          </a:xfrm>
          <a:prstGeom prst="round2SameRect">
            <a:avLst>
              <a:gd fmla="val 50000" name="adj1"/>
              <a:gd fmla="val 50000" name="adj2"/>
            </a:avLst>
          </a:prstGeom>
          <a:solidFill>
            <a:srgbClr val="FCE5CD"/>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Human Editing with Inkscape</a:t>
            </a:r>
            <a:endParaRPr b="1" i="0" sz="1800" u="none" cap="none" strike="noStrike">
              <a:solidFill>
                <a:schemeClr val="dk1"/>
              </a:solidFill>
              <a:latin typeface="Arial"/>
              <a:ea typeface="Arial"/>
              <a:cs typeface="Arial"/>
              <a:sym typeface="Arial"/>
            </a:endParaRPr>
          </a:p>
        </p:txBody>
      </p:sp>
      <p:sp>
        <p:nvSpPr>
          <p:cNvPr id="977" name="Google Shape;977;g37eb8bae26d_0_25"/>
          <p:cNvSpPr txBox="1"/>
          <p:nvPr/>
        </p:nvSpPr>
        <p:spPr>
          <a:xfrm>
            <a:off x="626928" y="3468775"/>
            <a:ext cx="7890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Human QC</a:t>
            </a:r>
            <a:endParaRPr b="1" i="0" sz="1800" u="none" cap="none" strike="noStrike">
              <a:solidFill>
                <a:schemeClr val="dk1"/>
              </a:solidFill>
              <a:latin typeface="Arial"/>
              <a:ea typeface="Arial"/>
              <a:cs typeface="Arial"/>
              <a:sym typeface="Arial"/>
            </a:endParaRPr>
          </a:p>
        </p:txBody>
      </p:sp>
      <p:sp>
        <p:nvSpPr>
          <p:cNvPr id="978" name="Google Shape;978;g37eb8bae26d_0_25"/>
          <p:cNvSpPr txBox="1"/>
          <p:nvPr/>
        </p:nvSpPr>
        <p:spPr>
          <a:xfrm>
            <a:off x="3152600" y="4585550"/>
            <a:ext cx="3000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https://napkin.AI</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grpSp>
        <p:nvGrpSpPr>
          <p:cNvPr id="983" name="Google Shape;983;g3d156131998_0_19"/>
          <p:cNvGrpSpPr/>
          <p:nvPr/>
        </p:nvGrpSpPr>
        <p:grpSpPr>
          <a:xfrm>
            <a:off x="1850586" y="887325"/>
            <a:ext cx="5814792" cy="4123723"/>
            <a:chOff x="2397175" y="887325"/>
            <a:chExt cx="5814792" cy="4123723"/>
          </a:xfrm>
        </p:grpSpPr>
        <p:pic>
          <p:nvPicPr>
            <p:cNvPr id="984" name="Google Shape;984;g3d156131998_0_19" title="From-Literature-Search-to-Writing.png"/>
            <p:cNvPicPr preferRelativeResize="0"/>
            <p:nvPr/>
          </p:nvPicPr>
          <p:blipFill rotWithShape="1">
            <a:blip r:embed="rId3">
              <a:alphaModFix/>
            </a:blip>
            <a:srcRect b="54801" l="0" r="32836" t="10609"/>
            <a:stretch/>
          </p:blipFill>
          <p:spPr>
            <a:xfrm>
              <a:off x="2397175" y="918100"/>
              <a:ext cx="5615424" cy="4092948"/>
            </a:xfrm>
            <a:prstGeom prst="rect">
              <a:avLst/>
            </a:prstGeom>
            <a:noFill/>
            <a:ln>
              <a:noFill/>
            </a:ln>
          </p:spPr>
        </p:pic>
        <p:sp>
          <p:nvSpPr>
            <p:cNvPr id="985" name="Google Shape;985;g3d156131998_0_19"/>
            <p:cNvSpPr/>
            <p:nvPr/>
          </p:nvSpPr>
          <p:spPr>
            <a:xfrm flipH="1">
              <a:off x="6593767" y="887325"/>
              <a:ext cx="1618200" cy="3922800"/>
            </a:xfrm>
            <a:prstGeom prst="rtTriangle">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6" name="Google Shape;986;g3d156131998_0_19"/>
          <p:cNvSpPr txBox="1"/>
          <p:nvPr/>
        </p:nvSpPr>
        <p:spPr>
          <a:xfrm>
            <a:off x="153600" y="88750"/>
            <a:ext cx="80688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When can I use what?</a:t>
            </a:r>
            <a:endParaRPr b="0" i="0" sz="3200" u="none" cap="none" strike="noStrike">
              <a:solidFill>
                <a:schemeClr val="dk1"/>
              </a:solidFill>
              <a:latin typeface="Oswald"/>
              <a:ea typeface="Oswald"/>
              <a:cs typeface="Oswald"/>
              <a:sym typeface="Oswald"/>
            </a:endParaRPr>
          </a:p>
        </p:txBody>
      </p:sp>
      <p:pic>
        <p:nvPicPr>
          <p:cNvPr descr="Image of SciSpace logo" id="987" name="Google Shape;987;g3d156131998_0_19"/>
          <p:cNvPicPr preferRelativeResize="0"/>
          <p:nvPr/>
        </p:nvPicPr>
        <p:blipFill rotWithShape="1">
          <a:blip r:embed="rId4">
            <a:alphaModFix/>
          </a:blip>
          <a:srcRect b="16278" l="2588" r="4311" t="12548"/>
          <a:stretch/>
        </p:blipFill>
        <p:spPr>
          <a:xfrm>
            <a:off x="6860675" y="2905100"/>
            <a:ext cx="2097249" cy="431100"/>
          </a:xfrm>
          <a:prstGeom prst="rect">
            <a:avLst/>
          </a:prstGeom>
          <a:noFill/>
          <a:ln>
            <a:noFill/>
          </a:ln>
        </p:spPr>
      </p:pic>
      <p:pic>
        <p:nvPicPr>
          <p:cNvPr id="988" name="Google Shape;988;g3d156131998_0_19"/>
          <p:cNvPicPr preferRelativeResize="0"/>
          <p:nvPr/>
        </p:nvPicPr>
        <p:blipFill rotWithShape="1">
          <a:blip r:embed="rId5">
            <a:alphaModFix/>
          </a:blip>
          <a:srcRect b="0" l="0" r="0" t="0"/>
          <a:stretch/>
        </p:blipFill>
        <p:spPr>
          <a:xfrm>
            <a:off x="6734177" y="3654896"/>
            <a:ext cx="523875" cy="493620"/>
          </a:xfrm>
          <a:prstGeom prst="rect">
            <a:avLst/>
          </a:prstGeom>
          <a:noFill/>
          <a:ln>
            <a:noFill/>
          </a:ln>
        </p:spPr>
      </p:pic>
      <p:sp>
        <p:nvSpPr>
          <p:cNvPr id="989" name="Google Shape;989;g3d156131998_0_19"/>
          <p:cNvSpPr txBox="1"/>
          <p:nvPr/>
        </p:nvSpPr>
        <p:spPr>
          <a:xfrm>
            <a:off x="7304027" y="3563158"/>
            <a:ext cx="1471200" cy="708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Arial"/>
                <a:ea typeface="Arial"/>
                <a:cs typeface="Arial"/>
                <a:sym typeface="Arial"/>
              </a:rPr>
              <a:t>Personal agents</a:t>
            </a:r>
            <a:endParaRPr b="1" i="0" sz="1700" u="none" cap="none" strike="noStrike">
              <a:solidFill>
                <a:schemeClr val="dk1"/>
              </a:solidFill>
              <a:latin typeface="Arial"/>
              <a:ea typeface="Arial"/>
              <a:cs typeface="Arial"/>
              <a:sym typeface="Arial"/>
            </a:endParaRPr>
          </a:p>
        </p:txBody>
      </p:sp>
      <p:grpSp>
        <p:nvGrpSpPr>
          <p:cNvPr id="990" name="Google Shape;990;g3d156131998_0_19"/>
          <p:cNvGrpSpPr/>
          <p:nvPr/>
        </p:nvGrpSpPr>
        <p:grpSpPr>
          <a:xfrm>
            <a:off x="162121" y="1862550"/>
            <a:ext cx="3032659" cy="691026"/>
            <a:chOff x="301821" y="1862550"/>
            <a:chExt cx="3032659" cy="691026"/>
          </a:xfrm>
        </p:grpSpPr>
        <p:pic>
          <p:nvPicPr>
            <p:cNvPr descr="Image of ResearchRabbit logo" id="991" name="Google Shape;991;g3d156131998_0_19"/>
            <p:cNvPicPr preferRelativeResize="0"/>
            <p:nvPr/>
          </p:nvPicPr>
          <p:blipFill rotWithShape="1">
            <a:blip r:embed="rId6">
              <a:alphaModFix/>
            </a:blip>
            <a:srcRect b="5482" l="19058" r="18946" t="0"/>
            <a:stretch/>
          </p:blipFill>
          <p:spPr>
            <a:xfrm>
              <a:off x="1953761" y="1971116"/>
              <a:ext cx="1210652" cy="461077"/>
            </a:xfrm>
            <a:prstGeom prst="rect">
              <a:avLst/>
            </a:prstGeom>
            <a:noFill/>
            <a:ln>
              <a:noFill/>
            </a:ln>
          </p:spPr>
        </p:pic>
        <p:pic>
          <p:nvPicPr>
            <p:cNvPr descr="Image of perplexity.ai logo" id="992" name="Google Shape;992;g3d156131998_0_19"/>
            <p:cNvPicPr preferRelativeResize="0"/>
            <p:nvPr/>
          </p:nvPicPr>
          <p:blipFill rotWithShape="1">
            <a:blip r:embed="rId7">
              <a:alphaModFix/>
            </a:blip>
            <a:srcRect b="0" l="0" r="0" t="0"/>
            <a:stretch/>
          </p:blipFill>
          <p:spPr>
            <a:xfrm>
              <a:off x="301821" y="1862550"/>
              <a:ext cx="1517184" cy="332929"/>
            </a:xfrm>
            <a:prstGeom prst="rect">
              <a:avLst/>
            </a:prstGeom>
            <a:noFill/>
            <a:ln>
              <a:noFill/>
            </a:ln>
          </p:spPr>
        </p:pic>
        <p:pic>
          <p:nvPicPr>
            <p:cNvPr id="993" name="Google Shape;993;g3d156131998_0_19" title="Screenshot 2025-09-22 at 20.06.29.png"/>
            <p:cNvPicPr preferRelativeResize="0"/>
            <p:nvPr/>
          </p:nvPicPr>
          <p:blipFill rotWithShape="1">
            <a:blip r:embed="rId8">
              <a:alphaModFix/>
            </a:blip>
            <a:srcRect b="0" l="0" r="0" t="0"/>
            <a:stretch/>
          </p:blipFill>
          <p:spPr>
            <a:xfrm>
              <a:off x="965230" y="2164172"/>
              <a:ext cx="861182" cy="389404"/>
            </a:xfrm>
            <a:prstGeom prst="rect">
              <a:avLst/>
            </a:prstGeom>
            <a:noFill/>
            <a:ln>
              <a:noFill/>
            </a:ln>
          </p:spPr>
        </p:pic>
        <p:cxnSp>
          <p:nvCxnSpPr>
            <p:cNvPr id="994" name="Google Shape;994;g3d156131998_0_19"/>
            <p:cNvCxnSpPr/>
            <p:nvPr/>
          </p:nvCxnSpPr>
          <p:spPr>
            <a:xfrm>
              <a:off x="3334480" y="1992995"/>
              <a:ext cx="0" cy="417300"/>
            </a:xfrm>
            <a:prstGeom prst="straightConnector1">
              <a:avLst/>
            </a:prstGeom>
            <a:noFill/>
            <a:ln cap="flat" cmpd="sng" w="38100">
              <a:solidFill>
                <a:srgbClr val="A4C2F4"/>
              </a:solidFill>
              <a:prstDash val="solid"/>
              <a:round/>
              <a:headEnd len="sm" w="sm" type="none"/>
              <a:tailEnd len="sm" w="sm" type="none"/>
            </a:ln>
          </p:spPr>
        </p:cxnSp>
      </p:grpSp>
      <p:grpSp>
        <p:nvGrpSpPr>
          <p:cNvPr id="995" name="Google Shape;995;g3d156131998_0_19"/>
          <p:cNvGrpSpPr/>
          <p:nvPr/>
        </p:nvGrpSpPr>
        <p:grpSpPr>
          <a:xfrm>
            <a:off x="-150822" y="1286800"/>
            <a:ext cx="3057570" cy="431100"/>
            <a:chOff x="-11122" y="1286800"/>
            <a:chExt cx="3057570" cy="431100"/>
          </a:xfrm>
        </p:grpSpPr>
        <p:sp>
          <p:nvSpPr>
            <p:cNvPr id="996" name="Google Shape;996;g3d156131998_0_19"/>
            <p:cNvSpPr txBox="1"/>
            <p:nvPr/>
          </p:nvSpPr>
          <p:spPr>
            <a:xfrm>
              <a:off x="-11122" y="1286800"/>
              <a:ext cx="2963100" cy="4311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600"/>
                <a:buFont typeface="Arial"/>
                <a:buNone/>
              </a:pPr>
              <a:r>
                <a:rPr b="1" i="0" lang="en" sz="1600" u="none" cap="none" strike="noStrike">
                  <a:solidFill>
                    <a:schemeClr val="accent1"/>
                  </a:solidFill>
                  <a:latin typeface="Arial"/>
                  <a:ea typeface="Arial"/>
                  <a:cs typeface="Arial"/>
                  <a:sym typeface="Arial"/>
                </a:rPr>
                <a:t>Generate search string</a:t>
              </a:r>
              <a:endParaRPr b="1" i="0" sz="1600" u="none" cap="none" strike="noStrike">
                <a:solidFill>
                  <a:schemeClr val="accent1"/>
                </a:solidFill>
                <a:latin typeface="Arial"/>
                <a:ea typeface="Arial"/>
                <a:cs typeface="Arial"/>
                <a:sym typeface="Arial"/>
              </a:endParaRPr>
            </a:p>
          </p:txBody>
        </p:sp>
        <p:cxnSp>
          <p:nvCxnSpPr>
            <p:cNvPr id="997" name="Google Shape;997;g3d156131998_0_19"/>
            <p:cNvCxnSpPr/>
            <p:nvPr/>
          </p:nvCxnSpPr>
          <p:spPr>
            <a:xfrm>
              <a:off x="3046448" y="1293708"/>
              <a:ext cx="0" cy="417300"/>
            </a:xfrm>
            <a:prstGeom prst="straightConnector1">
              <a:avLst/>
            </a:prstGeom>
            <a:noFill/>
            <a:ln cap="flat" cmpd="sng" w="38100">
              <a:solidFill>
                <a:srgbClr val="C9DAF8"/>
              </a:solidFill>
              <a:prstDash val="solid"/>
              <a:round/>
              <a:headEnd len="sm" w="sm" type="none"/>
              <a:tailEnd len="sm" w="sm" type="none"/>
            </a:ln>
          </p:spPr>
        </p:cxnSp>
      </p:grpSp>
      <p:grpSp>
        <p:nvGrpSpPr>
          <p:cNvPr id="998" name="Google Shape;998;g3d156131998_0_19"/>
          <p:cNvGrpSpPr/>
          <p:nvPr/>
        </p:nvGrpSpPr>
        <p:grpSpPr>
          <a:xfrm>
            <a:off x="271100" y="2685381"/>
            <a:ext cx="3246307" cy="493625"/>
            <a:chOff x="410800" y="2685381"/>
            <a:chExt cx="3246307" cy="493625"/>
          </a:xfrm>
        </p:grpSpPr>
        <p:cxnSp>
          <p:nvCxnSpPr>
            <p:cNvPr id="999" name="Google Shape;999;g3d156131998_0_19"/>
            <p:cNvCxnSpPr/>
            <p:nvPr/>
          </p:nvCxnSpPr>
          <p:spPr>
            <a:xfrm>
              <a:off x="3657107" y="2696959"/>
              <a:ext cx="0" cy="417300"/>
            </a:xfrm>
            <a:prstGeom prst="straightConnector1">
              <a:avLst/>
            </a:prstGeom>
            <a:noFill/>
            <a:ln cap="flat" cmpd="sng" w="38100">
              <a:solidFill>
                <a:srgbClr val="6D9EEB"/>
              </a:solidFill>
              <a:prstDash val="solid"/>
              <a:round/>
              <a:headEnd len="sm" w="sm" type="none"/>
              <a:tailEnd len="sm" w="sm" type="none"/>
            </a:ln>
          </p:spPr>
        </p:cxnSp>
        <p:pic>
          <p:nvPicPr>
            <p:cNvPr id="1000" name="Google Shape;1000;g3d156131998_0_19" title="Screenshot 2026-03-14 at 17.19.35.png"/>
            <p:cNvPicPr preferRelativeResize="0"/>
            <p:nvPr/>
          </p:nvPicPr>
          <p:blipFill rotWithShape="1">
            <a:blip r:embed="rId9">
              <a:alphaModFix/>
            </a:blip>
            <a:srcRect b="0" l="0" r="0" t="0"/>
            <a:stretch/>
          </p:blipFill>
          <p:spPr>
            <a:xfrm>
              <a:off x="1789432" y="2685381"/>
              <a:ext cx="1851115" cy="493625"/>
            </a:xfrm>
            <a:prstGeom prst="rect">
              <a:avLst/>
            </a:prstGeom>
            <a:noFill/>
            <a:ln>
              <a:noFill/>
            </a:ln>
          </p:spPr>
        </p:pic>
        <p:pic>
          <p:nvPicPr>
            <p:cNvPr descr="Image of Elicit logo" id="1001" name="Google Shape;1001;g3d156131998_0_19"/>
            <p:cNvPicPr preferRelativeResize="0"/>
            <p:nvPr/>
          </p:nvPicPr>
          <p:blipFill rotWithShape="1">
            <a:blip r:embed="rId10">
              <a:alphaModFix/>
            </a:blip>
            <a:srcRect b="38983" l="22267" r="21938" t="38959"/>
            <a:stretch/>
          </p:blipFill>
          <p:spPr>
            <a:xfrm>
              <a:off x="410800" y="2754875"/>
              <a:ext cx="1471202" cy="387875"/>
            </a:xfrm>
            <a:prstGeom prst="rect">
              <a:avLst/>
            </a:prstGeom>
            <a:noFill/>
            <a:ln>
              <a:noFill/>
            </a:ln>
          </p:spPr>
        </p:pic>
      </p:grpSp>
      <p:grpSp>
        <p:nvGrpSpPr>
          <p:cNvPr id="1002" name="Google Shape;1002;g3d156131998_0_19"/>
          <p:cNvGrpSpPr/>
          <p:nvPr/>
        </p:nvGrpSpPr>
        <p:grpSpPr>
          <a:xfrm>
            <a:off x="2269255" y="3423209"/>
            <a:ext cx="1534569" cy="417300"/>
            <a:chOff x="2389713" y="3423209"/>
            <a:chExt cx="1534569" cy="417300"/>
          </a:xfrm>
        </p:grpSpPr>
        <p:cxnSp>
          <p:nvCxnSpPr>
            <p:cNvPr id="1003" name="Google Shape;1003;g3d156131998_0_19"/>
            <p:cNvCxnSpPr/>
            <p:nvPr/>
          </p:nvCxnSpPr>
          <p:spPr>
            <a:xfrm>
              <a:off x="3924282" y="3423209"/>
              <a:ext cx="0" cy="417300"/>
            </a:xfrm>
            <a:prstGeom prst="straightConnector1">
              <a:avLst/>
            </a:prstGeom>
            <a:noFill/>
            <a:ln cap="flat" cmpd="sng" w="38100">
              <a:solidFill>
                <a:srgbClr val="3C78D8"/>
              </a:solidFill>
              <a:prstDash val="solid"/>
              <a:round/>
              <a:headEnd len="sm" w="sm" type="none"/>
              <a:tailEnd len="sm" w="sm" type="none"/>
            </a:ln>
          </p:spPr>
        </p:cxnSp>
        <p:pic>
          <p:nvPicPr>
            <p:cNvPr id="1004" name="Google Shape;1004;g3d156131998_0_19"/>
            <p:cNvPicPr preferRelativeResize="0"/>
            <p:nvPr/>
          </p:nvPicPr>
          <p:blipFill rotWithShape="1">
            <a:blip r:embed="rId11">
              <a:alphaModFix/>
            </a:blip>
            <a:srcRect b="28942" l="13428" r="16085" t="30236"/>
            <a:stretch/>
          </p:blipFill>
          <p:spPr>
            <a:xfrm>
              <a:off x="2389713" y="3432175"/>
              <a:ext cx="1428910" cy="389400"/>
            </a:xfrm>
            <a:prstGeom prst="rect">
              <a:avLst/>
            </a:prstGeom>
            <a:noFill/>
            <a:ln>
              <a:noFill/>
            </a:ln>
          </p:spPr>
        </p:pic>
      </p:grpSp>
      <p:cxnSp>
        <p:nvCxnSpPr>
          <p:cNvPr id="1005" name="Google Shape;1005;g3d156131998_0_19"/>
          <p:cNvCxnSpPr/>
          <p:nvPr/>
        </p:nvCxnSpPr>
        <p:spPr>
          <a:xfrm flipH="1">
            <a:off x="6154180" y="1290103"/>
            <a:ext cx="1362300" cy="3315600"/>
          </a:xfrm>
          <a:prstGeom prst="straightConnector1">
            <a:avLst/>
          </a:prstGeom>
          <a:noFill/>
          <a:ln cap="flat" cmpd="sng" w="38100">
            <a:solidFill>
              <a:schemeClr val="accent1"/>
            </a:solidFill>
            <a:prstDash val="solid"/>
            <a:round/>
            <a:headEnd len="sm" w="sm" type="none"/>
            <a:tailEnd len="sm" w="sm" type="none"/>
          </a:ln>
        </p:spPr>
      </p:cxnSp>
      <p:grpSp>
        <p:nvGrpSpPr>
          <p:cNvPr id="1006" name="Google Shape;1006;g3d156131998_0_19"/>
          <p:cNvGrpSpPr/>
          <p:nvPr/>
        </p:nvGrpSpPr>
        <p:grpSpPr>
          <a:xfrm>
            <a:off x="3279950" y="4084700"/>
            <a:ext cx="813532" cy="523875"/>
            <a:chOff x="3279950" y="4084700"/>
            <a:chExt cx="813532" cy="523875"/>
          </a:xfrm>
        </p:grpSpPr>
        <p:cxnSp>
          <p:nvCxnSpPr>
            <p:cNvPr id="1007" name="Google Shape;1007;g3d156131998_0_19"/>
            <p:cNvCxnSpPr/>
            <p:nvPr/>
          </p:nvCxnSpPr>
          <p:spPr>
            <a:xfrm>
              <a:off x="4093482" y="4128559"/>
              <a:ext cx="0" cy="417300"/>
            </a:xfrm>
            <a:prstGeom prst="straightConnector1">
              <a:avLst/>
            </a:prstGeom>
            <a:noFill/>
            <a:ln cap="flat" cmpd="sng" w="38100">
              <a:solidFill>
                <a:srgbClr val="1155CC"/>
              </a:solidFill>
              <a:prstDash val="solid"/>
              <a:round/>
              <a:headEnd len="sm" w="sm" type="none"/>
              <a:tailEnd len="sm" w="sm" type="none"/>
            </a:ln>
          </p:spPr>
        </p:cxnSp>
        <p:pic>
          <p:nvPicPr>
            <p:cNvPr id="1008" name="Google Shape;1008;g3d156131998_0_19"/>
            <p:cNvPicPr preferRelativeResize="0"/>
            <p:nvPr/>
          </p:nvPicPr>
          <p:blipFill rotWithShape="1">
            <a:blip r:embed="rId12">
              <a:alphaModFix/>
            </a:blip>
            <a:srcRect b="0" l="0" r="0" t="0"/>
            <a:stretch/>
          </p:blipFill>
          <p:spPr>
            <a:xfrm>
              <a:off x="3279950" y="4084700"/>
              <a:ext cx="523875" cy="52387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cfca7dc821_0_3"/>
          <p:cNvSpPr txBox="1"/>
          <p:nvPr/>
        </p:nvSpPr>
        <p:spPr>
          <a:xfrm>
            <a:off x="153600" y="88750"/>
            <a:ext cx="80688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Specialized AI agents (custom bots)</a:t>
            </a:r>
            <a:endParaRPr b="0" i="0" sz="3200" u="none" cap="none" strike="noStrike">
              <a:solidFill>
                <a:schemeClr val="dk1"/>
              </a:solidFill>
              <a:latin typeface="Oswald"/>
              <a:ea typeface="Oswald"/>
              <a:cs typeface="Oswald"/>
              <a:sym typeface="Oswald"/>
            </a:endParaRPr>
          </a:p>
        </p:txBody>
      </p:sp>
      <p:sp>
        <p:nvSpPr>
          <p:cNvPr id="1014" name="Google Shape;1014;g3cfca7dc821_0_3"/>
          <p:cNvSpPr txBox="1"/>
          <p:nvPr/>
        </p:nvSpPr>
        <p:spPr>
          <a:xfrm>
            <a:off x="5852300" y="2557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5" name="Google Shape;1015;g3cfca7dc821_0_3"/>
          <p:cNvPicPr preferRelativeResize="0"/>
          <p:nvPr/>
        </p:nvPicPr>
        <p:blipFill rotWithShape="1">
          <a:blip r:embed="rId3">
            <a:alphaModFix/>
          </a:blip>
          <a:srcRect b="0" l="0" r="0" t="0"/>
          <a:stretch/>
        </p:blipFill>
        <p:spPr>
          <a:xfrm>
            <a:off x="2189200" y="2728663"/>
            <a:ext cx="1382300" cy="1382300"/>
          </a:xfrm>
          <a:prstGeom prst="rect">
            <a:avLst/>
          </a:prstGeom>
          <a:noFill/>
          <a:ln>
            <a:noFill/>
          </a:ln>
        </p:spPr>
      </p:pic>
      <p:pic>
        <p:nvPicPr>
          <p:cNvPr id="1016" name="Google Shape;1016;g3cfca7dc821_0_3"/>
          <p:cNvPicPr preferRelativeResize="0"/>
          <p:nvPr/>
        </p:nvPicPr>
        <p:blipFill rotWithShape="1">
          <a:blip r:embed="rId4">
            <a:alphaModFix/>
          </a:blip>
          <a:srcRect b="0" l="0" r="0" t="0"/>
          <a:stretch/>
        </p:blipFill>
        <p:spPr>
          <a:xfrm>
            <a:off x="1440525" y="1308776"/>
            <a:ext cx="6262951" cy="1144650"/>
          </a:xfrm>
          <a:prstGeom prst="rect">
            <a:avLst/>
          </a:prstGeom>
          <a:noFill/>
          <a:ln>
            <a:noFill/>
          </a:ln>
        </p:spPr>
      </p:pic>
      <p:sp>
        <p:nvSpPr>
          <p:cNvPr id="1017" name="Google Shape;1017;g3cfca7dc821_0_3"/>
          <p:cNvSpPr txBox="1"/>
          <p:nvPr/>
        </p:nvSpPr>
        <p:spPr>
          <a:xfrm>
            <a:off x="1982600" y="4061638"/>
            <a:ext cx="1795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Gemini Gems</a:t>
            </a:r>
            <a:endParaRPr b="0" i="0" sz="1800" u="none" cap="none" strike="noStrike">
              <a:solidFill>
                <a:schemeClr val="dk2"/>
              </a:solidFill>
              <a:latin typeface="Arial"/>
              <a:ea typeface="Arial"/>
              <a:cs typeface="Arial"/>
              <a:sym typeface="Arial"/>
            </a:endParaRPr>
          </a:p>
        </p:txBody>
      </p:sp>
      <p:pic>
        <p:nvPicPr>
          <p:cNvPr id="1018" name="Google Shape;1018;g3cfca7dc821_0_3"/>
          <p:cNvPicPr preferRelativeResize="0"/>
          <p:nvPr/>
        </p:nvPicPr>
        <p:blipFill rotWithShape="1">
          <a:blip r:embed="rId5">
            <a:alphaModFix/>
          </a:blip>
          <a:srcRect b="0" l="0" r="0" t="0"/>
          <a:stretch/>
        </p:blipFill>
        <p:spPr>
          <a:xfrm>
            <a:off x="4163975" y="2772475"/>
            <a:ext cx="2950451" cy="170705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cfca7dc821_0_42"/>
          <p:cNvSpPr txBox="1"/>
          <p:nvPr/>
        </p:nvSpPr>
        <p:spPr>
          <a:xfrm>
            <a:off x="153600" y="88750"/>
            <a:ext cx="80688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Specialized AI agents (custom bots)</a:t>
            </a:r>
            <a:endParaRPr b="0" i="0" sz="3200" u="none" cap="none" strike="noStrike">
              <a:solidFill>
                <a:schemeClr val="dk1"/>
              </a:solidFill>
              <a:latin typeface="Oswald"/>
              <a:ea typeface="Oswald"/>
              <a:cs typeface="Oswald"/>
              <a:sym typeface="Oswald"/>
            </a:endParaRPr>
          </a:p>
        </p:txBody>
      </p:sp>
      <p:sp>
        <p:nvSpPr>
          <p:cNvPr id="1024" name="Google Shape;1024;g3cfca7dc821_0_42"/>
          <p:cNvSpPr txBox="1"/>
          <p:nvPr/>
        </p:nvSpPr>
        <p:spPr>
          <a:xfrm>
            <a:off x="959800" y="3944450"/>
            <a:ext cx="22458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Knowledge source</a:t>
            </a:r>
            <a:endParaRPr b="1" i="0" sz="1800" u="none" cap="none" strike="noStrike">
              <a:solidFill>
                <a:schemeClr val="dk1"/>
              </a:solidFill>
              <a:latin typeface="Arial"/>
              <a:ea typeface="Arial"/>
              <a:cs typeface="Arial"/>
              <a:sym typeface="Arial"/>
            </a:endParaRPr>
          </a:p>
        </p:txBody>
      </p:sp>
      <p:pic>
        <p:nvPicPr>
          <p:cNvPr id="1025" name="Google Shape;1025;g3cfca7dc821_0_42"/>
          <p:cNvPicPr preferRelativeResize="0"/>
          <p:nvPr/>
        </p:nvPicPr>
        <p:blipFill rotWithShape="1">
          <a:blip r:embed="rId3">
            <a:alphaModFix/>
          </a:blip>
          <a:srcRect b="0" l="0" r="0" t="0"/>
          <a:stretch/>
        </p:blipFill>
        <p:spPr>
          <a:xfrm>
            <a:off x="2695744" y="1064938"/>
            <a:ext cx="1691250" cy="1593575"/>
          </a:xfrm>
          <a:prstGeom prst="rect">
            <a:avLst/>
          </a:prstGeom>
          <a:noFill/>
          <a:ln>
            <a:noFill/>
          </a:ln>
        </p:spPr>
      </p:pic>
      <p:pic>
        <p:nvPicPr>
          <p:cNvPr id="1026" name="Google Shape;1026;g3cfca7dc821_0_42"/>
          <p:cNvPicPr preferRelativeResize="0"/>
          <p:nvPr/>
        </p:nvPicPr>
        <p:blipFill rotWithShape="1">
          <a:blip r:embed="rId4">
            <a:alphaModFix/>
          </a:blip>
          <a:srcRect b="0" l="0" r="0" t="0"/>
          <a:stretch/>
        </p:blipFill>
        <p:spPr>
          <a:xfrm>
            <a:off x="1549424" y="2957600"/>
            <a:ext cx="1066575" cy="1076552"/>
          </a:xfrm>
          <a:prstGeom prst="rect">
            <a:avLst/>
          </a:prstGeom>
          <a:noFill/>
          <a:ln>
            <a:noFill/>
          </a:ln>
        </p:spPr>
      </p:pic>
      <p:pic>
        <p:nvPicPr>
          <p:cNvPr id="1027" name="Google Shape;1027;g3cfca7dc821_0_42"/>
          <p:cNvPicPr preferRelativeResize="0"/>
          <p:nvPr/>
        </p:nvPicPr>
        <p:blipFill rotWithShape="1">
          <a:blip r:embed="rId5">
            <a:alphaModFix/>
          </a:blip>
          <a:srcRect b="0" l="0" r="0" t="0"/>
          <a:stretch/>
        </p:blipFill>
        <p:spPr>
          <a:xfrm>
            <a:off x="1186363" y="4406137"/>
            <a:ext cx="516774" cy="516774"/>
          </a:xfrm>
          <a:prstGeom prst="rect">
            <a:avLst/>
          </a:prstGeom>
          <a:noFill/>
          <a:ln>
            <a:noFill/>
          </a:ln>
        </p:spPr>
      </p:pic>
      <p:pic>
        <p:nvPicPr>
          <p:cNvPr id="1028" name="Google Shape;1028;g3cfca7dc821_0_42"/>
          <p:cNvPicPr preferRelativeResize="0"/>
          <p:nvPr/>
        </p:nvPicPr>
        <p:blipFill rotWithShape="1">
          <a:blip r:embed="rId6">
            <a:alphaModFix/>
          </a:blip>
          <a:srcRect b="0" l="0" r="0" t="0"/>
          <a:stretch/>
        </p:blipFill>
        <p:spPr>
          <a:xfrm>
            <a:off x="1785850" y="4419862"/>
            <a:ext cx="516774" cy="489321"/>
          </a:xfrm>
          <a:prstGeom prst="rect">
            <a:avLst/>
          </a:prstGeom>
          <a:noFill/>
          <a:ln>
            <a:noFill/>
          </a:ln>
        </p:spPr>
      </p:pic>
      <p:pic>
        <p:nvPicPr>
          <p:cNvPr id="1029" name="Google Shape;1029;g3cfca7dc821_0_42"/>
          <p:cNvPicPr preferRelativeResize="0"/>
          <p:nvPr/>
        </p:nvPicPr>
        <p:blipFill rotWithShape="1">
          <a:blip r:embed="rId7">
            <a:alphaModFix/>
          </a:blip>
          <a:srcRect b="0" l="0" r="0" t="0"/>
          <a:stretch/>
        </p:blipFill>
        <p:spPr>
          <a:xfrm>
            <a:off x="2462288" y="4433637"/>
            <a:ext cx="516777" cy="461764"/>
          </a:xfrm>
          <a:prstGeom prst="rect">
            <a:avLst/>
          </a:prstGeom>
          <a:noFill/>
          <a:ln>
            <a:noFill/>
          </a:ln>
        </p:spPr>
      </p:pic>
      <p:sp>
        <p:nvSpPr>
          <p:cNvPr id="1030" name="Google Shape;1030;g3cfca7dc821_0_42"/>
          <p:cNvSpPr/>
          <p:nvPr/>
        </p:nvSpPr>
        <p:spPr>
          <a:xfrm>
            <a:off x="4625169" y="996800"/>
            <a:ext cx="2352600" cy="1136400"/>
          </a:xfrm>
          <a:prstGeom prst="wedgeRoundRectCallout">
            <a:avLst>
              <a:gd fmla="val -20833" name="adj1"/>
              <a:gd fmla="val 62500" name="adj2"/>
              <a:gd fmla="val 0" name="adj3"/>
            </a:avLst>
          </a:prstGeom>
          <a:solidFill>
            <a:srgbClr val="6D9EEB"/>
          </a:solidFill>
          <a:ln cap="flat" cmpd="sng" w="28575">
            <a:solidFill>
              <a:srgbClr val="0020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chemeClr val="lt1"/>
                </a:solidFill>
                <a:latin typeface="Arial"/>
                <a:ea typeface="Arial"/>
                <a:cs typeface="Arial"/>
                <a:sym typeface="Arial"/>
              </a:rPr>
              <a:t>Hello, I’m Chatty, your personal chatbot.</a:t>
            </a:r>
            <a:endParaRPr b="1" i="0" sz="1500" u="none" cap="none" strike="noStrike">
              <a:solidFill>
                <a:schemeClr val="lt1"/>
              </a:solidFill>
              <a:latin typeface="Arial"/>
              <a:ea typeface="Arial"/>
              <a:cs typeface="Arial"/>
              <a:sym typeface="Arial"/>
            </a:endParaRPr>
          </a:p>
        </p:txBody>
      </p:sp>
      <p:cxnSp>
        <p:nvCxnSpPr>
          <p:cNvPr id="1031" name="Google Shape;1031;g3cfca7dc821_0_42"/>
          <p:cNvCxnSpPr/>
          <p:nvPr/>
        </p:nvCxnSpPr>
        <p:spPr>
          <a:xfrm flipH="1" rot="10800000">
            <a:off x="2721275" y="2810850"/>
            <a:ext cx="727800" cy="638100"/>
          </a:xfrm>
          <a:prstGeom prst="straightConnector1">
            <a:avLst/>
          </a:prstGeom>
          <a:noFill/>
          <a:ln cap="flat" cmpd="sng" w="28575">
            <a:solidFill>
              <a:schemeClr val="dk2"/>
            </a:solidFill>
            <a:prstDash val="solid"/>
            <a:round/>
            <a:headEnd len="sm" w="sm" type="none"/>
            <a:tailEnd len="med" w="med" type="triangle"/>
          </a:ln>
        </p:spPr>
      </p:cxnSp>
      <p:sp>
        <p:nvSpPr>
          <p:cNvPr id="1032" name="Google Shape;1032;g3cfca7dc821_0_42"/>
          <p:cNvSpPr txBox="1"/>
          <p:nvPr/>
        </p:nvSpPr>
        <p:spPr>
          <a:xfrm>
            <a:off x="5238950" y="3944450"/>
            <a:ext cx="22458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Tools</a:t>
            </a:r>
            <a:endParaRPr b="1" i="0" sz="1800" u="none" cap="none" strike="noStrike">
              <a:solidFill>
                <a:schemeClr val="dk1"/>
              </a:solidFill>
              <a:latin typeface="Arial"/>
              <a:ea typeface="Arial"/>
              <a:cs typeface="Arial"/>
              <a:sym typeface="Arial"/>
            </a:endParaRPr>
          </a:p>
        </p:txBody>
      </p:sp>
      <p:pic>
        <p:nvPicPr>
          <p:cNvPr id="1033" name="Google Shape;1033;g3cfca7dc821_0_42"/>
          <p:cNvPicPr preferRelativeResize="0"/>
          <p:nvPr/>
        </p:nvPicPr>
        <p:blipFill rotWithShape="1">
          <a:blip r:embed="rId8">
            <a:alphaModFix/>
          </a:blip>
          <a:srcRect b="0" l="0" r="0" t="0"/>
          <a:stretch/>
        </p:blipFill>
        <p:spPr>
          <a:xfrm>
            <a:off x="5976575" y="3222996"/>
            <a:ext cx="770550" cy="781250"/>
          </a:xfrm>
          <a:prstGeom prst="rect">
            <a:avLst/>
          </a:prstGeom>
          <a:noFill/>
          <a:ln>
            <a:noFill/>
          </a:ln>
        </p:spPr>
      </p:pic>
      <p:cxnSp>
        <p:nvCxnSpPr>
          <p:cNvPr id="1034" name="Google Shape;1034;g3cfca7dc821_0_42"/>
          <p:cNvCxnSpPr/>
          <p:nvPr/>
        </p:nvCxnSpPr>
        <p:spPr>
          <a:xfrm rot="10800000">
            <a:off x="4774725" y="2890600"/>
            <a:ext cx="887100" cy="598200"/>
          </a:xfrm>
          <a:prstGeom prst="straightConnector1">
            <a:avLst/>
          </a:prstGeom>
          <a:noFill/>
          <a:ln cap="flat" cmpd="sng" w="28575">
            <a:solidFill>
              <a:schemeClr val="dk2"/>
            </a:solidFill>
            <a:prstDash val="solid"/>
            <a:round/>
            <a:headEnd len="sm" w="sm" type="none"/>
            <a:tailEnd len="med" w="med" type="triangle"/>
          </a:ln>
        </p:spPr>
      </p:cxnSp>
      <p:pic>
        <p:nvPicPr>
          <p:cNvPr id="1035" name="Google Shape;1035;g3cfca7dc821_0_42"/>
          <p:cNvPicPr preferRelativeResize="0"/>
          <p:nvPr/>
        </p:nvPicPr>
        <p:blipFill rotWithShape="1">
          <a:blip r:embed="rId9">
            <a:alphaModFix/>
          </a:blip>
          <a:srcRect b="0" l="0" r="0" t="0"/>
          <a:stretch/>
        </p:blipFill>
        <p:spPr>
          <a:xfrm>
            <a:off x="5731650" y="4406149"/>
            <a:ext cx="516775" cy="516775"/>
          </a:xfrm>
          <a:prstGeom prst="rect">
            <a:avLst/>
          </a:prstGeom>
          <a:noFill/>
          <a:ln>
            <a:noFill/>
          </a:ln>
        </p:spPr>
      </p:pic>
      <p:pic>
        <p:nvPicPr>
          <p:cNvPr id="1036" name="Google Shape;1036;g3cfca7dc821_0_42"/>
          <p:cNvPicPr preferRelativeResize="0"/>
          <p:nvPr/>
        </p:nvPicPr>
        <p:blipFill rotWithShape="1">
          <a:blip r:embed="rId10">
            <a:alphaModFix/>
          </a:blip>
          <a:srcRect b="0" l="0" r="0" t="0"/>
          <a:stretch/>
        </p:blipFill>
        <p:spPr>
          <a:xfrm>
            <a:off x="6338425" y="4433687"/>
            <a:ext cx="1026019" cy="461700"/>
          </a:xfrm>
          <a:prstGeom prst="rect">
            <a:avLst/>
          </a:prstGeom>
          <a:noFill/>
          <a:ln>
            <a:noFill/>
          </a:ln>
        </p:spPr>
      </p:pic>
      <p:sp>
        <p:nvSpPr>
          <p:cNvPr id="1037" name="Google Shape;1037;g3cfca7dc821_0_42"/>
          <p:cNvSpPr txBox="1"/>
          <p:nvPr/>
        </p:nvSpPr>
        <p:spPr>
          <a:xfrm>
            <a:off x="111850" y="1064950"/>
            <a:ext cx="26658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Personalized system instructions</a:t>
            </a:r>
            <a:br>
              <a:rPr b="0" i="0" lang="en" sz="1800" u="none" cap="none" strike="noStrike">
                <a:solidFill>
                  <a:schemeClr val="dk1"/>
                </a:solidFill>
                <a:latin typeface="Arial"/>
                <a:ea typeface="Arial"/>
                <a:cs typeface="Arial"/>
                <a:sym typeface="Arial"/>
              </a:rPr>
            </a:br>
            <a:r>
              <a:rPr b="0" i="0" lang="en" sz="1800" u="none" cap="none" strike="noStrike">
                <a:solidFill>
                  <a:schemeClr val="dk1"/>
                </a:solidFill>
                <a:latin typeface="Arial"/>
                <a:ea typeface="Arial"/>
                <a:cs typeface="Arial"/>
                <a:sym typeface="Arial"/>
              </a:rPr>
              <a:t>(style, formatting, chain of thought,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1" name="Shape 1041"/>
        <p:cNvGrpSpPr/>
        <p:nvPr/>
      </p:nvGrpSpPr>
      <p:grpSpPr>
        <a:xfrm>
          <a:off x="0" y="0"/>
          <a:ext cx="0" cy="0"/>
          <a:chOff x="0" y="0"/>
          <a:chExt cx="0" cy="0"/>
        </a:xfrm>
      </p:grpSpPr>
      <p:sp>
        <p:nvSpPr>
          <p:cNvPr id="1042" name="Google Shape;1042;g3cfca7dc821_0_83"/>
          <p:cNvSpPr txBox="1"/>
          <p:nvPr/>
        </p:nvSpPr>
        <p:spPr>
          <a:xfrm>
            <a:off x="153600" y="88750"/>
            <a:ext cx="80688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Specialized AI agents (custom bots)</a:t>
            </a:r>
            <a:endParaRPr b="0" i="0" sz="3200" u="none" cap="none" strike="noStrike">
              <a:solidFill>
                <a:schemeClr val="dk1"/>
              </a:solidFill>
              <a:latin typeface="Oswald"/>
              <a:ea typeface="Oswald"/>
              <a:cs typeface="Oswald"/>
              <a:sym typeface="Oswald"/>
            </a:endParaRPr>
          </a:p>
        </p:txBody>
      </p:sp>
      <p:pic>
        <p:nvPicPr>
          <p:cNvPr id="1043" name="Google Shape;1043;g3cfca7dc821_0_83"/>
          <p:cNvPicPr preferRelativeResize="0"/>
          <p:nvPr/>
        </p:nvPicPr>
        <p:blipFill rotWithShape="1">
          <a:blip r:embed="rId3">
            <a:alphaModFix/>
          </a:blip>
          <a:srcRect b="0" l="0" r="0" t="0"/>
          <a:stretch/>
        </p:blipFill>
        <p:spPr>
          <a:xfrm>
            <a:off x="2665544" y="1486940"/>
            <a:ext cx="1691250" cy="1593575"/>
          </a:xfrm>
          <a:prstGeom prst="rect">
            <a:avLst/>
          </a:prstGeom>
          <a:noFill/>
          <a:ln>
            <a:noFill/>
          </a:ln>
        </p:spPr>
      </p:pic>
      <p:sp>
        <p:nvSpPr>
          <p:cNvPr id="1044" name="Google Shape;1044;g3cfca7dc821_0_83"/>
          <p:cNvSpPr/>
          <p:nvPr/>
        </p:nvSpPr>
        <p:spPr>
          <a:xfrm>
            <a:off x="4594969" y="1418802"/>
            <a:ext cx="2352600" cy="1136400"/>
          </a:xfrm>
          <a:prstGeom prst="wedgeRoundRectCallout">
            <a:avLst>
              <a:gd fmla="val -20833" name="adj1"/>
              <a:gd fmla="val 62500" name="adj2"/>
              <a:gd fmla="val 0" name="adj3"/>
            </a:avLst>
          </a:prstGeom>
          <a:solidFill>
            <a:srgbClr val="6D9EEB"/>
          </a:solidFill>
          <a:ln cap="flat" cmpd="sng" w="28575">
            <a:solidFill>
              <a:srgbClr val="0020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chemeClr val="lt1"/>
                </a:solidFill>
                <a:latin typeface="Arial"/>
                <a:ea typeface="Arial"/>
                <a:cs typeface="Arial"/>
                <a:sym typeface="Arial"/>
              </a:rPr>
              <a:t>Hello, I’m Chatty, your personal chatbot.</a:t>
            </a:r>
            <a:endParaRPr b="1" i="0" sz="1500" u="none" cap="none" strike="noStrike">
              <a:solidFill>
                <a:schemeClr val="lt1"/>
              </a:solidFill>
              <a:latin typeface="Arial"/>
              <a:ea typeface="Arial"/>
              <a:cs typeface="Arial"/>
              <a:sym typeface="Arial"/>
            </a:endParaRPr>
          </a:p>
        </p:txBody>
      </p:sp>
      <p:pic>
        <p:nvPicPr>
          <p:cNvPr id="1045" name="Google Shape;1045;g3cfca7dc821_0_83"/>
          <p:cNvPicPr preferRelativeResize="0"/>
          <p:nvPr/>
        </p:nvPicPr>
        <p:blipFill rotWithShape="1">
          <a:blip r:embed="rId4">
            <a:alphaModFix/>
          </a:blip>
          <a:srcRect b="0" l="0" r="0" t="0"/>
          <a:stretch/>
        </p:blipFill>
        <p:spPr>
          <a:xfrm>
            <a:off x="2494475" y="4180850"/>
            <a:ext cx="738900" cy="738900"/>
          </a:xfrm>
          <a:prstGeom prst="rect">
            <a:avLst/>
          </a:prstGeom>
          <a:noFill/>
          <a:ln>
            <a:noFill/>
          </a:ln>
        </p:spPr>
      </p:pic>
      <p:sp>
        <p:nvSpPr>
          <p:cNvPr id="1046" name="Google Shape;1046;g3cfca7dc821_0_83"/>
          <p:cNvSpPr txBox="1"/>
          <p:nvPr/>
        </p:nvSpPr>
        <p:spPr>
          <a:xfrm>
            <a:off x="1099350" y="3442402"/>
            <a:ext cx="6945300" cy="738900"/>
          </a:xfrm>
          <a:prstGeom prst="rect">
            <a:avLst/>
          </a:prstGeom>
          <a:noFill/>
          <a:ln cap="flat" cmpd="sng" w="19050">
            <a:solidFill>
              <a:srgbClr val="00205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74747"/>
                </a:solidFill>
                <a:latin typeface="Arial"/>
                <a:ea typeface="Arial"/>
                <a:cs typeface="Arial"/>
                <a:sym typeface="Arial"/>
              </a:rPr>
              <a:t>Write</a:t>
            </a:r>
            <a:r>
              <a:rPr b="0" i="0" lang="en" sz="1800" u="none" cap="none" strike="noStrike">
                <a:solidFill>
                  <a:srgbClr val="474747"/>
                </a:solidFill>
                <a:latin typeface="Arial"/>
                <a:ea typeface="Arial"/>
                <a:cs typeface="Arial"/>
                <a:sym typeface="Arial"/>
              </a:rPr>
              <a:t> a personalized chatbot for writing a text (abstract, social media post, …) in your preferred style.</a:t>
            </a:r>
            <a:endParaRPr b="0" i="0" sz="1800" u="none" cap="none" strike="noStrike">
              <a:solidFill>
                <a:srgbClr val="474747"/>
              </a:solidFill>
              <a:latin typeface="Arial"/>
              <a:ea typeface="Arial"/>
              <a:cs typeface="Arial"/>
              <a:sym typeface="Arial"/>
            </a:endParaRPr>
          </a:p>
        </p:txBody>
      </p:sp>
      <p:sp>
        <p:nvSpPr>
          <p:cNvPr id="1047" name="Google Shape;1047;g3cfca7dc821_0_83"/>
          <p:cNvSpPr txBox="1"/>
          <p:nvPr/>
        </p:nvSpPr>
        <p:spPr>
          <a:xfrm>
            <a:off x="1673100" y="4319450"/>
            <a:ext cx="57978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sng" cap="none" strike="noStrike">
                <a:solidFill>
                  <a:schemeClr val="hlink"/>
                </a:solidFill>
                <a:latin typeface="Arial"/>
                <a:ea typeface="Arial"/>
                <a:cs typeface="Arial"/>
                <a:sym typeface="Arial"/>
                <a:hlinkClick r:id="rId5"/>
              </a:rPr>
              <a:t>https://gemini.google.com</a:t>
            </a:r>
            <a:r>
              <a:rPr b="0" i="0" lang="en" sz="1800" u="none" cap="none" strike="noStrike">
                <a:solidFill>
                  <a:schemeClr val="dk2"/>
                </a:solidFill>
                <a:latin typeface="Arial"/>
                <a:ea typeface="Arial"/>
                <a:cs typeface="Arial"/>
                <a:sym typeface="Arial"/>
              </a:rPr>
              <a:t>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968f800dcd_0_21"/>
          <p:cNvSpPr txBox="1"/>
          <p:nvPr/>
        </p:nvSpPr>
        <p:spPr>
          <a:xfrm>
            <a:off x="441000" y="2473650"/>
            <a:ext cx="8262000" cy="1616100"/>
          </a:xfrm>
          <a:prstGeom prst="rect">
            <a:avLst/>
          </a:prstGeom>
          <a:noFill/>
          <a:ln cap="flat" cmpd="sng" w="9525">
            <a:solidFill>
              <a:srgbClr val="0097A7"/>
            </a:solidFill>
            <a:prstDash val="solid"/>
            <a:round/>
            <a:headEnd len="sm" w="sm" type="none"/>
            <a:tailEnd len="sm" w="sm" type="none"/>
          </a:ln>
        </p:spPr>
        <p:txBody>
          <a:bodyPr anchorCtr="0" anchor="t" bIns="91425" lIns="91425" spcFirstLastPara="1" rIns="91425" wrap="square" tIns="91425">
            <a:spAutoFit/>
          </a:bodyPr>
          <a:lstStyle/>
          <a:p>
            <a:pPr indent="-336550" lvl="0" marL="457200" marR="0" rtl="0" algn="l">
              <a:lnSpc>
                <a:spcPct val="100000"/>
              </a:lnSpc>
              <a:spcBef>
                <a:spcPts val="0"/>
              </a:spcBef>
              <a:spcAft>
                <a:spcPts val="0"/>
              </a:spcAft>
              <a:buClr>
                <a:schemeClr val="dk1"/>
              </a:buClr>
              <a:buSzPts val="1700"/>
              <a:buAutoNum type="arabicPeriod"/>
            </a:pPr>
            <a:r>
              <a:rPr lang="en" sz="1700">
                <a:solidFill>
                  <a:schemeClr val="dk1"/>
                </a:solidFill>
              </a:rPr>
              <a:t>choose a writing topic (abstract, social media post, …)</a:t>
            </a:r>
            <a:endParaRPr sz="1700">
              <a:solidFill>
                <a:schemeClr val="dk1"/>
              </a:solidFill>
            </a:endParaRPr>
          </a:p>
          <a:p>
            <a:pPr indent="-336550" lvl="0" marL="457200" marR="0" rtl="0" algn="l">
              <a:lnSpc>
                <a:spcPct val="100000"/>
              </a:lnSpc>
              <a:spcBef>
                <a:spcPts val="1000"/>
              </a:spcBef>
              <a:spcAft>
                <a:spcPts val="0"/>
              </a:spcAft>
              <a:buClr>
                <a:schemeClr val="dk1"/>
              </a:buClr>
              <a:buSzPts val="1700"/>
              <a:buAutoNum type="arabicPeriod"/>
            </a:pPr>
            <a:r>
              <a:rPr lang="en" sz="1700">
                <a:solidFill>
                  <a:schemeClr val="dk1"/>
                </a:solidFill>
              </a:rPr>
              <a:t>define your writing style</a:t>
            </a:r>
            <a:endParaRPr sz="1700">
              <a:solidFill>
                <a:schemeClr val="dk1"/>
              </a:solidFill>
            </a:endParaRPr>
          </a:p>
          <a:p>
            <a:pPr indent="-336550" lvl="1" marL="914400" marR="0" rtl="0" algn="l">
              <a:lnSpc>
                <a:spcPct val="100000"/>
              </a:lnSpc>
              <a:spcBef>
                <a:spcPts val="1000"/>
              </a:spcBef>
              <a:spcAft>
                <a:spcPts val="0"/>
              </a:spcAft>
              <a:buClr>
                <a:schemeClr val="dk1"/>
              </a:buClr>
              <a:buSzPts val="1700"/>
              <a:buAutoNum type="alphaLcPeriod"/>
            </a:pPr>
            <a:r>
              <a:rPr lang="en" sz="1700">
                <a:solidFill>
                  <a:schemeClr val="dk1"/>
                </a:solidFill>
              </a:rPr>
              <a:t>Do a flipped interview to define your writing style</a:t>
            </a:r>
            <a:endParaRPr sz="1700">
              <a:solidFill>
                <a:schemeClr val="dk1"/>
              </a:solidFill>
            </a:endParaRPr>
          </a:p>
          <a:p>
            <a:pPr indent="-336550" lvl="1" marL="914400" marR="0" rtl="0" algn="l">
              <a:lnSpc>
                <a:spcPct val="100000"/>
              </a:lnSpc>
              <a:spcBef>
                <a:spcPts val="1000"/>
              </a:spcBef>
              <a:spcAft>
                <a:spcPts val="1000"/>
              </a:spcAft>
              <a:buClr>
                <a:schemeClr val="dk1"/>
              </a:buClr>
              <a:buSzPts val="1700"/>
              <a:buAutoNum type="alphaLcPeriod"/>
            </a:pPr>
            <a:r>
              <a:rPr lang="en" sz="1700">
                <a:solidFill>
                  <a:schemeClr val="dk1"/>
                </a:solidFill>
              </a:rPr>
              <a:t>Copy-paste one of your texts and ask copilot to define your writing style</a:t>
            </a:r>
            <a:endParaRPr sz="1700">
              <a:solidFill>
                <a:schemeClr val="dk1"/>
              </a:solidFill>
            </a:endParaRPr>
          </a:p>
        </p:txBody>
      </p:sp>
      <p:sp>
        <p:nvSpPr>
          <p:cNvPr id="1053" name="Google Shape;1053;g3968f800dcd_0_21"/>
          <p:cNvSpPr txBox="1"/>
          <p:nvPr/>
        </p:nvSpPr>
        <p:spPr>
          <a:xfrm>
            <a:off x="153600" y="88750"/>
            <a:ext cx="8068800" cy="677100"/>
          </a:xfrm>
          <a:prstGeom prst="rect">
            <a:avLst/>
          </a:prstGeom>
          <a:noFill/>
          <a:ln>
            <a:noFill/>
          </a:ln>
          <a:effectLst>
            <a:outerShdw blurRad="57150" rotWithShape="0" algn="bl" dir="5400000" dist="19050">
              <a:srgbClr val="D9D9D9">
                <a:alpha val="4863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n" sz="3200">
                <a:solidFill>
                  <a:schemeClr val="dk1"/>
                </a:solidFill>
                <a:latin typeface="Oswald"/>
                <a:ea typeface="Oswald"/>
                <a:cs typeface="Oswald"/>
                <a:sym typeface="Oswald"/>
              </a:rPr>
              <a:t>Define your personal writing style</a:t>
            </a:r>
            <a:endParaRPr b="0" i="0" sz="3200" u="none" cap="none" strike="noStrike">
              <a:solidFill>
                <a:schemeClr val="dk1"/>
              </a:solidFill>
              <a:latin typeface="Oswald"/>
              <a:ea typeface="Oswald"/>
              <a:cs typeface="Oswald"/>
              <a:sym typeface="Oswald"/>
            </a:endParaRPr>
          </a:p>
        </p:txBody>
      </p:sp>
      <p:pic>
        <p:nvPicPr>
          <p:cNvPr id="1054" name="Google Shape;1054;g3968f800dcd_0_21"/>
          <p:cNvPicPr preferRelativeResize="0"/>
          <p:nvPr/>
        </p:nvPicPr>
        <p:blipFill rotWithShape="1">
          <a:blip r:embed="rId3">
            <a:alphaModFix/>
          </a:blip>
          <a:srcRect b="0" l="0" r="0" t="0"/>
          <a:stretch/>
        </p:blipFill>
        <p:spPr>
          <a:xfrm>
            <a:off x="2430994" y="833990"/>
            <a:ext cx="1691250" cy="1593575"/>
          </a:xfrm>
          <a:prstGeom prst="rect">
            <a:avLst/>
          </a:prstGeom>
          <a:noFill/>
          <a:ln>
            <a:noFill/>
          </a:ln>
        </p:spPr>
      </p:pic>
      <p:sp>
        <p:nvSpPr>
          <p:cNvPr id="1055" name="Google Shape;1055;g3968f800dcd_0_21"/>
          <p:cNvSpPr/>
          <p:nvPr/>
        </p:nvSpPr>
        <p:spPr>
          <a:xfrm>
            <a:off x="4360419" y="765852"/>
            <a:ext cx="2352600" cy="1136400"/>
          </a:xfrm>
          <a:prstGeom prst="wedgeRoundRectCallout">
            <a:avLst>
              <a:gd fmla="val -20833" name="adj1"/>
              <a:gd fmla="val 62500" name="adj2"/>
              <a:gd fmla="val 0" name="adj3"/>
            </a:avLst>
          </a:prstGeom>
          <a:solidFill>
            <a:srgbClr val="6D9EEB"/>
          </a:solidFill>
          <a:ln cap="flat" cmpd="sng" w="28575">
            <a:solidFill>
              <a:srgbClr val="0020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chemeClr val="lt1"/>
                </a:solidFill>
                <a:latin typeface="Arial"/>
                <a:ea typeface="Arial"/>
                <a:cs typeface="Arial"/>
                <a:sym typeface="Arial"/>
              </a:rPr>
              <a:t>Hello, I’m Chatty, your personal chatbot.</a:t>
            </a:r>
            <a:endParaRPr b="1" i="0" sz="1500" u="none" cap="none" strike="noStrike">
              <a:solidFill>
                <a:schemeClr val="lt1"/>
              </a:solidFill>
              <a:latin typeface="Arial"/>
              <a:ea typeface="Arial"/>
              <a:cs typeface="Arial"/>
              <a:sym typeface="Arial"/>
            </a:endParaRPr>
          </a:p>
        </p:txBody>
      </p:sp>
      <p:pic>
        <p:nvPicPr>
          <p:cNvPr id="1056" name="Google Shape;1056;g3968f800dcd_0_21"/>
          <p:cNvPicPr preferRelativeResize="0"/>
          <p:nvPr/>
        </p:nvPicPr>
        <p:blipFill rotWithShape="1">
          <a:blip r:embed="rId4">
            <a:alphaModFix/>
          </a:blip>
          <a:srcRect b="0" l="0" r="0" t="0"/>
          <a:stretch/>
        </p:blipFill>
        <p:spPr>
          <a:xfrm>
            <a:off x="2494475" y="4180850"/>
            <a:ext cx="738900" cy="738900"/>
          </a:xfrm>
          <a:prstGeom prst="rect">
            <a:avLst/>
          </a:prstGeom>
          <a:noFill/>
          <a:ln>
            <a:noFill/>
          </a:ln>
        </p:spPr>
      </p:pic>
      <p:sp>
        <p:nvSpPr>
          <p:cNvPr id="1057" name="Google Shape;1057;g3968f800dcd_0_21"/>
          <p:cNvSpPr txBox="1"/>
          <p:nvPr/>
        </p:nvSpPr>
        <p:spPr>
          <a:xfrm>
            <a:off x="1673100" y="4319450"/>
            <a:ext cx="57978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sng" cap="none" strike="noStrike">
                <a:solidFill>
                  <a:schemeClr val="hlink"/>
                </a:solidFill>
                <a:latin typeface="Arial"/>
                <a:ea typeface="Arial"/>
                <a:cs typeface="Arial"/>
                <a:sym typeface="Arial"/>
                <a:hlinkClick r:id="rId5"/>
              </a:rPr>
              <a:t>https://gemini.google.com</a:t>
            </a:r>
            <a:r>
              <a:rPr b="0" i="0" lang="en" sz="1800" u="none" cap="none" strike="noStrike">
                <a:solidFill>
                  <a:schemeClr val="dk2"/>
                </a:solidFill>
                <a:latin typeface="Arial"/>
                <a:ea typeface="Arial"/>
                <a:cs typeface="Arial"/>
                <a:sym typeface="Arial"/>
              </a:rPr>
              <a:t> </a:t>
            </a:r>
            <a:endParaRPr b="0" i="0" sz="18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968f800dcd_0_29"/>
          <p:cNvSpPr txBox="1"/>
          <p:nvPr/>
        </p:nvSpPr>
        <p:spPr>
          <a:xfrm>
            <a:off x="441000" y="2473650"/>
            <a:ext cx="8262000" cy="2006100"/>
          </a:xfrm>
          <a:prstGeom prst="rect">
            <a:avLst/>
          </a:prstGeom>
          <a:noFill/>
          <a:ln cap="flat" cmpd="sng" w="9525">
            <a:solidFill>
              <a:srgbClr val="0097A7"/>
            </a:solidFill>
            <a:prstDash val="solid"/>
            <a:round/>
            <a:headEnd len="sm" w="sm" type="none"/>
            <a:tailEnd len="sm" w="sm" type="none"/>
          </a:ln>
        </p:spPr>
        <p:txBody>
          <a:bodyPr anchorCtr="0" anchor="t" bIns="91425" lIns="91425" spcFirstLastPara="1" rIns="91425" wrap="square" tIns="91425">
            <a:spAutoFit/>
          </a:bodyPr>
          <a:lstStyle/>
          <a:p>
            <a:pPr indent="-336550" lvl="0" marL="457200" marR="0" rtl="0" algn="l">
              <a:lnSpc>
                <a:spcPct val="100000"/>
              </a:lnSpc>
              <a:spcBef>
                <a:spcPts val="0"/>
              </a:spcBef>
              <a:spcAft>
                <a:spcPts val="0"/>
              </a:spcAft>
              <a:buClr>
                <a:schemeClr val="dk1"/>
              </a:buClr>
              <a:buSzPts val="1700"/>
              <a:buAutoNum type="arabicPeriod"/>
            </a:pPr>
            <a:r>
              <a:rPr lang="en" sz="1700">
                <a:solidFill>
                  <a:schemeClr val="dk1"/>
                </a:solidFill>
              </a:rPr>
              <a:t>choose a writing topic (abstract, social media post, …)</a:t>
            </a:r>
            <a:endParaRPr sz="1700">
              <a:solidFill>
                <a:schemeClr val="dk1"/>
              </a:solidFill>
            </a:endParaRPr>
          </a:p>
          <a:p>
            <a:pPr indent="-336550" lvl="0" marL="457200" marR="0" rtl="0" algn="l">
              <a:lnSpc>
                <a:spcPct val="100000"/>
              </a:lnSpc>
              <a:spcBef>
                <a:spcPts val="1000"/>
              </a:spcBef>
              <a:spcAft>
                <a:spcPts val="0"/>
              </a:spcAft>
              <a:buClr>
                <a:schemeClr val="dk1"/>
              </a:buClr>
              <a:buSzPts val="1700"/>
              <a:buAutoNum type="arabicPeriod"/>
            </a:pPr>
            <a:r>
              <a:rPr lang="en" sz="1700">
                <a:solidFill>
                  <a:schemeClr val="dk1"/>
                </a:solidFill>
              </a:rPr>
              <a:t>define your writing style</a:t>
            </a:r>
            <a:endParaRPr sz="1700">
              <a:solidFill>
                <a:schemeClr val="dk1"/>
              </a:solidFill>
            </a:endParaRPr>
          </a:p>
          <a:p>
            <a:pPr indent="-336550" lvl="1" marL="914400" marR="0" rtl="0" algn="l">
              <a:lnSpc>
                <a:spcPct val="100000"/>
              </a:lnSpc>
              <a:spcBef>
                <a:spcPts val="1000"/>
              </a:spcBef>
              <a:spcAft>
                <a:spcPts val="0"/>
              </a:spcAft>
              <a:buClr>
                <a:schemeClr val="dk1"/>
              </a:buClr>
              <a:buSzPts val="1700"/>
              <a:buAutoNum type="alphaLcPeriod"/>
            </a:pPr>
            <a:r>
              <a:rPr lang="en" sz="1700">
                <a:solidFill>
                  <a:schemeClr val="dk1"/>
                </a:solidFill>
              </a:rPr>
              <a:t>Do a flipped interview to define your writing style</a:t>
            </a:r>
            <a:endParaRPr sz="1700">
              <a:solidFill>
                <a:schemeClr val="dk1"/>
              </a:solidFill>
            </a:endParaRPr>
          </a:p>
          <a:p>
            <a:pPr indent="-336550" lvl="1" marL="914400" marR="0" rtl="0" algn="l">
              <a:lnSpc>
                <a:spcPct val="100000"/>
              </a:lnSpc>
              <a:spcBef>
                <a:spcPts val="1000"/>
              </a:spcBef>
              <a:spcAft>
                <a:spcPts val="0"/>
              </a:spcAft>
              <a:buClr>
                <a:schemeClr val="dk1"/>
              </a:buClr>
              <a:buSzPts val="1700"/>
              <a:buAutoNum type="alphaLcPeriod"/>
            </a:pPr>
            <a:r>
              <a:rPr lang="en" sz="1700">
                <a:solidFill>
                  <a:schemeClr val="dk1"/>
                </a:solidFill>
              </a:rPr>
              <a:t>Copy-paste one of your texts and ask copilot to define your writing style</a:t>
            </a:r>
            <a:endParaRPr sz="1700">
              <a:solidFill>
                <a:schemeClr val="dk1"/>
              </a:solidFill>
            </a:endParaRPr>
          </a:p>
          <a:p>
            <a:pPr indent="-336550" lvl="0" marL="457200" rtl="0" algn="l">
              <a:spcBef>
                <a:spcPts val="1000"/>
              </a:spcBef>
              <a:spcAft>
                <a:spcPts val="1000"/>
              </a:spcAft>
              <a:buClr>
                <a:schemeClr val="dk1"/>
              </a:buClr>
              <a:buSzPts val="1700"/>
              <a:buAutoNum type="arabicPeriod"/>
            </a:pPr>
            <a:r>
              <a:rPr lang="en" sz="1700">
                <a:solidFill>
                  <a:schemeClr val="dk1"/>
                </a:solidFill>
              </a:rPr>
              <a:t>summarize my writing style into instructions for a writing agent</a:t>
            </a:r>
            <a:endParaRPr sz="1700">
              <a:solidFill>
                <a:schemeClr val="dk1"/>
              </a:solidFill>
            </a:endParaRPr>
          </a:p>
        </p:txBody>
      </p:sp>
      <p:sp>
        <p:nvSpPr>
          <p:cNvPr id="1063" name="Google Shape;1063;g3968f800dcd_0_29"/>
          <p:cNvSpPr txBox="1"/>
          <p:nvPr/>
        </p:nvSpPr>
        <p:spPr>
          <a:xfrm>
            <a:off x="153600" y="88750"/>
            <a:ext cx="8068800" cy="677100"/>
          </a:xfrm>
          <a:prstGeom prst="rect">
            <a:avLst/>
          </a:prstGeom>
          <a:noFill/>
          <a:ln>
            <a:noFill/>
          </a:ln>
          <a:effectLst>
            <a:outerShdw blurRad="57150" rotWithShape="0" algn="bl" dir="5400000" dist="19050">
              <a:srgbClr val="D9D9D9">
                <a:alpha val="4863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n" sz="3200">
                <a:solidFill>
                  <a:schemeClr val="dk1"/>
                </a:solidFill>
                <a:latin typeface="Oswald"/>
                <a:ea typeface="Oswald"/>
                <a:cs typeface="Oswald"/>
                <a:sym typeface="Oswald"/>
              </a:rPr>
              <a:t>Define your personal writing style</a:t>
            </a:r>
            <a:endParaRPr b="0" i="0" sz="3200" u="none" cap="none" strike="noStrike">
              <a:solidFill>
                <a:schemeClr val="dk1"/>
              </a:solidFill>
              <a:latin typeface="Oswald"/>
              <a:ea typeface="Oswald"/>
              <a:cs typeface="Oswald"/>
              <a:sym typeface="Oswald"/>
            </a:endParaRPr>
          </a:p>
        </p:txBody>
      </p:sp>
      <p:pic>
        <p:nvPicPr>
          <p:cNvPr id="1064" name="Google Shape;1064;g3968f800dcd_0_29"/>
          <p:cNvPicPr preferRelativeResize="0"/>
          <p:nvPr/>
        </p:nvPicPr>
        <p:blipFill rotWithShape="1">
          <a:blip r:embed="rId3">
            <a:alphaModFix/>
          </a:blip>
          <a:srcRect b="0" l="0" r="0" t="0"/>
          <a:stretch/>
        </p:blipFill>
        <p:spPr>
          <a:xfrm>
            <a:off x="2430994" y="833990"/>
            <a:ext cx="1691250" cy="1593575"/>
          </a:xfrm>
          <a:prstGeom prst="rect">
            <a:avLst/>
          </a:prstGeom>
          <a:noFill/>
          <a:ln>
            <a:noFill/>
          </a:ln>
        </p:spPr>
      </p:pic>
      <p:sp>
        <p:nvSpPr>
          <p:cNvPr id="1065" name="Google Shape;1065;g3968f800dcd_0_29"/>
          <p:cNvSpPr/>
          <p:nvPr/>
        </p:nvSpPr>
        <p:spPr>
          <a:xfrm>
            <a:off x="4360419" y="765852"/>
            <a:ext cx="2352600" cy="1136400"/>
          </a:xfrm>
          <a:prstGeom prst="wedgeRoundRectCallout">
            <a:avLst>
              <a:gd fmla="val -20833" name="adj1"/>
              <a:gd fmla="val 62500" name="adj2"/>
              <a:gd fmla="val 0" name="adj3"/>
            </a:avLst>
          </a:prstGeom>
          <a:solidFill>
            <a:srgbClr val="6D9EEB"/>
          </a:solidFill>
          <a:ln cap="flat" cmpd="sng" w="28575">
            <a:solidFill>
              <a:srgbClr val="00205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chemeClr val="lt1"/>
                </a:solidFill>
                <a:latin typeface="Arial"/>
                <a:ea typeface="Arial"/>
                <a:cs typeface="Arial"/>
                <a:sym typeface="Arial"/>
              </a:rPr>
              <a:t>Hello, I’m Chatty, your personal chatbot.</a:t>
            </a:r>
            <a:endParaRPr b="1" i="0" sz="15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cfca7dc821_0_14"/>
          <p:cNvSpPr txBox="1"/>
          <p:nvPr/>
        </p:nvSpPr>
        <p:spPr>
          <a:xfrm>
            <a:off x="153600" y="88750"/>
            <a:ext cx="80688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When should you use agents?</a:t>
            </a:r>
            <a:endParaRPr b="0" i="0" sz="3200" u="none" cap="none" strike="noStrike">
              <a:solidFill>
                <a:schemeClr val="dk1"/>
              </a:solidFill>
              <a:latin typeface="Oswald"/>
              <a:ea typeface="Oswald"/>
              <a:cs typeface="Oswald"/>
              <a:sym typeface="Oswald"/>
            </a:endParaRPr>
          </a:p>
        </p:txBody>
      </p:sp>
      <p:sp>
        <p:nvSpPr>
          <p:cNvPr id="1071" name="Google Shape;1071;g3cfca7dc821_0_14"/>
          <p:cNvSpPr txBox="1"/>
          <p:nvPr/>
        </p:nvSpPr>
        <p:spPr>
          <a:xfrm>
            <a:off x="523375" y="1024600"/>
            <a:ext cx="6410700" cy="361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To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AutoNum type="arabicPeriod"/>
            </a:pPr>
            <a:r>
              <a:rPr b="1" i="0" lang="en" sz="1800" u="none" cap="none" strike="noStrike">
                <a:solidFill>
                  <a:schemeClr val="dk1"/>
                </a:solidFill>
                <a:latin typeface="Arial"/>
                <a:ea typeface="Arial"/>
                <a:cs typeface="Arial"/>
                <a:sym typeface="Arial"/>
              </a:rPr>
              <a:t>… package repeated prompts</a:t>
            </a:r>
            <a:endParaRPr b="0" i="0" sz="1800" u="none" cap="none" strike="noStrike">
              <a:solidFill>
                <a:schemeClr val="dk1"/>
              </a:solidFill>
              <a:latin typeface="Arial"/>
              <a:ea typeface="Arial"/>
              <a:cs typeface="Arial"/>
              <a:sym typeface="Arial"/>
            </a:endParaRPr>
          </a:p>
          <a:p>
            <a:pPr indent="-342900" lvl="1" marL="914400" marR="0" rtl="0" algn="l">
              <a:lnSpc>
                <a:spcPct val="100000"/>
              </a:lnSpc>
              <a:spcBef>
                <a:spcPts val="0"/>
              </a:spcBef>
              <a:spcAft>
                <a:spcPts val="0"/>
              </a:spcAft>
              <a:buClr>
                <a:schemeClr val="dk1"/>
              </a:buClr>
              <a:buSzPts val="1800"/>
              <a:buFont typeface="Arial"/>
              <a:buAutoNum type="alphaLcPeriod"/>
            </a:pPr>
            <a:r>
              <a:rPr b="0" i="0" lang="en" sz="1800" u="none" cap="none" strike="noStrike">
                <a:solidFill>
                  <a:schemeClr val="dk1"/>
                </a:solidFill>
                <a:latin typeface="Arial"/>
                <a:ea typeface="Arial"/>
                <a:cs typeface="Arial"/>
                <a:sym typeface="Arial"/>
              </a:rPr>
              <a:t>Specific (personalized) styling and output format</a:t>
            </a:r>
            <a:endParaRPr b="0" i="0" sz="1800" u="none" cap="none" strike="noStrike">
              <a:solidFill>
                <a:schemeClr val="dk1"/>
              </a:solidFill>
              <a:latin typeface="Arial"/>
              <a:ea typeface="Arial"/>
              <a:cs typeface="Arial"/>
              <a:sym typeface="Arial"/>
            </a:endParaRPr>
          </a:p>
          <a:p>
            <a:pPr indent="-342900" lvl="1" marL="914400" marR="0" rtl="0" algn="l">
              <a:lnSpc>
                <a:spcPct val="100000"/>
              </a:lnSpc>
              <a:spcBef>
                <a:spcPts val="0"/>
              </a:spcBef>
              <a:spcAft>
                <a:spcPts val="0"/>
              </a:spcAft>
              <a:buClr>
                <a:schemeClr val="dk1"/>
              </a:buClr>
              <a:buSzPts val="1800"/>
              <a:buFont typeface="Arial"/>
              <a:buAutoNum type="alphaLcPeriod"/>
            </a:pPr>
            <a:r>
              <a:rPr b="0" i="0" lang="en" sz="1800" u="none" cap="none" strike="noStrike">
                <a:solidFill>
                  <a:schemeClr val="dk1"/>
                </a:solidFill>
                <a:latin typeface="Arial"/>
                <a:ea typeface="Arial"/>
                <a:cs typeface="Arial"/>
                <a:sym typeface="Arial"/>
              </a:rPr>
              <a:t>“Three times” principle</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1000"/>
              </a:spcBef>
              <a:spcAft>
                <a:spcPts val="0"/>
              </a:spcAft>
              <a:buClr>
                <a:schemeClr val="dk1"/>
              </a:buClr>
              <a:buSzPts val="1800"/>
              <a:buFont typeface="Arial"/>
              <a:buAutoNum type="arabicPeriod"/>
            </a:pPr>
            <a:r>
              <a:rPr b="1" i="0" lang="en" sz="1800" u="none" cap="none" strike="noStrike">
                <a:solidFill>
                  <a:schemeClr val="dk1"/>
                </a:solidFill>
                <a:latin typeface="Arial"/>
                <a:ea typeface="Arial"/>
                <a:cs typeface="Arial"/>
                <a:sym typeface="Arial"/>
              </a:rPr>
              <a:t>… add specific knowledge</a:t>
            </a:r>
            <a:endParaRPr b="1" i="0" sz="1800" u="none" cap="none" strike="noStrike">
              <a:solidFill>
                <a:schemeClr val="dk1"/>
              </a:solidFill>
              <a:latin typeface="Arial"/>
              <a:ea typeface="Arial"/>
              <a:cs typeface="Arial"/>
              <a:sym typeface="Arial"/>
            </a:endParaRPr>
          </a:p>
          <a:p>
            <a:pPr indent="-342900" lvl="1" marL="914400" marR="0" rtl="0" algn="l">
              <a:lnSpc>
                <a:spcPct val="100000"/>
              </a:lnSpc>
              <a:spcBef>
                <a:spcPts val="0"/>
              </a:spcBef>
              <a:spcAft>
                <a:spcPts val="0"/>
              </a:spcAft>
              <a:buClr>
                <a:schemeClr val="dk1"/>
              </a:buClr>
              <a:buSzPts val="1800"/>
              <a:buFont typeface="Arial"/>
              <a:buAutoNum type="alphaLcPeriod"/>
            </a:pPr>
            <a:r>
              <a:rPr b="0" i="0" lang="en" sz="1800" u="none" cap="none" strike="noStrike">
                <a:solidFill>
                  <a:schemeClr val="dk1"/>
                </a:solidFill>
                <a:latin typeface="Arial"/>
                <a:ea typeface="Arial"/>
                <a:cs typeface="Arial"/>
                <a:sym typeface="Arial"/>
              </a:rPr>
              <a:t>Folders/files</a:t>
            </a:r>
            <a:endParaRPr b="0" i="0" sz="1800" u="none" cap="none" strike="noStrike">
              <a:solidFill>
                <a:schemeClr val="dk1"/>
              </a:solidFill>
              <a:latin typeface="Arial"/>
              <a:ea typeface="Arial"/>
              <a:cs typeface="Arial"/>
              <a:sym typeface="Arial"/>
            </a:endParaRPr>
          </a:p>
          <a:p>
            <a:pPr indent="-342900" lvl="1" marL="914400" marR="0" rtl="0" algn="l">
              <a:lnSpc>
                <a:spcPct val="100000"/>
              </a:lnSpc>
              <a:spcBef>
                <a:spcPts val="0"/>
              </a:spcBef>
              <a:spcAft>
                <a:spcPts val="0"/>
              </a:spcAft>
              <a:buClr>
                <a:schemeClr val="dk1"/>
              </a:buClr>
              <a:buSzPts val="1800"/>
              <a:buFont typeface="Arial"/>
              <a:buAutoNum type="alphaLcPeriod"/>
            </a:pPr>
            <a:r>
              <a:rPr b="0" i="0" lang="en" sz="1800" u="none" cap="none" strike="noStrike">
                <a:solidFill>
                  <a:schemeClr val="dk1"/>
                </a:solidFill>
                <a:latin typeface="Arial"/>
                <a:ea typeface="Arial"/>
                <a:cs typeface="Arial"/>
                <a:sym typeface="Arial"/>
              </a:rPr>
              <a:t>Applications (e.g. Outlook)</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1000"/>
              </a:spcBef>
              <a:spcAft>
                <a:spcPts val="0"/>
              </a:spcAft>
              <a:buClr>
                <a:schemeClr val="dk1"/>
              </a:buClr>
              <a:buSzPts val="1800"/>
              <a:buFont typeface="Arial"/>
              <a:buAutoNum type="arabicPeriod"/>
            </a:pPr>
            <a:r>
              <a:rPr b="1" i="0" lang="en" sz="1800" u="none" cap="none" strike="noStrike">
                <a:solidFill>
                  <a:schemeClr val="dk1"/>
                </a:solidFill>
                <a:latin typeface="Arial"/>
                <a:ea typeface="Arial"/>
                <a:cs typeface="Arial"/>
                <a:sym typeface="Arial"/>
              </a:rPr>
              <a:t>… attach tools</a:t>
            </a:r>
            <a:endParaRPr b="1" i="0" sz="1800" u="none" cap="none" strike="noStrike">
              <a:solidFill>
                <a:schemeClr val="dk1"/>
              </a:solidFill>
              <a:latin typeface="Arial"/>
              <a:ea typeface="Arial"/>
              <a:cs typeface="Arial"/>
              <a:sym typeface="Arial"/>
            </a:endParaRPr>
          </a:p>
          <a:p>
            <a:pPr indent="-342900" lvl="1" marL="914400" marR="0" rtl="0" algn="l">
              <a:lnSpc>
                <a:spcPct val="100000"/>
              </a:lnSpc>
              <a:spcBef>
                <a:spcPts val="0"/>
              </a:spcBef>
              <a:spcAft>
                <a:spcPts val="0"/>
              </a:spcAft>
              <a:buClr>
                <a:schemeClr val="dk1"/>
              </a:buClr>
              <a:buSzPts val="1800"/>
              <a:buFont typeface="Arial"/>
              <a:buAutoNum type="alphaLcPeriod"/>
            </a:pPr>
            <a:r>
              <a:rPr b="0" i="0" lang="en" sz="1800" u="none" cap="none" strike="noStrike">
                <a:solidFill>
                  <a:schemeClr val="dk1"/>
                </a:solidFill>
                <a:latin typeface="Arial"/>
                <a:ea typeface="Arial"/>
                <a:cs typeface="Arial"/>
                <a:sym typeface="Arial"/>
              </a:rPr>
              <a:t>Image generation</a:t>
            </a:r>
            <a:endParaRPr b="0" i="0" sz="1800" u="none" cap="none" strike="noStrike">
              <a:solidFill>
                <a:schemeClr val="dk1"/>
              </a:solidFill>
              <a:latin typeface="Arial"/>
              <a:ea typeface="Arial"/>
              <a:cs typeface="Arial"/>
              <a:sym typeface="Arial"/>
            </a:endParaRPr>
          </a:p>
          <a:p>
            <a:pPr indent="-342900" lvl="1" marL="914400" marR="0" rtl="0" algn="l">
              <a:lnSpc>
                <a:spcPct val="100000"/>
              </a:lnSpc>
              <a:spcBef>
                <a:spcPts val="0"/>
              </a:spcBef>
              <a:spcAft>
                <a:spcPts val="0"/>
              </a:spcAft>
              <a:buClr>
                <a:schemeClr val="dk1"/>
              </a:buClr>
              <a:buSzPts val="1800"/>
              <a:buFont typeface="Arial"/>
              <a:buAutoNum type="alphaLcPeriod"/>
            </a:pPr>
            <a:r>
              <a:rPr b="0" i="0" lang="en" sz="1800" u="none" cap="none" strike="noStrike">
                <a:solidFill>
                  <a:schemeClr val="dk1"/>
                </a:solidFill>
                <a:latin typeface="Arial"/>
                <a:ea typeface="Arial"/>
                <a:cs typeface="Arial"/>
                <a:sym typeface="Arial"/>
              </a:rPr>
              <a:t>Personal scripts</a:t>
            </a:r>
            <a:endParaRPr b="0" i="0" sz="1800" u="none" cap="none" strike="noStrike">
              <a:solidFill>
                <a:schemeClr val="dk1"/>
              </a:solidFill>
              <a:latin typeface="Arial"/>
              <a:ea typeface="Arial"/>
              <a:cs typeface="Arial"/>
              <a:sym typeface="Arial"/>
            </a:endParaRPr>
          </a:p>
          <a:p>
            <a:pPr indent="-342900" lvl="1" marL="914400" marR="0" rtl="0" algn="l">
              <a:lnSpc>
                <a:spcPct val="100000"/>
              </a:lnSpc>
              <a:spcBef>
                <a:spcPts val="0"/>
              </a:spcBef>
              <a:spcAft>
                <a:spcPts val="0"/>
              </a:spcAft>
              <a:buClr>
                <a:schemeClr val="dk1"/>
              </a:buClr>
              <a:buSzPts val="1800"/>
              <a:buFont typeface="Arial"/>
              <a:buAutoNum type="alphaLcPeriod"/>
            </a:pPr>
            <a:r>
              <a:rPr b="0" i="0" lang="en" sz="1800" u="none" cap="none" strike="noStrike">
                <a:solidFill>
                  <a:schemeClr val="dk1"/>
                </a:solidFill>
                <a:latin typeface="Arial"/>
                <a:ea typeface="Arial"/>
                <a:cs typeface="Arial"/>
                <a:sym typeface="Arial"/>
              </a:rPr>
              <a:t>MCP to external data sources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5" name="Shape 1075"/>
        <p:cNvGrpSpPr/>
        <p:nvPr/>
      </p:nvGrpSpPr>
      <p:grpSpPr>
        <a:xfrm>
          <a:off x="0" y="0"/>
          <a:ext cx="0" cy="0"/>
          <a:chOff x="0" y="0"/>
          <a:chExt cx="0" cy="0"/>
        </a:xfrm>
      </p:grpSpPr>
      <p:sp>
        <p:nvSpPr>
          <p:cNvPr id="1076" name="Google Shape;1076;g3968f800dcd_0_0"/>
          <p:cNvSpPr txBox="1"/>
          <p:nvPr/>
        </p:nvSpPr>
        <p:spPr>
          <a:xfrm>
            <a:off x="4027025" y="912425"/>
            <a:ext cx="4424100" cy="3469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0" i="0" lang="en" sz="1700" u="none" cap="none" strike="noStrike">
                <a:solidFill>
                  <a:srgbClr val="000000"/>
                </a:solidFill>
                <a:latin typeface="Arial"/>
                <a:ea typeface="Arial"/>
                <a:cs typeface="Arial"/>
                <a:sym typeface="Arial"/>
              </a:rPr>
              <a:t>You are a professional writer.</a:t>
            </a:r>
            <a:endParaRPr b="0" i="0" sz="17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 sz="1700" u="none" cap="none" strike="noStrike">
                <a:solidFill>
                  <a:srgbClr val="000000"/>
                </a:solidFill>
                <a:latin typeface="Arial"/>
                <a:ea typeface="Arial"/>
                <a:cs typeface="Arial"/>
                <a:sym typeface="Arial"/>
              </a:rPr>
              <a:t>Your job is to transform rough ideas into clear and engaging text.</a:t>
            </a:r>
            <a:endParaRPr b="0" i="0" sz="17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 sz="1700" u="none" cap="none" strike="noStrike">
                <a:solidFill>
                  <a:srgbClr val="000000"/>
                </a:solidFill>
                <a:latin typeface="Arial"/>
                <a:ea typeface="Arial"/>
                <a:cs typeface="Arial"/>
                <a:sym typeface="Arial"/>
              </a:rPr>
              <a:t>Always structure your answer as:</a:t>
            </a:r>
            <a:endParaRPr b="0" i="0" sz="17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AutoNum type="arabicPeriod"/>
            </a:pPr>
            <a:r>
              <a:rPr b="0" i="0" lang="en" sz="1700" u="none" cap="none" strike="noStrike">
                <a:solidFill>
                  <a:srgbClr val="000000"/>
                </a:solidFill>
                <a:latin typeface="Arial"/>
                <a:ea typeface="Arial"/>
                <a:cs typeface="Arial"/>
                <a:sym typeface="Arial"/>
              </a:rPr>
              <a:t>Hook</a:t>
            </a:r>
            <a:endParaRPr b="0" i="0" sz="17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AutoNum type="arabicPeriod"/>
            </a:pPr>
            <a:r>
              <a:rPr b="0" i="0" lang="en" sz="1700" u="none" cap="none" strike="noStrike">
                <a:solidFill>
                  <a:srgbClr val="000000"/>
                </a:solidFill>
                <a:latin typeface="Arial"/>
                <a:ea typeface="Arial"/>
                <a:cs typeface="Arial"/>
                <a:sym typeface="Arial"/>
              </a:rPr>
              <a:t>Main explanation</a:t>
            </a:r>
            <a:endParaRPr b="0" i="0" sz="17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AutoNum type="arabicPeriod"/>
            </a:pPr>
            <a:r>
              <a:rPr b="0" i="0" lang="en" sz="1700" u="none" cap="none" strike="noStrike">
                <a:solidFill>
                  <a:srgbClr val="000000"/>
                </a:solidFill>
                <a:latin typeface="Arial"/>
                <a:ea typeface="Arial"/>
                <a:cs typeface="Arial"/>
                <a:sym typeface="Arial"/>
              </a:rPr>
              <a:t>Example</a:t>
            </a:r>
            <a:endParaRPr b="0" i="0" sz="17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AutoNum type="arabicPeriod"/>
            </a:pPr>
            <a:r>
              <a:rPr b="0" i="0" lang="en" sz="1700" u="none" cap="none" strike="noStrike">
                <a:solidFill>
                  <a:srgbClr val="000000"/>
                </a:solidFill>
                <a:latin typeface="Arial"/>
                <a:ea typeface="Arial"/>
                <a:cs typeface="Arial"/>
                <a:sym typeface="Arial"/>
              </a:rPr>
              <a:t>Clear conclusion</a:t>
            </a:r>
            <a:endParaRPr b="0" i="0" sz="17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400"/>
              <a:buFont typeface="Arial"/>
              <a:buNone/>
            </a:pPr>
            <a:r>
              <a:rPr b="0" i="0" lang="en" sz="1700" u="none" cap="none" strike="noStrike">
                <a:solidFill>
                  <a:srgbClr val="000000"/>
                </a:solidFill>
                <a:latin typeface="Arial"/>
                <a:ea typeface="Arial"/>
                <a:cs typeface="Arial"/>
                <a:sym typeface="Arial"/>
              </a:rPr>
              <a:t>Write in a professional but accessible tone.</a:t>
            </a:r>
            <a:endParaRPr b="0" i="0" sz="1700" u="none" cap="none" strike="noStrike">
              <a:solidFill>
                <a:srgbClr val="000000"/>
              </a:solidFill>
              <a:latin typeface="Arial"/>
              <a:ea typeface="Arial"/>
              <a:cs typeface="Arial"/>
              <a:sym typeface="Arial"/>
            </a:endParaRPr>
          </a:p>
        </p:txBody>
      </p:sp>
      <p:pic>
        <p:nvPicPr>
          <p:cNvPr id="1077" name="Google Shape;1077;g3968f800dcd_0_0"/>
          <p:cNvPicPr preferRelativeResize="0"/>
          <p:nvPr/>
        </p:nvPicPr>
        <p:blipFill rotWithShape="1">
          <a:blip r:embed="rId3">
            <a:alphaModFix/>
          </a:blip>
          <a:srcRect b="0" l="0" r="0" t="0"/>
          <a:stretch/>
        </p:blipFill>
        <p:spPr>
          <a:xfrm>
            <a:off x="1165417" y="855241"/>
            <a:ext cx="1826103" cy="1757379"/>
          </a:xfrm>
          <a:prstGeom prst="rect">
            <a:avLst/>
          </a:prstGeom>
          <a:noFill/>
          <a:ln>
            <a:noFill/>
          </a:ln>
        </p:spPr>
      </p:pic>
      <p:sp>
        <p:nvSpPr>
          <p:cNvPr id="1078" name="Google Shape;1078;g3968f800dcd_0_0"/>
          <p:cNvSpPr txBox="1"/>
          <p:nvPr/>
        </p:nvSpPr>
        <p:spPr>
          <a:xfrm>
            <a:off x="223125" y="2702016"/>
            <a:ext cx="3710700" cy="222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700" u="none" cap="none" strike="noStrike">
                <a:solidFill>
                  <a:srgbClr val="400080"/>
                </a:solidFill>
                <a:latin typeface="Arial"/>
                <a:ea typeface="Arial"/>
                <a:cs typeface="Arial"/>
                <a:sym typeface="Arial"/>
              </a:rPr>
              <a:t>Optional: challenge the LLM (and yourself) to get a better prompt</a:t>
            </a:r>
            <a:endParaRPr b="1" i="0" sz="1700" u="none" cap="none" strike="noStrike">
              <a:solidFill>
                <a:srgbClr val="40008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1" i="0" sz="500" u="none" cap="none" strike="noStrike">
              <a:solidFill>
                <a:srgbClr val="40008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lang="en" sz="1700">
                <a:solidFill>
                  <a:schemeClr val="dk1"/>
                </a:solidFill>
              </a:rPr>
              <a:t>Option 1: do a flipped interview to determine your preferred style</a:t>
            </a:r>
            <a:endParaRPr sz="1700">
              <a:solidFill>
                <a:schemeClr val="dk1"/>
              </a:solidFill>
            </a:endParaRPr>
          </a:p>
          <a:p>
            <a:pPr indent="0" lvl="0" marL="0" marR="0" rtl="0" algn="l">
              <a:lnSpc>
                <a:spcPct val="100000"/>
              </a:lnSpc>
              <a:spcBef>
                <a:spcPts val="1000"/>
              </a:spcBef>
              <a:spcAft>
                <a:spcPts val="0"/>
              </a:spcAft>
              <a:buClr>
                <a:srgbClr val="000000"/>
              </a:buClr>
              <a:buSzPts val="1800"/>
              <a:buFont typeface="Arial"/>
              <a:buNone/>
            </a:pPr>
            <a:r>
              <a:rPr lang="en" sz="1700">
                <a:solidFill>
                  <a:schemeClr val="dk1"/>
                </a:solidFill>
              </a:rPr>
              <a:t>Option 2: copy-paste one of your texts and s</a:t>
            </a:r>
            <a:r>
              <a:rPr b="0" i="0" lang="en" sz="1700" u="none" cap="none" strike="noStrike">
                <a:solidFill>
                  <a:schemeClr val="dk1"/>
                </a:solidFill>
                <a:latin typeface="Arial"/>
                <a:ea typeface="Arial"/>
                <a:cs typeface="Arial"/>
                <a:sym typeface="Arial"/>
              </a:rPr>
              <a:t>ummarize your writing style</a:t>
            </a:r>
            <a:endParaRPr b="0" i="0" sz="1700" u="none" cap="none" strike="noStrike">
              <a:solidFill>
                <a:schemeClr val="dk1"/>
              </a:solidFill>
              <a:latin typeface="Arial"/>
              <a:ea typeface="Arial"/>
              <a:cs typeface="Arial"/>
              <a:sym typeface="Arial"/>
            </a:endParaRPr>
          </a:p>
        </p:txBody>
      </p:sp>
      <p:sp>
        <p:nvSpPr>
          <p:cNvPr id="1079" name="Google Shape;1079;g3968f800dcd_0_0"/>
          <p:cNvSpPr txBox="1"/>
          <p:nvPr/>
        </p:nvSpPr>
        <p:spPr>
          <a:xfrm>
            <a:off x="153600" y="88750"/>
            <a:ext cx="8068800" cy="677100"/>
          </a:xfrm>
          <a:prstGeom prst="rect">
            <a:avLst/>
          </a:prstGeom>
          <a:noFill/>
          <a:ln>
            <a:noFill/>
          </a:ln>
          <a:effectLst>
            <a:outerShdw blurRad="57150" rotWithShape="0" algn="bl" dir="5400000" dist="19050">
              <a:srgbClr val="D9D9D9">
                <a:alpha val="4863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Writing agent</a:t>
            </a:r>
            <a:endParaRPr b="0" i="0" sz="3200" u="none" cap="none" strike="noStrike">
              <a:solidFill>
                <a:schemeClr val="dk1"/>
              </a:solidFill>
              <a:latin typeface="Oswald"/>
              <a:ea typeface="Oswald"/>
              <a:cs typeface="Oswald"/>
              <a:sym typeface="Oswa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g3cfca7dc821_0_27"/>
          <p:cNvSpPr txBox="1"/>
          <p:nvPr/>
        </p:nvSpPr>
        <p:spPr>
          <a:xfrm>
            <a:off x="153600" y="88750"/>
            <a:ext cx="8068800" cy="677100"/>
          </a:xfrm>
          <a:prstGeom prst="rect">
            <a:avLst/>
          </a:prstGeom>
          <a:noFill/>
          <a:ln>
            <a:noFill/>
          </a:ln>
          <a:effectLst>
            <a:outerShdw blurRad="57150" rotWithShape="0" algn="bl" dir="5400000" dist="19050">
              <a:srgbClr val="D9D9D9">
                <a:alpha val="4863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 agent workflows</a:t>
            </a:r>
            <a:endParaRPr b="0" i="0" sz="3200" u="none" cap="none" strike="noStrike">
              <a:solidFill>
                <a:schemeClr val="dk1"/>
              </a:solidFill>
              <a:latin typeface="Oswald"/>
              <a:ea typeface="Oswald"/>
              <a:cs typeface="Oswald"/>
              <a:sym typeface="Oswald"/>
            </a:endParaRPr>
          </a:p>
        </p:txBody>
      </p:sp>
      <p:pic>
        <p:nvPicPr>
          <p:cNvPr id="1085" name="Google Shape;1085;g3cfca7dc821_0_27"/>
          <p:cNvPicPr preferRelativeResize="0"/>
          <p:nvPr/>
        </p:nvPicPr>
        <p:blipFill rotWithShape="1">
          <a:blip r:embed="rId3">
            <a:alphaModFix/>
          </a:blip>
          <a:srcRect b="0" l="0" r="0" t="0"/>
          <a:stretch/>
        </p:blipFill>
        <p:spPr>
          <a:xfrm>
            <a:off x="789575" y="1505978"/>
            <a:ext cx="1826103" cy="1757379"/>
          </a:xfrm>
          <a:prstGeom prst="rect">
            <a:avLst/>
          </a:prstGeom>
          <a:noFill/>
          <a:ln>
            <a:noFill/>
          </a:ln>
        </p:spPr>
      </p:pic>
      <p:pic>
        <p:nvPicPr>
          <p:cNvPr id="1086" name="Google Shape;1086;g3cfca7dc821_0_27"/>
          <p:cNvPicPr preferRelativeResize="0"/>
          <p:nvPr/>
        </p:nvPicPr>
        <p:blipFill rotWithShape="1">
          <a:blip r:embed="rId4">
            <a:alphaModFix/>
          </a:blip>
          <a:srcRect b="0" l="0" r="0" t="0"/>
          <a:stretch/>
        </p:blipFill>
        <p:spPr>
          <a:xfrm>
            <a:off x="3658942" y="1505991"/>
            <a:ext cx="1826103" cy="1757379"/>
          </a:xfrm>
          <a:prstGeom prst="rect">
            <a:avLst/>
          </a:prstGeom>
          <a:noFill/>
          <a:ln>
            <a:noFill/>
          </a:ln>
        </p:spPr>
      </p:pic>
      <p:pic>
        <p:nvPicPr>
          <p:cNvPr id="1087" name="Google Shape;1087;g3cfca7dc821_0_27"/>
          <p:cNvPicPr preferRelativeResize="0"/>
          <p:nvPr/>
        </p:nvPicPr>
        <p:blipFill rotWithShape="1">
          <a:blip r:embed="rId5">
            <a:alphaModFix/>
          </a:blip>
          <a:srcRect b="0" l="0" r="0" t="0"/>
          <a:stretch/>
        </p:blipFill>
        <p:spPr>
          <a:xfrm>
            <a:off x="6528321" y="1505974"/>
            <a:ext cx="1826103" cy="1757379"/>
          </a:xfrm>
          <a:prstGeom prst="rect">
            <a:avLst/>
          </a:prstGeom>
          <a:noFill/>
          <a:ln>
            <a:noFill/>
          </a:ln>
        </p:spPr>
      </p:pic>
      <p:sp>
        <p:nvSpPr>
          <p:cNvPr id="1088" name="Google Shape;1088;g3cfca7dc821_0_27"/>
          <p:cNvSpPr txBox="1"/>
          <p:nvPr/>
        </p:nvSpPr>
        <p:spPr>
          <a:xfrm>
            <a:off x="711125" y="3351828"/>
            <a:ext cx="1983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lang="en" sz="1800">
                <a:solidFill>
                  <a:schemeClr val="dk1"/>
                </a:solidFill>
              </a:rPr>
              <a:t>Synthesizer</a:t>
            </a:r>
            <a:endParaRPr b="1" i="0" sz="1800" u="none" cap="none" strike="noStrike">
              <a:solidFill>
                <a:schemeClr val="dk1"/>
              </a:solidFill>
              <a:latin typeface="Arial"/>
              <a:ea typeface="Arial"/>
              <a:cs typeface="Arial"/>
              <a:sym typeface="Arial"/>
            </a:endParaRPr>
          </a:p>
        </p:txBody>
      </p:sp>
      <p:sp>
        <p:nvSpPr>
          <p:cNvPr id="1089" name="Google Shape;1089;g3cfca7dc821_0_27"/>
          <p:cNvSpPr txBox="1"/>
          <p:nvPr/>
        </p:nvSpPr>
        <p:spPr>
          <a:xfrm>
            <a:off x="3580500" y="3351828"/>
            <a:ext cx="1983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p:txBody>
      </p:sp>
      <p:sp>
        <p:nvSpPr>
          <p:cNvPr id="1090" name="Google Shape;1090;g3cfca7dc821_0_27"/>
          <p:cNvSpPr txBox="1"/>
          <p:nvPr/>
        </p:nvSpPr>
        <p:spPr>
          <a:xfrm>
            <a:off x="6449875" y="3351828"/>
            <a:ext cx="1983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Critic</a:t>
            </a:r>
            <a:endParaRPr b="1" i="0" sz="1800" u="none" cap="none" strike="noStrike">
              <a:solidFill>
                <a:schemeClr val="dk1"/>
              </a:solidFill>
              <a:latin typeface="Arial"/>
              <a:ea typeface="Arial"/>
              <a:cs typeface="Arial"/>
              <a:sym typeface="Arial"/>
            </a:endParaRPr>
          </a:p>
        </p:txBody>
      </p:sp>
      <p:cxnSp>
        <p:nvCxnSpPr>
          <p:cNvPr id="1091" name="Google Shape;1091;g3cfca7dc821_0_27"/>
          <p:cNvCxnSpPr/>
          <p:nvPr/>
        </p:nvCxnSpPr>
        <p:spPr>
          <a:xfrm>
            <a:off x="2850363" y="2466053"/>
            <a:ext cx="573900" cy="0"/>
          </a:xfrm>
          <a:prstGeom prst="straightConnector1">
            <a:avLst/>
          </a:prstGeom>
          <a:noFill/>
          <a:ln cap="flat" cmpd="sng" w="28575">
            <a:solidFill>
              <a:schemeClr val="dk2"/>
            </a:solidFill>
            <a:prstDash val="solid"/>
            <a:round/>
            <a:headEnd len="sm" w="sm" type="none"/>
            <a:tailEnd len="med" w="med" type="triangle"/>
          </a:ln>
        </p:spPr>
      </p:cxnSp>
      <p:cxnSp>
        <p:nvCxnSpPr>
          <p:cNvPr id="1092" name="Google Shape;1092;g3cfca7dc821_0_27"/>
          <p:cNvCxnSpPr/>
          <p:nvPr/>
        </p:nvCxnSpPr>
        <p:spPr>
          <a:xfrm>
            <a:off x="5719738" y="2466053"/>
            <a:ext cx="573900" cy="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cfca7dc821_0_137"/>
          <p:cNvPicPr preferRelativeResize="0"/>
          <p:nvPr/>
        </p:nvPicPr>
        <p:blipFill rotWithShape="1">
          <a:blip r:embed="rId3">
            <a:alphaModFix/>
          </a:blip>
          <a:srcRect b="0" l="0" r="0" t="0"/>
          <a:stretch/>
        </p:blipFill>
        <p:spPr>
          <a:xfrm>
            <a:off x="4062197" y="1007544"/>
            <a:ext cx="889574" cy="838200"/>
          </a:xfrm>
          <a:prstGeom prst="rect">
            <a:avLst/>
          </a:prstGeom>
          <a:noFill/>
          <a:ln>
            <a:noFill/>
          </a:ln>
        </p:spPr>
      </p:pic>
      <p:pic>
        <p:nvPicPr>
          <p:cNvPr id="1098" name="Google Shape;1098;g3cfca7dc821_0_137"/>
          <p:cNvPicPr preferRelativeResize="0"/>
          <p:nvPr/>
        </p:nvPicPr>
        <p:blipFill rotWithShape="1">
          <a:blip r:embed="rId3">
            <a:alphaModFix/>
          </a:blip>
          <a:srcRect b="0" l="0" r="0" t="0"/>
          <a:stretch/>
        </p:blipFill>
        <p:spPr>
          <a:xfrm>
            <a:off x="1899722" y="2411562"/>
            <a:ext cx="889574" cy="838200"/>
          </a:xfrm>
          <a:prstGeom prst="rect">
            <a:avLst/>
          </a:prstGeom>
          <a:noFill/>
          <a:ln>
            <a:noFill/>
          </a:ln>
        </p:spPr>
      </p:pic>
      <p:pic>
        <p:nvPicPr>
          <p:cNvPr id="1099" name="Google Shape;1099;g3cfca7dc821_0_137"/>
          <p:cNvPicPr preferRelativeResize="0"/>
          <p:nvPr/>
        </p:nvPicPr>
        <p:blipFill rotWithShape="1">
          <a:blip r:embed="rId3">
            <a:alphaModFix/>
          </a:blip>
          <a:srcRect b="0" l="0" r="0" t="0"/>
          <a:stretch/>
        </p:blipFill>
        <p:spPr>
          <a:xfrm>
            <a:off x="4062210" y="2411562"/>
            <a:ext cx="889574" cy="838200"/>
          </a:xfrm>
          <a:prstGeom prst="rect">
            <a:avLst/>
          </a:prstGeom>
          <a:noFill/>
          <a:ln>
            <a:noFill/>
          </a:ln>
        </p:spPr>
      </p:pic>
      <p:pic>
        <p:nvPicPr>
          <p:cNvPr id="1100" name="Google Shape;1100;g3cfca7dc821_0_137"/>
          <p:cNvPicPr preferRelativeResize="0"/>
          <p:nvPr/>
        </p:nvPicPr>
        <p:blipFill rotWithShape="1">
          <a:blip r:embed="rId4">
            <a:alphaModFix/>
          </a:blip>
          <a:srcRect b="0" l="0" r="0" t="0"/>
          <a:stretch/>
        </p:blipFill>
        <p:spPr>
          <a:xfrm>
            <a:off x="4222395" y="224924"/>
            <a:ext cx="584475" cy="589950"/>
          </a:xfrm>
          <a:prstGeom prst="rect">
            <a:avLst/>
          </a:prstGeom>
          <a:noFill/>
          <a:ln>
            <a:noFill/>
          </a:ln>
        </p:spPr>
      </p:pic>
      <p:pic>
        <p:nvPicPr>
          <p:cNvPr id="1101" name="Google Shape;1101;g3cfca7dc821_0_137"/>
          <p:cNvPicPr preferRelativeResize="0"/>
          <p:nvPr/>
        </p:nvPicPr>
        <p:blipFill rotWithShape="1">
          <a:blip r:embed="rId3">
            <a:alphaModFix/>
          </a:blip>
          <a:srcRect b="0" l="0" r="0" t="0"/>
          <a:stretch/>
        </p:blipFill>
        <p:spPr>
          <a:xfrm>
            <a:off x="4069847" y="3850857"/>
            <a:ext cx="889574" cy="838200"/>
          </a:xfrm>
          <a:prstGeom prst="rect">
            <a:avLst/>
          </a:prstGeom>
          <a:noFill/>
          <a:ln>
            <a:noFill/>
          </a:ln>
        </p:spPr>
      </p:pic>
      <p:pic>
        <p:nvPicPr>
          <p:cNvPr id="1102" name="Google Shape;1102;g3cfca7dc821_0_137"/>
          <p:cNvPicPr preferRelativeResize="0"/>
          <p:nvPr/>
        </p:nvPicPr>
        <p:blipFill rotWithShape="1">
          <a:blip r:embed="rId4">
            <a:alphaModFix/>
          </a:blip>
          <a:srcRect b="0" l="0" r="0" t="0"/>
          <a:stretch/>
        </p:blipFill>
        <p:spPr>
          <a:xfrm>
            <a:off x="3298375" y="224924"/>
            <a:ext cx="584475" cy="589950"/>
          </a:xfrm>
          <a:prstGeom prst="rect">
            <a:avLst/>
          </a:prstGeom>
          <a:noFill/>
          <a:ln>
            <a:noFill/>
          </a:ln>
        </p:spPr>
      </p:pic>
      <p:pic>
        <p:nvPicPr>
          <p:cNvPr id="1103" name="Google Shape;1103;g3cfca7dc821_0_137"/>
          <p:cNvPicPr preferRelativeResize="0"/>
          <p:nvPr/>
        </p:nvPicPr>
        <p:blipFill rotWithShape="1">
          <a:blip r:embed="rId4">
            <a:alphaModFix/>
          </a:blip>
          <a:srcRect b="0" l="0" r="0" t="0"/>
          <a:stretch/>
        </p:blipFill>
        <p:spPr>
          <a:xfrm>
            <a:off x="5261175" y="224924"/>
            <a:ext cx="584475" cy="589950"/>
          </a:xfrm>
          <a:prstGeom prst="rect">
            <a:avLst/>
          </a:prstGeom>
          <a:noFill/>
          <a:ln>
            <a:noFill/>
          </a:ln>
        </p:spPr>
      </p:pic>
      <p:pic>
        <p:nvPicPr>
          <p:cNvPr id="1104" name="Google Shape;1104;g3cfca7dc821_0_137"/>
          <p:cNvPicPr preferRelativeResize="0"/>
          <p:nvPr/>
        </p:nvPicPr>
        <p:blipFill rotWithShape="1">
          <a:blip r:embed="rId3">
            <a:alphaModFix/>
          </a:blip>
          <a:srcRect b="0" l="0" r="0" t="0"/>
          <a:stretch/>
        </p:blipFill>
        <p:spPr>
          <a:xfrm>
            <a:off x="6354672" y="2411562"/>
            <a:ext cx="889574" cy="838200"/>
          </a:xfrm>
          <a:prstGeom prst="rect">
            <a:avLst/>
          </a:prstGeom>
          <a:noFill/>
          <a:ln>
            <a:noFill/>
          </a:ln>
        </p:spPr>
      </p:pic>
      <p:cxnSp>
        <p:nvCxnSpPr>
          <p:cNvPr id="1105" name="Google Shape;1105;g3cfca7dc821_0_137"/>
          <p:cNvCxnSpPr>
            <a:stCxn id="1102" idx="2"/>
          </p:cNvCxnSpPr>
          <p:nvPr/>
        </p:nvCxnSpPr>
        <p:spPr>
          <a:xfrm>
            <a:off x="3590613" y="814874"/>
            <a:ext cx="434400" cy="249000"/>
          </a:xfrm>
          <a:prstGeom prst="straightConnector1">
            <a:avLst/>
          </a:prstGeom>
          <a:noFill/>
          <a:ln cap="flat" cmpd="sng" w="19050">
            <a:solidFill>
              <a:schemeClr val="dk2"/>
            </a:solidFill>
            <a:prstDash val="solid"/>
            <a:round/>
            <a:headEnd len="sm" w="sm" type="none"/>
            <a:tailEnd len="med" w="med" type="triangle"/>
          </a:ln>
        </p:spPr>
      </p:cxnSp>
      <p:cxnSp>
        <p:nvCxnSpPr>
          <p:cNvPr id="1106" name="Google Shape;1106;g3cfca7dc821_0_137"/>
          <p:cNvCxnSpPr>
            <a:stCxn id="1100" idx="2"/>
            <a:endCxn id="1097" idx="0"/>
          </p:cNvCxnSpPr>
          <p:nvPr/>
        </p:nvCxnSpPr>
        <p:spPr>
          <a:xfrm flipH="1">
            <a:off x="4507133" y="814874"/>
            <a:ext cx="7500" cy="192600"/>
          </a:xfrm>
          <a:prstGeom prst="straightConnector1">
            <a:avLst/>
          </a:prstGeom>
          <a:noFill/>
          <a:ln cap="flat" cmpd="sng" w="19050">
            <a:solidFill>
              <a:schemeClr val="dk2"/>
            </a:solidFill>
            <a:prstDash val="solid"/>
            <a:round/>
            <a:headEnd len="sm" w="sm" type="none"/>
            <a:tailEnd len="med" w="med" type="triangle"/>
          </a:ln>
        </p:spPr>
      </p:cxnSp>
      <p:cxnSp>
        <p:nvCxnSpPr>
          <p:cNvPr id="1107" name="Google Shape;1107;g3cfca7dc821_0_137"/>
          <p:cNvCxnSpPr>
            <a:stCxn id="1103" idx="2"/>
          </p:cNvCxnSpPr>
          <p:nvPr/>
        </p:nvCxnSpPr>
        <p:spPr>
          <a:xfrm flipH="1">
            <a:off x="4944113" y="814874"/>
            <a:ext cx="609300" cy="234300"/>
          </a:xfrm>
          <a:prstGeom prst="straightConnector1">
            <a:avLst/>
          </a:prstGeom>
          <a:noFill/>
          <a:ln cap="flat" cmpd="sng" w="19050">
            <a:solidFill>
              <a:schemeClr val="dk2"/>
            </a:solidFill>
            <a:prstDash val="solid"/>
            <a:round/>
            <a:headEnd len="sm" w="sm" type="none"/>
            <a:tailEnd len="med" w="med" type="triangle"/>
          </a:ln>
        </p:spPr>
      </p:cxnSp>
      <p:cxnSp>
        <p:nvCxnSpPr>
          <p:cNvPr id="1108" name="Google Shape;1108;g3cfca7dc821_0_137"/>
          <p:cNvCxnSpPr>
            <a:endCxn id="1099" idx="0"/>
          </p:cNvCxnSpPr>
          <p:nvPr/>
        </p:nvCxnSpPr>
        <p:spPr>
          <a:xfrm flipH="1">
            <a:off x="4506997" y="2170062"/>
            <a:ext cx="7500" cy="241500"/>
          </a:xfrm>
          <a:prstGeom prst="straightConnector1">
            <a:avLst/>
          </a:prstGeom>
          <a:noFill/>
          <a:ln cap="flat" cmpd="sng" w="19050">
            <a:solidFill>
              <a:schemeClr val="dk2"/>
            </a:solidFill>
            <a:prstDash val="solid"/>
            <a:round/>
            <a:headEnd len="sm" w="sm" type="none"/>
            <a:tailEnd len="med" w="med" type="triangle"/>
          </a:ln>
        </p:spPr>
      </p:cxnSp>
      <p:cxnSp>
        <p:nvCxnSpPr>
          <p:cNvPr id="1109" name="Google Shape;1109;g3cfca7dc821_0_137"/>
          <p:cNvCxnSpPr/>
          <p:nvPr/>
        </p:nvCxnSpPr>
        <p:spPr>
          <a:xfrm flipH="1" rot="10800000">
            <a:off x="5207725" y="2833642"/>
            <a:ext cx="891000" cy="10200"/>
          </a:xfrm>
          <a:prstGeom prst="straightConnector1">
            <a:avLst/>
          </a:prstGeom>
          <a:noFill/>
          <a:ln cap="flat" cmpd="sng" w="19050">
            <a:solidFill>
              <a:schemeClr val="dk2"/>
            </a:solidFill>
            <a:prstDash val="solid"/>
            <a:round/>
            <a:headEnd len="sm" w="sm" type="none"/>
            <a:tailEnd len="med" w="med" type="triangle"/>
          </a:ln>
        </p:spPr>
      </p:cxnSp>
      <p:cxnSp>
        <p:nvCxnSpPr>
          <p:cNvPr id="1110" name="Google Shape;1110;g3cfca7dc821_0_137"/>
          <p:cNvCxnSpPr/>
          <p:nvPr/>
        </p:nvCxnSpPr>
        <p:spPr>
          <a:xfrm flipH="1" rot="10800000">
            <a:off x="2985450" y="1808667"/>
            <a:ext cx="810300" cy="625500"/>
          </a:xfrm>
          <a:prstGeom prst="straightConnector1">
            <a:avLst/>
          </a:prstGeom>
          <a:noFill/>
          <a:ln cap="flat" cmpd="sng" w="19050">
            <a:solidFill>
              <a:schemeClr val="dk2"/>
            </a:solidFill>
            <a:prstDash val="solid"/>
            <a:round/>
            <a:headEnd len="sm" w="sm" type="none"/>
            <a:tailEnd len="med" w="med" type="triangle"/>
          </a:ln>
        </p:spPr>
      </p:cxnSp>
      <p:cxnSp>
        <p:nvCxnSpPr>
          <p:cNvPr id="1111" name="Google Shape;1111;g3cfca7dc821_0_137"/>
          <p:cNvCxnSpPr/>
          <p:nvPr/>
        </p:nvCxnSpPr>
        <p:spPr>
          <a:xfrm flipH="1" rot="10800000">
            <a:off x="2980250" y="2833642"/>
            <a:ext cx="891000" cy="10200"/>
          </a:xfrm>
          <a:prstGeom prst="straightConnector1">
            <a:avLst/>
          </a:prstGeom>
          <a:noFill/>
          <a:ln cap="flat" cmpd="sng" w="19050">
            <a:solidFill>
              <a:schemeClr val="dk2"/>
            </a:solidFill>
            <a:prstDash val="solid"/>
            <a:round/>
            <a:headEnd len="sm" w="sm" type="none"/>
            <a:tailEnd len="med" w="med" type="triangle"/>
          </a:ln>
        </p:spPr>
      </p:cxnSp>
      <p:sp>
        <p:nvSpPr>
          <p:cNvPr id="1112" name="Google Shape;1112;g3cfca7dc821_0_137"/>
          <p:cNvSpPr/>
          <p:nvPr/>
        </p:nvSpPr>
        <p:spPr>
          <a:xfrm>
            <a:off x="3812175" y="3232639"/>
            <a:ext cx="1389600" cy="1039800"/>
          </a:xfrm>
          <a:prstGeom prst="arc">
            <a:avLst>
              <a:gd fmla="val 18791630" name="adj1"/>
              <a:gd fmla="val 2185429" name="adj2"/>
            </a:avLst>
          </a:prstGeom>
          <a:noFill/>
          <a:ln cap="flat" cmpd="sng" w="19050">
            <a:solidFill>
              <a:schemeClr val="dk2"/>
            </a:solidFill>
            <a:prstDash val="solid"/>
            <a:round/>
            <a:headEnd len="sm" w="sm" type="none"/>
            <a:tailEnd len="sm" w="sm" type="triangl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g3cfca7dc821_0_137"/>
          <p:cNvSpPr/>
          <p:nvPr/>
        </p:nvSpPr>
        <p:spPr>
          <a:xfrm>
            <a:off x="3819838" y="3232639"/>
            <a:ext cx="1389600" cy="1039800"/>
          </a:xfrm>
          <a:prstGeom prst="arc">
            <a:avLst>
              <a:gd fmla="val 8488520" name="adj1"/>
              <a:gd fmla="val 13251775" name="adj2"/>
            </a:avLst>
          </a:prstGeom>
          <a:noFill/>
          <a:ln cap="flat" cmpd="sng" w="19050">
            <a:solidFill>
              <a:schemeClr val="dk2"/>
            </a:solidFill>
            <a:prstDash val="solid"/>
            <a:round/>
            <a:headEnd len="sm" w="sm" type="none"/>
            <a:tailEnd len="sm" w="sm" type="triangl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g3cfca7dc821_0_137"/>
          <p:cNvSpPr txBox="1"/>
          <p:nvPr/>
        </p:nvSpPr>
        <p:spPr>
          <a:xfrm>
            <a:off x="1284923" y="3189797"/>
            <a:ext cx="2119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Content proposal</a:t>
            </a:r>
            <a:endParaRPr b="1" i="0" sz="1600" u="none" cap="none" strike="noStrike">
              <a:solidFill>
                <a:schemeClr val="dk1"/>
              </a:solidFill>
              <a:latin typeface="Arial"/>
              <a:ea typeface="Arial"/>
              <a:cs typeface="Arial"/>
              <a:sym typeface="Arial"/>
            </a:endParaRPr>
          </a:p>
        </p:txBody>
      </p:sp>
      <p:sp>
        <p:nvSpPr>
          <p:cNvPr id="1115" name="Google Shape;1115;g3cfca7dc821_0_137"/>
          <p:cNvSpPr txBox="1"/>
          <p:nvPr/>
        </p:nvSpPr>
        <p:spPr>
          <a:xfrm>
            <a:off x="3447373" y="1732799"/>
            <a:ext cx="2119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Researcher</a:t>
            </a:r>
            <a:endParaRPr b="1" i="0" sz="1600" u="none" cap="none" strike="noStrike">
              <a:solidFill>
                <a:schemeClr val="dk1"/>
              </a:solidFill>
              <a:latin typeface="Arial"/>
              <a:ea typeface="Arial"/>
              <a:cs typeface="Arial"/>
              <a:sym typeface="Arial"/>
            </a:endParaRPr>
          </a:p>
        </p:txBody>
      </p:sp>
      <p:sp>
        <p:nvSpPr>
          <p:cNvPr id="1116" name="Google Shape;1116;g3cfca7dc821_0_137"/>
          <p:cNvSpPr txBox="1"/>
          <p:nvPr/>
        </p:nvSpPr>
        <p:spPr>
          <a:xfrm>
            <a:off x="3447373" y="3141297"/>
            <a:ext cx="2119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Writer</a:t>
            </a:r>
            <a:endParaRPr b="1" i="0" sz="1600" u="none" cap="none" strike="noStrike">
              <a:solidFill>
                <a:schemeClr val="dk1"/>
              </a:solidFill>
              <a:latin typeface="Arial"/>
              <a:ea typeface="Arial"/>
              <a:cs typeface="Arial"/>
              <a:sym typeface="Arial"/>
            </a:endParaRPr>
          </a:p>
        </p:txBody>
      </p:sp>
      <p:sp>
        <p:nvSpPr>
          <p:cNvPr id="1117" name="Google Shape;1117;g3cfca7dc821_0_137"/>
          <p:cNvSpPr txBox="1"/>
          <p:nvPr/>
        </p:nvSpPr>
        <p:spPr>
          <a:xfrm>
            <a:off x="3447385" y="4596154"/>
            <a:ext cx="2119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Reviewer</a:t>
            </a:r>
            <a:endParaRPr b="1" i="0" sz="1600" u="none" cap="none" strike="noStrike">
              <a:solidFill>
                <a:schemeClr val="dk1"/>
              </a:solidFill>
              <a:latin typeface="Arial"/>
              <a:ea typeface="Arial"/>
              <a:cs typeface="Arial"/>
              <a:sym typeface="Arial"/>
            </a:endParaRPr>
          </a:p>
        </p:txBody>
      </p:sp>
      <p:sp>
        <p:nvSpPr>
          <p:cNvPr id="1118" name="Google Shape;1118;g3cfca7dc821_0_137"/>
          <p:cNvSpPr txBox="1"/>
          <p:nvPr/>
        </p:nvSpPr>
        <p:spPr>
          <a:xfrm>
            <a:off x="5739873" y="3189797"/>
            <a:ext cx="2119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Arial"/>
                <a:ea typeface="Arial"/>
                <a:cs typeface="Arial"/>
                <a:sym typeface="Arial"/>
              </a:rPr>
              <a:t>Stylist</a:t>
            </a:r>
            <a:endParaRPr b="1" i="0" sz="1600" u="none" cap="none" strike="noStrike">
              <a:solidFill>
                <a:schemeClr val="dk1"/>
              </a:solidFill>
              <a:latin typeface="Arial"/>
              <a:ea typeface="Arial"/>
              <a:cs typeface="Arial"/>
              <a:sym typeface="Arial"/>
            </a:endParaRPr>
          </a:p>
        </p:txBody>
      </p:sp>
      <p:sp>
        <p:nvSpPr>
          <p:cNvPr id="1119" name="Google Shape;1119;g3cfca7dc821_0_137"/>
          <p:cNvSpPr txBox="1"/>
          <p:nvPr/>
        </p:nvSpPr>
        <p:spPr>
          <a:xfrm>
            <a:off x="5455625" y="3714825"/>
            <a:ext cx="3138600" cy="738900"/>
          </a:xfrm>
          <a:prstGeom prst="rect">
            <a:avLst/>
          </a:prstGeom>
          <a:solidFill>
            <a:srgbClr val="FF9900"/>
          </a:solidFill>
          <a:ln cap="flat" cmpd="sng" w="3810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Flipped interview for personalization</a:t>
            </a:r>
            <a:endParaRPr b="1" sz="1800">
              <a:solidFill>
                <a:schemeClr val="dk1"/>
              </a:solidFill>
            </a:endParaRPr>
          </a:p>
        </p:txBody>
      </p:sp>
      <p:pic>
        <p:nvPicPr>
          <p:cNvPr id="1120" name="Google Shape;1120;g3cfca7dc821_0_137"/>
          <p:cNvPicPr preferRelativeResize="0"/>
          <p:nvPr/>
        </p:nvPicPr>
        <p:blipFill>
          <a:blip r:embed="rId5">
            <a:alphaModFix/>
          </a:blip>
          <a:stretch>
            <a:fillRect/>
          </a:stretch>
        </p:blipFill>
        <p:spPr>
          <a:xfrm>
            <a:off x="7784000" y="3641100"/>
            <a:ext cx="886374" cy="886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g3968f800dcd_0_61"/>
          <p:cNvSpPr txBox="1"/>
          <p:nvPr/>
        </p:nvSpPr>
        <p:spPr>
          <a:xfrm>
            <a:off x="330300" y="912425"/>
            <a:ext cx="8120700" cy="3724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600"/>
              <a:t>You are an </a:t>
            </a:r>
            <a:r>
              <a:rPr b="1" lang="en" sz="1600"/>
              <a:t>Agent Creator</a:t>
            </a:r>
            <a:r>
              <a:rPr lang="en" sz="1600"/>
              <a:t>.</a:t>
            </a:r>
            <a:endParaRPr sz="1600"/>
          </a:p>
          <a:p>
            <a:pPr indent="0" lvl="0" marL="0" rtl="0" algn="l">
              <a:lnSpc>
                <a:spcPct val="115000"/>
              </a:lnSpc>
              <a:spcBef>
                <a:spcPts val="1200"/>
              </a:spcBef>
              <a:spcAft>
                <a:spcPts val="0"/>
              </a:spcAft>
              <a:buClr>
                <a:schemeClr val="dk1"/>
              </a:buClr>
              <a:buSzPts val="1100"/>
              <a:buFont typeface="Arial"/>
              <a:buNone/>
            </a:pPr>
            <a:r>
              <a:rPr b="1" lang="en" sz="1600"/>
              <a:t>Conduct a flipped interview</a:t>
            </a:r>
            <a:r>
              <a:rPr lang="en" sz="1600"/>
              <a:t> with the user to </a:t>
            </a:r>
            <a:r>
              <a:rPr b="1" lang="en" sz="1600"/>
              <a:t>design a concise, personalized instruction prompt for a custom agent</a:t>
            </a:r>
            <a:r>
              <a:rPr lang="en" sz="1600"/>
              <a:t>.</a:t>
            </a:r>
            <a:endParaRPr sz="1600"/>
          </a:p>
          <a:p>
            <a:pPr indent="0" lvl="0" marL="0" rtl="0" algn="l">
              <a:lnSpc>
                <a:spcPct val="115000"/>
              </a:lnSpc>
              <a:spcBef>
                <a:spcPts val="1200"/>
              </a:spcBef>
              <a:spcAft>
                <a:spcPts val="0"/>
              </a:spcAft>
              <a:buClr>
                <a:schemeClr val="dk1"/>
              </a:buClr>
              <a:buSzPts val="1100"/>
              <a:buFont typeface="Arial"/>
              <a:buNone/>
            </a:pPr>
            <a:r>
              <a:rPr b="1" lang="en" sz="1600"/>
              <a:t>Method</a:t>
            </a:r>
            <a:r>
              <a:rPr lang="en" sz="1600"/>
              <a:t>:</a:t>
            </a:r>
            <a:br>
              <a:rPr lang="en" sz="1600"/>
            </a:br>
            <a:r>
              <a:rPr lang="en" sz="1600"/>
              <a:t>- You ask the questions; the user answers; one question at a time</a:t>
            </a:r>
            <a:br>
              <a:rPr lang="en" sz="1600"/>
            </a:br>
            <a:r>
              <a:rPr lang="en" sz="1600"/>
              <a:t>- Ask only what is essential to define the agent’s role, scope, tone, constraints, and success criteria.</a:t>
            </a:r>
            <a:br>
              <a:rPr lang="en" sz="1600"/>
            </a:br>
            <a:r>
              <a:rPr lang="en" sz="1600"/>
              <a:t>- Stop once enough information is collected.</a:t>
            </a:r>
            <a:endParaRPr sz="1600"/>
          </a:p>
          <a:p>
            <a:pPr indent="0" lvl="0" marL="0" rtl="0" algn="l">
              <a:lnSpc>
                <a:spcPct val="115000"/>
              </a:lnSpc>
              <a:spcBef>
                <a:spcPts val="1200"/>
              </a:spcBef>
              <a:spcAft>
                <a:spcPts val="1200"/>
              </a:spcAft>
              <a:buClr>
                <a:schemeClr val="dk1"/>
              </a:buClr>
              <a:buSzPts val="1100"/>
              <a:buFont typeface="Arial"/>
              <a:buNone/>
            </a:pPr>
            <a:r>
              <a:rPr b="1" lang="en" sz="1600"/>
              <a:t>Output</a:t>
            </a:r>
            <a:r>
              <a:rPr lang="en" sz="1600"/>
              <a:t>:</a:t>
            </a:r>
            <a:br>
              <a:rPr lang="en" sz="1600"/>
            </a:br>
            <a:r>
              <a:rPr lang="en" sz="1600"/>
              <a:t>- A short, clear instruction prompt the user can directly use as the agent’s system prompt.</a:t>
            </a:r>
            <a:endParaRPr sz="1600"/>
          </a:p>
        </p:txBody>
      </p:sp>
      <p:pic>
        <p:nvPicPr>
          <p:cNvPr id="1126" name="Google Shape;1126;g3968f800dcd_0_61"/>
          <p:cNvPicPr preferRelativeResize="0"/>
          <p:nvPr/>
        </p:nvPicPr>
        <p:blipFill rotWithShape="1">
          <a:blip r:embed="rId3">
            <a:alphaModFix/>
          </a:blip>
          <a:srcRect b="0" l="0" r="0" t="0"/>
          <a:stretch/>
        </p:blipFill>
        <p:spPr>
          <a:xfrm>
            <a:off x="7342423" y="88748"/>
            <a:ext cx="1342200" cy="1291675"/>
          </a:xfrm>
          <a:prstGeom prst="rect">
            <a:avLst/>
          </a:prstGeom>
          <a:noFill/>
          <a:ln>
            <a:noFill/>
          </a:ln>
        </p:spPr>
      </p:pic>
      <p:sp>
        <p:nvSpPr>
          <p:cNvPr id="1127" name="Google Shape;1127;g3968f800dcd_0_61"/>
          <p:cNvSpPr txBox="1"/>
          <p:nvPr/>
        </p:nvSpPr>
        <p:spPr>
          <a:xfrm>
            <a:off x="537600" y="88750"/>
            <a:ext cx="8068800" cy="677100"/>
          </a:xfrm>
          <a:prstGeom prst="rect">
            <a:avLst/>
          </a:prstGeom>
          <a:noFill/>
          <a:ln>
            <a:noFill/>
          </a:ln>
          <a:effectLst>
            <a:outerShdw blurRad="57150" rotWithShape="0" algn="bl" dir="5400000" dist="19050">
              <a:srgbClr val="D9D9D9">
                <a:alpha val="4863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n" sz="3200">
                <a:solidFill>
                  <a:schemeClr val="dk1"/>
                </a:solidFill>
                <a:latin typeface="Oswald"/>
                <a:ea typeface="Oswald"/>
                <a:cs typeface="Oswald"/>
                <a:sym typeface="Oswald"/>
              </a:rPr>
              <a:t>Agent creator</a:t>
            </a:r>
            <a:endParaRPr b="0" i="0" sz="3200" u="none" cap="none" strike="noStrike">
              <a:solidFill>
                <a:schemeClr val="dk1"/>
              </a:solidFill>
              <a:latin typeface="Oswald"/>
              <a:ea typeface="Oswald"/>
              <a:cs typeface="Oswald"/>
              <a:sym typeface="Oswa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1" name="Shape 1131"/>
        <p:cNvGrpSpPr/>
        <p:nvPr/>
      </p:nvGrpSpPr>
      <p:grpSpPr>
        <a:xfrm>
          <a:off x="0" y="0"/>
          <a:ext cx="0" cy="0"/>
          <a:chOff x="0" y="0"/>
          <a:chExt cx="0" cy="0"/>
        </a:xfrm>
      </p:grpSpPr>
      <p:sp>
        <p:nvSpPr>
          <p:cNvPr id="1132" name="Google Shape;1132;g3cfca7dc821_0_114"/>
          <p:cNvSpPr txBox="1"/>
          <p:nvPr/>
        </p:nvSpPr>
        <p:spPr>
          <a:xfrm>
            <a:off x="153600" y="88750"/>
            <a:ext cx="8068800" cy="677100"/>
          </a:xfrm>
          <a:prstGeom prst="rect">
            <a:avLst/>
          </a:prstGeom>
          <a:noFill/>
          <a:ln>
            <a:noFill/>
          </a:ln>
          <a:effectLst>
            <a:outerShdw blurRad="57150" rotWithShape="0" algn="bl" dir="5400000" dist="19050">
              <a:srgbClr val="D9D9D9">
                <a:alpha val="48627"/>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 agent workflows</a:t>
            </a:r>
            <a:endParaRPr b="0" i="0" sz="3200" u="none" cap="none" strike="noStrike">
              <a:solidFill>
                <a:schemeClr val="dk1"/>
              </a:solidFill>
              <a:latin typeface="Oswald"/>
              <a:ea typeface="Oswald"/>
              <a:cs typeface="Oswald"/>
              <a:sym typeface="Oswald"/>
            </a:endParaRPr>
          </a:p>
        </p:txBody>
      </p:sp>
      <p:sp>
        <p:nvSpPr>
          <p:cNvPr id="1133" name="Google Shape;1133;g3cfca7dc821_0_114"/>
          <p:cNvSpPr txBox="1"/>
          <p:nvPr/>
        </p:nvSpPr>
        <p:spPr>
          <a:xfrm>
            <a:off x="762700" y="1157400"/>
            <a:ext cx="3780000" cy="3588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400"/>
              <a:buFont typeface="Arial"/>
              <a:buNone/>
            </a:pPr>
            <a:r>
              <a:rPr b="1" lang="en"/>
              <a:t>Synthesizer</a:t>
            </a:r>
            <a:endParaRPr b="1"/>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You are a </a:t>
            </a:r>
            <a:r>
              <a:rPr b="1" lang="en"/>
              <a:t>research assistant</a:t>
            </a:r>
            <a:r>
              <a:rPr lang="en"/>
              <a:t> specialized in writing scientific </a:t>
            </a:r>
            <a:r>
              <a:rPr lang="en"/>
              <a:t>abstracts.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Your </a:t>
            </a:r>
            <a:r>
              <a:rPr lang="en"/>
              <a:t>task is to:</a:t>
            </a:r>
            <a:br>
              <a:rPr lang="en"/>
            </a:br>
            <a:r>
              <a:rPr lang="en"/>
              <a:t>- </a:t>
            </a:r>
            <a:r>
              <a:rPr b="1" lang="en"/>
              <a:t>analyze an input file</a:t>
            </a:r>
            <a:br>
              <a:rPr lang="en"/>
            </a:br>
            <a:r>
              <a:rPr lang="en"/>
              <a:t>- extract information</a:t>
            </a:r>
            <a:br>
              <a:rPr lang="en"/>
            </a:br>
            <a:r>
              <a:rPr lang="en"/>
              <a:t>- </a:t>
            </a:r>
            <a:r>
              <a:rPr b="1" lang="en"/>
              <a:t>define the scaffold for a scientific abstract</a:t>
            </a:r>
            <a:br>
              <a:rPr lang="en"/>
            </a:br>
            <a:r>
              <a:rPr lang="en"/>
              <a:t>- search for relevant citations (only academic papers)</a:t>
            </a:r>
            <a:endParaRPr/>
          </a:p>
          <a:p>
            <a:pPr indent="0" lvl="0" marL="0" marR="0" rtl="0" algn="l">
              <a:lnSpc>
                <a:spcPct val="115000"/>
              </a:lnSpc>
              <a:spcBef>
                <a:spcPts val="1200"/>
              </a:spcBef>
              <a:spcAft>
                <a:spcPts val="1200"/>
              </a:spcAft>
              <a:buClr>
                <a:srgbClr val="000000"/>
              </a:buClr>
              <a:buSzPts val="1400"/>
              <a:buFont typeface="Arial"/>
              <a:buNone/>
            </a:pPr>
            <a:r>
              <a:rPr lang="en"/>
              <a:t>Never generate the actual </a:t>
            </a:r>
            <a:r>
              <a:rPr lang="en"/>
              <a:t>abstract</a:t>
            </a:r>
            <a:r>
              <a:rPr lang="en"/>
              <a:t>, but define the scaffold for the content.</a:t>
            </a:r>
            <a:endParaRPr b="0" i="0" sz="1400" u="none" cap="none" strike="noStrike">
              <a:solidFill>
                <a:srgbClr val="000000"/>
              </a:solidFill>
              <a:latin typeface="Arial"/>
              <a:ea typeface="Arial"/>
              <a:cs typeface="Arial"/>
              <a:sym typeface="Arial"/>
            </a:endParaRPr>
          </a:p>
        </p:txBody>
      </p:sp>
      <p:sp>
        <p:nvSpPr>
          <p:cNvPr id="1134" name="Google Shape;1134;g3cfca7dc821_0_114"/>
          <p:cNvSpPr txBox="1"/>
          <p:nvPr/>
        </p:nvSpPr>
        <p:spPr>
          <a:xfrm>
            <a:off x="4753475" y="1174325"/>
            <a:ext cx="3468900" cy="2847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Critic</a:t>
            </a:r>
            <a:endParaRPr b="1"/>
          </a:p>
          <a:p>
            <a:pPr indent="0" lvl="0" marL="0" marR="0" rtl="0" algn="l">
              <a:lnSpc>
                <a:spcPct val="115000"/>
              </a:lnSpc>
              <a:spcBef>
                <a:spcPts val="1200"/>
              </a:spcBef>
              <a:spcAft>
                <a:spcPts val="0"/>
              </a:spcAft>
              <a:buClr>
                <a:srgbClr val="000000"/>
              </a:buClr>
              <a:buSzPts val="1400"/>
              <a:buFont typeface="Arial"/>
              <a:buNone/>
            </a:pPr>
            <a:r>
              <a:rPr lang="en">
                <a:solidFill>
                  <a:schemeClr val="dk1"/>
                </a:solidFill>
              </a:rPr>
              <a:t>You are a </a:t>
            </a:r>
            <a:r>
              <a:rPr b="1" lang="en">
                <a:solidFill>
                  <a:schemeClr val="dk1"/>
                </a:solidFill>
              </a:rPr>
              <a:t>reviewer for a scientific conference</a:t>
            </a:r>
            <a:r>
              <a:rPr lang="en">
                <a:solidFill>
                  <a:schemeClr val="dk1"/>
                </a:solidFill>
              </a:rPr>
              <a:t>.</a:t>
            </a:r>
            <a:endParaRPr>
              <a:solidFill>
                <a:schemeClr val="dk1"/>
              </a:solidFill>
            </a:endParaRPr>
          </a:p>
          <a:p>
            <a:pPr indent="0" lvl="0" marL="0" rtl="0" algn="l">
              <a:spcBef>
                <a:spcPts val="1000"/>
              </a:spcBef>
              <a:spcAft>
                <a:spcPts val="0"/>
              </a:spcAft>
              <a:buClr>
                <a:schemeClr val="dk1"/>
              </a:buClr>
              <a:buSzPts val="1100"/>
              <a:buFont typeface="Arial"/>
              <a:buNone/>
            </a:pPr>
            <a:r>
              <a:rPr lang="en">
                <a:solidFill>
                  <a:schemeClr val="dk1"/>
                </a:solidFill>
              </a:rPr>
              <a:t>You will </a:t>
            </a:r>
            <a:r>
              <a:rPr b="1" lang="en">
                <a:solidFill>
                  <a:schemeClr val="dk1"/>
                </a:solidFill>
              </a:rPr>
              <a:t>critically review abstract texts</a:t>
            </a:r>
            <a:r>
              <a:rPr lang="en">
                <a:solidFill>
                  <a:schemeClr val="dk1"/>
                </a:solidFill>
              </a:rPr>
              <a:t> that are given to you.</a:t>
            </a:r>
            <a:endParaRPr>
              <a:solidFill>
                <a:schemeClr val="dk1"/>
              </a:solidFill>
            </a:endParaRPr>
          </a:p>
          <a:p>
            <a:pPr indent="0" lvl="0" marL="0" rtl="0" algn="l">
              <a:spcBef>
                <a:spcPts val="1000"/>
              </a:spcBef>
              <a:spcAft>
                <a:spcPts val="1000"/>
              </a:spcAft>
              <a:buClr>
                <a:schemeClr val="dk1"/>
              </a:buClr>
              <a:buSzPts val="1100"/>
              <a:buFont typeface="Arial"/>
              <a:buNone/>
            </a:pPr>
            <a:r>
              <a:rPr lang="en">
                <a:solidFill>
                  <a:schemeClr val="dk1"/>
                </a:solidFill>
              </a:rPr>
              <a:t>Your goal is to </a:t>
            </a:r>
            <a:r>
              <a:rPr b="1" lang="en">
                <a:solidFill>
                  <a:schemeClr val="dk1"/>
                </a:solidFill>
              </a:rPr>
              <a:t>give feedback</a:t>
            </a:r>
            <a:r>
              <a:rPr lang="en">
                <a:solidFill>
                  <a:schemeClr val="dk1"/>
                </a:solidFill>
              </a:rPr>
              <a:t> that will help to improve the scientific quality of the abstract. Highlight the strengths and weaknesses, and </a:t>
            </a:r>
            <a:r>
              <a:rPr b="1" lang="en">
                <a:solidFill>
                  <a:schemeClr val="dk1"/>
                </a:solidFill>
              </a:rPr>
              <a:t>suggest an improved version</a:t>
            </a:r>
            <a:r>
              <a:rPr lang="en">
                <a:solidFill>
                  <a:schemeClr val="dk1"/>
                </a:solidFill>
              </a:rPr>
              <a:t>.</a:t>
            </a:r>
            <a:endParaRPr/>
          </a:p>
        </p:txBody>
      </p:sp>
      <p:pic>
        <p:nvPicPr>
          <p:cNvPr id="1135" name="Google Shape;1135;g3cfca7dc821_0_114"/>
          <p:cNvPicPr preferRelativeResize="0"/>
          <p:nvPr/>
        </p:nvPicPr>
        <p:blipFill rotWithShape="1">
          <a:blip r:embed="rId3">
            <a:alphaModFix/>
          </a:blip>
          <a:srcRect b="0" l="0" r="0" t="0"/>
          <a:stretch/>
        </p:blipFill>
        <p:spPr>
          <a:xfrm>
            <a:off x="762700" y="4747800"/>
            <a:ext cx="1399231" cy="313096"/>
          </a:xfrm>
          <a:prstGeom prst="rect">
            <a:avLst/>
          </a:prstGeom>
          <a:noFill/>
          <a:ln>
            <a:noFill/>
          </a:ln>
        </p:spPr>
      </p:pic>
      <p:pic>
        <p:nvPicPr>
          <p:cNvPr id="1136" name="Google Shape;1136;g3cfca7dc821_0_114"/>
          <p:cNvPicPr preferRelativeResize="0"/>
          <p:nvPr/>
        </p:nvPicPr>
        <p:blipFill>
          <a:blip r:embed="rId4">
            <a:alphaModFix/>
          </a:blip>
          <a:stretch>
            <a:fillRect/>
          </a:stretch>
        </p:blipFill>
        <p:spPr>
          <a:xfrm>
            <a:off x="3697934" y="826000"/>
            <a:ext cx="754750" cy="765225"/>
          </a:xfrm>
          <a:prstGeom prst="rect">
            <a:avLst/>
          </a:prstGeom>
          <a:noFill/>
          <a:ln>
            <a:noFill/>
          </a:ln>
        </p:spPr>
      </p:pic>
      <p:pic>
        <p:nvPicPr>
          <p:cNvPr id="1137" name="Google Shape;1137;g3cfca7dc821_0_114"/>
          <p:cNvPicPr preferRelativeResize="0"/>
          <p:nvPr/>
        </p:nvPicPr>
        <p:blipFill>
          <a:blip r:embed="rId4">
            <a:alphaModFix/>
          </a:blip>
          <a:stretch>
            <a:fillRect/>
          </a:stretch>
        </p:blipFill>
        <p:spPr>
          <a:xfrm>
            <a:off x="7378862" y="826010"/>
            <a:ext cx="754750" cy="765225"/>
          </a:xfrm>
          <a:prstGeom prst="rect">
            <a:avLst/>
          </a:prstGeom>
          <a:noFill/>
          <a:ln>
            <a:noFill/>
          </a:ln>
        </p:spPr>
      </p:pic>
      <p:pic>
        <p:nvPicPr>
          <p:cNvPr id="1138" name="Google Shape;1138;g3cfca7dc821_0_114"/>
          <p:cNvPicPr preferRelativeResize="0"/>
          <p:nvPr/>
        </p:nvPicPr>
        <p:blipFill rotWithShape="1">
          <a:blip r:embed="rId5">
            <a:alphaModFix/>
          </a:blip>
          <a:srcRect b="0" l="0" r="0" t="0"/>
          <a:stretch/>
        </p:blipFill>
        <p:spPr>
          <a:xfrm>
            <a:off x="850850" y="389775"/>
            <a:ext cx="795152" cy="765225"/>
          </a:xfrm>
          <a:prstGeom prst="rect">
            <a:avLst/>
          </a:prstGeom>
          <a:noFill/>
          <a:ln>
            <a:noFill/>
          </a:ln>
        </p:spPr>
      </p:pic>
      <p:pic>
        <p:nvPicPr>
          <p:cNvPr id="1139" name="Google Shape;1139;g3cfca7dc821_0_114"/>
          <p:cNvPicPr preferRelativeResize="0"/>
          <p:nvPr/>
        </p:nvPicPr>
        <p:blipFill rotWithShape="1">
          <a:blip r:embed="rId6">
            <a:alphaModFix/>
          </a:blip>
          <a:srcRect b="0" l="0" r="0" t="0"/>
          <a:stretch/>
        </p:blipFill>
        <p:spPr>
          <a:xfrm>
            <a:off x="6570615" y="389774"/>
            <a:ext cx="795150" cy="765225"/>
          </a:xfrm>
          <a:prstGeom prst="rect">
            <a:avLst/>
          </a:prstGeom>
          <a:noFill/>
          <a:ln>
            <a:noFill/>
          </a:ln>
        </p:spPr>
      </p:pic>
      <p:sp>
        <p:nvSpPr>
          <p:cNvPr id="1140" name="Google Shape;1140;g3cfca7dc821_0_114"/>
          <p:cNvSpPr txBox="1"/>
          <p:nvPr/>
        </p:nvSpPr>
        <p:spPr>
          <a:xfrm>
            <a:off x="4753475" y="4086025"/>
            <a:ext cx="3138600" cy="738900"/>
          </a:xfrm>
          <a:prstGeom prst="rect">
            <a:avLst/>
          </a:prstGeom>
          <a:solidFill>
            <a:srgbClr val="FF9900"/>
          </a:solidFill>
          <a:ln cap="flat" cmpd="sng" w="3810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Flipped interview for personalization</a:t>
            </a:r>
            <a:endParaRPr b="1" sz="1800">
              <a:solidFill>
                <a:schemeClr val="dk1"/>
              </a:solidFill>
            </a:endParaRPr>
          </a:p>
        </p:txBody>
      </p:sp>
      <p:pic>
        <p:nvPicPr>
          <p:cNvPr id="1141" name="Google Shape;1141;g3cfca7dc821_0_114"/>
          <p:cNvPicPr preferRelativeResize="0"/>
          <p:nvPr/>
        </p:nvPicPr>
        <p:blipFill>
          <a:blip r:embed="rId7">
            <a:alphaModFix/>
          </a:blip>
          <a:stretch>
            <a:fillRect/>
          </a:stretch>
        </p:blipFill>
        <p:spPr>
          <a:xfrm>
            <a:off x="7081850" y="4012300"/>
            <a:ext cx="886374" cy="8863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968f800dcd_0_69"/>
          <p:cNvSpPr txBox="1"/>
          <p:nvPr/>
        </p:nvSpPr>
        <p:spPr>
          <a:xfrm>
            <a:off x="153600" y="88750"/>
            <a:ext cx="8068800" cy="677100"/>
          </a:xfrm>
          <a:prstGeom prst="rect">
            <a:avLst/>
          </a:prstGeom>
          <a:noFill/>
          <a:ln>
            <a:noFill/>
          </a:ln>
          <a:effectLst>
            <a:outerShdw blurRad="57150" rotWithShape="0" algn="bl" dir="5400000" dist="19050">
              <a:srgbClr val="D9D9D9">
                <a:alpha val="4863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dk1"/>
                </a:solidFill>
                <a:latin typeface="Oswald"/>
                <a:ea typeface="Oswald"/>
                <a:cs typeface="Oswald"/>
                <a:sym typeface="Oswald"/>
              </a:rPr>
              <a:t>AI agent workflows</a:t>
            </a:r>
            <a:endParaRPr b="0" i="0" sz="3200" u="none" cap="none" strike="noStrike">
              <a:solidFill>
                <a:schemeClr val="dk1"/>
              </a:solidFill>
              <a:latin typeface="Oswald"/>
              <a:ea typeface="Oswald"/>
              <a:cs typeface="Oswald"/>
              <a:sym typeface="Oswald"/>
            </a:endParaRPr>
          </a:p>
        </p:txBody>
      </p:sp>
      <p:pic>
        <p:nvPicPr>
          <p:cNvPr id="1147" name="Google Shape;1147;g3968f800dcd_0_69"/>
          <p:cNvPicPr preferRelativeResize="0"/>
          <p:nvPr/>
        </p:nvPicPr>
        <p:blipFill rotWithShape="1">
          <a:blip r:embed="rId3">
            <a:alphaModFix/>
          </a:blip>
          <a:srcRect b="0" l="0" r="0" t="0"/>
          <a:stretch/>
        </p:blipFill>
        <p:spPr>
          <a:xfrm>
            <a:off x="789575" y="1505978"/>
            <a:ext cx="1826103" cy="1757379"/>
          </a:xfrm>
          <a:prstGeom prst="rect">
            <a:avLst/>
          </a:prstGeom>
          <a:noFill/>
          <a:ln>
            <a:noFill/>
          </a:ln>
        </p:spPr>
      </p:pic>
      <p:pic>
        <p:nvPicPr>
          <p:cNvPr id="1148" name="Google Shape;1148;g3968f800dcd_0_69"/>
          <p:cNvPicPr preferRelativeResize="0"/>
          <p:nvPr/>
        </p:nvPicPr>
        <p:blipFill rotWithShape="1">
          <a:blip r:embed="rId4">
            <a:alphaModFix/>
          </a:blip>
          <a:srcRect b="0" l="0" r="0" t="0"/>
          <a:stretch/>
        </p:blipFill>
        <p:spPr>
          <a:xfrm>
            <a:off x="3658942" y="1505991"/>
            <a:ext cx="1826103" cy="1757379"/>
          </a:xfrm>
          <a:prstGeom prst="rect">
            <a:avLst/>
          </a:prstGeom>
          <a:noFill/>
          <a:ln>
            <a:noFill/>
          </a:ln>
        </p:spPr>
      </p:pic>
      <p:pic>
        <p:nvPicPr>
          <p:cNvPr id="1149" name="Google Shape;1149;g3968f800dcd_0_69"/>
          <p:cNvPicPr preferRelativeResize="0"/>
          <p:nvPr/>
        </p:nvPicPr>
        <p:blipFill rotWithShape="1">
          <a:blip r:embed="rId5">
            <a:alphaModFix/>
          </a:blip>
          <a:srcRect b="0" l="0" r="0" t="0"/>
          <a:stretch/>
        </p:blipFill>
        <p:spPr>
          <a:xfrm>
            <a:off x="6528321" y="1505974"/>
            <a:ext cx="1826103" cy="1757379"/>
          </a:xfrm>
          <a:prstGeom prst="rect">
            <a:avLst/>
          </a:prstGeom>
          <a:noFill/>
          <a:ln>
            <a:noFill/>
          </a:ln>
        </p:spPr>
      </p:pic>
      <p:sp>
        <p:nvSpPr>
          <p:cNvPr id="1150" name="Google Shape;1150;g3968f800dcd_0_69"/>
          <p:cNvSpPr txBox="1"/>
          <p:nvPr/>
        </p:nvSpPr>
        <p:spPr>
          <a:xfrm>
            <a:off x="711125" y="3351828"/>
            <a:ext cx="1983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lang="en" sz="1800">
                <a:solidFill>
                  <a:schemeClr val="dk1"/>
                </a:solidFill>
              </a:rPr>
              <a:t>Synthesizer</a:t>
            </a:r>
            <a:endParaRPr b="1" i="0" sz="1800" u="none" cap="none" strike="noStrike">
              <a:solidFill>
                <a:schemeClr val="dk1"/>
              </a:solidFill>
              <a:latin typeface="Arial"/>
              <a:ea typeface="Arial"/>
              <a:cs typeface="Arial"/>
              <a:sym typeface="Arial"/>
            </a:endParaRPr>
          </a:p>
        </p:txBody>
      </p:sp>
      <p:sp>
        <p:nvSpPr>
          <p:cNvPr id="1151" name="Google Shape;1151;g3968f800dcd_0_69"/>
          <p:cNvSpPr txBox="1"/>
          <p:nvPr/>
        </p:nvSpPr>
        <p:spPr>
          <a:xfrm>
            <a:off x="3580500" y="3351828"/>
            <a:ext cx="1983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Writer</a:t>
            </a:r>
            <a:endParaRPr b="1" i="0" sz="1800" u="none" cap="none" strike="noStrike">
              <a:solidFill>
                <a:schemeClr val="dk1"/>
              </a:solidFill>
              <a:latin typeface="Arial"/>
              <a:ea typeface="Arial"/>
              <a:cs typeface="Arial"/>
              <a:sym typeface="Arial"/>
            </a:endParaRPr>
          </a:p>
        </p:txBody>
      </p:sp>
      <p:sp>
        <p:nvSpPr>
          <p:cNvPr id="1152" name="Google Shape;1152;g3968f800dcd_0_69"/>
          <p:cNvSpPr txBox="1"/>
          <p:nvPr/>
        </p:nvSpPr>
        <p:spPr>
          <a:xfrm>
            <a:off x="6449875" y="3351828"/>
            <a:ext cx="1983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Critic</a:t>
            </a:r>
            <a:endParaRPr b="1" i="0" sz="1800" u="none" cap="none" strike="noStrike">
              <a:solidFill>
                <a:schemeClr val="dk1"/>
              </a:solidFill>
              <a:latin typeface="Arial"/>
              <a:ea typeface="Arial"/>
              <a:cs typeface="Arial"/>
              <a:sym typeface="Arial"/>
            </a:endParaRPr>
          </a:p>
        </p:txBody>
      </p:sp>
      <p:cxnSp>
        <p:nvCxnSpPr>
          <p:cNvPr id="1153" name="Google Shape;1153;g3968f800dcd_0_69"/>
          <p:cNvCxnSpPr/>
          <p:nvPr/>
        </p:nvCxnSpPr>
        <p:spPr>
          <a:xfrm>
            <a:off x="2850363" y="2466053"/>
            <a:ext cx="573900" cy="0"/>
          </a:xfrm>
          <a:prstGeom prst="straightConnector1">
            <a:avLst/>
          </a:prstGeom>
          <a:noFill/>
          <a:ln cap="flat" cmpd="sng" w="28575">
            <a:solidFill>
              <a:schemeClr val="dk2"/>
            </a:solidFill>
            <a:prstDash val="solid"/>
            <a:round/>
            <a:headEnd len="sm" w="sm" type="none"/>
            <a:tailEnd len="med" w="med" type="triangle"/>
          </a:ln>
        </p:spPr>
      </p:cxnSp>
      <p:cxnSp>
        <p:nvCxnSpPr>
          <p:cNvPr id="1154" name="Google Shape;1154;g3968f800dcd_0_69"/>
          <p:cNvCxnSpPr/>
          <p:nvPr/>
        </p:nvCxnSpPr>
        <p:spPr>
          <a:xfrm>
            <a:off x="5719738" y="2466053"/>
            <a:ext cx="573900" cy="0"/>
          </a:xfrm>
          <a:prstGeom prst="straightConnector1">
            <a:avLst/>
          </a:prstGeom>
          <a:noFill/>
          <a:ln cap="flat" cmpd="sng" w="28575">
            <a:solidFill>
              <a:schemeClr val="dk2"/>
            </a:solidFill>
            <a:prstDash val="solid"/>
            <a:round/>
            <a:headEnd len="sm" w="sm" type="none"/>
            <a:tailEnd len="med" w="med" type="triangle"/>
          </a:ln>
        </p:spPr>
      </p:cxnSp>
      <p:sp>
        <p:nvSpPr>
          <p:cNvPr id="1155" name="Google Shape;1155;g3968f800dcd_0_69"/>
          <p:cNvSpPr txBox="1"/>
          <p:nvPr/>
        </p:nvSpPr>
        <p:spPr>
          <a:xfrm>
            <a:off x="474425" y="3659350"/>
            <a:ext cx="29499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Goal:</a:t>
            </a:r>
            <a:endParaRPr sz="1600">
              <a:solidFill>
                <a:schemeClr val="dk2"/>
              </a:solidFill>
            </a:endParaRPr>
          </a:p>
          <a:p>
            <a:pPr indent="0" lvl="0" marL="0" rtl="0" algn="l">
              <a:spcBef>
                <a:spcPts val="0"/>
              </a:spcBef>
              <a:spcAft>
                <a:spcPts val="0"/>
              </a:spcAft>
              <a:buNone/>
            </a:pPr>
            <a:r>
              <a:rPr lang="en" sz="1600">
                <a:solidFill>
                  <a:schemeClr val="dk2"/>
                </a:solidFill>
              </a:rPr>
              <a:t>- </a:t>
            </a:r>
            <a:r>
              <a:rPr lang="en" sz="1600">
                <a:solidFill>
                  <a:schemeClr val="dk2"/>
                </a:solidFill>
              </a:rPr>
              <a:t>Analyze an input file</a:t>
            </a:r>
            <a:endParaRPr sz="1600">
              <a:solidFill>
                <a:schemeClr val="dk2"/>
              </a:solidFill>
            </a:endParaRPr>
          </a:p>
          <a:p>
            <a:pPr indent="0" lvl="0" marL="0" rtl="0" algn="l">
              <a:spcBef>
                <a:spcPts val="0"/>
              </a:spcBef>
              <a:spcAft>
                <a:spcPts val="0"/>
              </a:spcAft>
              <a:buNone/>
            </a:pPr>
            <a:r>
              <a:rPr lang="en" sz="1600">
                <a:solidFill>
                  <a:schemeClr val="dk2"/>
                </a:solidFill>
              </a:rPr>
              <a:t>- Define the scaffold for an abstract</a:t>
            </a:r>
            <a:endParaRPr sz="1600">
              <a:solidFill>
                <a:schemeClr val="dk2"/>
              </a:solidFill>
            </a:endParaRPr>
          </a:p>
        </p:txBody>
      </p:sp>
      <p:sp>
        <p:nvSpPr>
          <p:cNvPr id="1156" name="Google Shape;1156;g3968f800dcd_0_69"/>
          <p:cNvSpPr txBox="1"/>
          <p:nvPr/>
        </p:nvSpPr>
        <p:spPr>
          <a:xfrm>
            <a:off x="6046675" y="3659350"/>
            <a:ext cx="2789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Goal:</a:t>
            </a:r>
            <a:endParaRPr sz="1600">
              <a:solidFill>
                <a:schemeClr val="dk2"/>
              </a:solidFill>
            </a:endParaRPr>
          </a:p>
          <a:p>
            <a:pPr indent="0" lvl="0" marL="0" rtl="0" algn="l">
              <a:spcBef>
                <a:spcPts val="0"/>
              </a:spcBef>
              <a:spcAft>
                <a:spcPts val="0"/>
              </a:spcAft>
              <a:buNone/>
            </a:pPr>
            <a:r>
              <a:rPr lang="en" sz="1600">
                <a:solidFill>
                  <a:schemeClr val="dk2"/>
                </a:solidFill>
              </a:rPr>
              <a:t>- Critically review abstracts</a:t>
            </a:r>
            <a:endParaRPr sz="1600">
              <a:solidFill>
                <a:schemeClr val="dk2"/>
              </a:solidFill>
            </a:endParaRPr>
          </a:p>
          <a:p>
            <a:pPr indent="0" lvl="0" marL="0" rtl="0" algn="l">
              <a:spcBef>
                <a:spcPts val="0"/>
              </a:spcBef>
              <a:spcAft>
                <a:spcPts val="0"/>
              </a:spcAft>
              <a:buNone/>
            </a:pPr>
            <a:r>
              <a:rPr lang="en" sz="1600">
                <a:solidFill>
                  <a:schemeClr val="dk2"/>
                </a:solidFill>
              </a:rPr>
              <a:t>- For a specific conference</a:t>
            </a:r>
            <a:endParaRPr sz="16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pic>
        <p:nvPicPr>
          <p:cNvPr id="1161" name="Google Shape;1161;g3cf76b16ad6_0_0"/>
          <p:cNvPicPr preferRelativeResize="0"/>
          <p:nvPr/>
        </p:nvPicPr>
        <p:blipFill rotWithShape="1">
          <a:blip r:embed="rId3">
            <a:alphaModFix/>
          </a:blip>
          <a:srcRect b="0" l="0" r="0" t="0"/>
          <a:stretch/>
        </p:blipFill>
        <p:spPr>
          <a:xfrm>
            <a:off x="0" y="-11417"/>
            <a:ext cx="8230000" cy="461495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5" name="Shape 1165"/>
        <p:cNvGrpSpPr/>
        <p:nvPr/>
      </p:nvGrpSpPr>
      <p:grpSpPr>
        <a:xfrm>
          <a:off x="0" y="0"/>
          <a:ext cx="0" cy="0"/>
          <a:chOff x="0" y="0"/>
          <a:chExt cx="0" cy="0"/>
        </a:xfrm>
      </p:grpSpPr>
      <p:sp>
        <p:nvSpPr>
          <p:cNvPr id="1166" name="Google Shape;1166;g38ac90ad667_0_0"/>
          <p:cNvSpPr txBox="1"/>
          <p:nvPr/>
        </p:nvSpPr>
        <p:spPr>
          <a:xfrm>
            <a:off x="2441575" y="794725"/>
            <a:ext cx="30000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n" sz="2600" u="sng" cap="none" strike="noStrike">
                <a:solidFill>
                  <a:schemeClr val="hlink"/>
                </a:solidFill>
                <a:latin typeface="Oswald"/>
                <a:ea typeface="Oswald"/>
                <a:cs typeface="Oswald"/>
                <a:sym typeface="Oswald"/>
                <a:hlinkClick r:id="rId3"/>
              </a:rPr>
              <a:t>Integrated activities</a:t>
            </a:r>
            <a:br>
              <a:rPr b="0" i="0" lang="en" sz="2600" u="none" cap="none" strike="noStrike">
                <a:solidFill>
                  <a:schemeClr val="dk1"/>
                </a:solidFill>
                <a:latin typeface="Oswald"/>
                <a:ea typeface="Oswald"/>
                <a:cs typeface="Oswald"/>
                <a:sym typeface="Oswald"/>
              </a:rPr>
            </a:br>
            <a:endParaRPr b="0" i="0" sz="1400" u="none" cap="none" strike="noStrike">
              <a:solidFill>
                <a:srgbClr val="000000"/>
              </a:solidFill>
              <a:latin typeface="Arial"/>
              <a:ea typeface="Arial"/>
              <a:cs typeface="Arial"/>
              <a:sym typeface="Arial"/>
            </a:endParaRPr>
          </a:p>
        </p:txBody>
      </p:sp>
      <p:sp>
        <p:nvSpPr>
          <p:cNvPr id="1167" name="Google Shape;1167;g38ac90ad667_0_0"/>
          <p:cNvSpPr txBox="1"/>
          <p:nvPr/>
        </p:nvSpPr>
        <p:spPr>
          <a:xfrm>
            <a:off x="335124" y="3877825"/>
            <a:ext cx="7755600" cy="969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n" sz="2600" u="none" cap="none" strike="noStrike">
                <a:solidFill>
                  <a:schemeClr val="dk1"/>
                </a:solidFill>
                <a:latin typeface="Oswald"/>
                <a:ea typeface="Oswald"/>
                <a:cs typeface="Oswald"/>
                <a:sym typeface="Oswald"/>
              </a:rPr>
              <a:t>Quiz after the activities</a:t>
            </a:r>
            <a:br>
              <a:rPr b="0" i="0" lang="en" sz="2600" u="none" cap="none" strike="noStrike">
                <a:solidFill>
                  <a:schemeClr val="dk1"/>
                </a:solidFill>
                <a:latin typeface="Oswald"/>
                <a:ea typeface="Oswald"/>
                <a:cs typeface="Oswald"/>
                <a:sym typeface="Oswald"/>
              </a:rPr>
            </a:br>
            <a:r>
              <a:rPr b="0" i="0" lang="en" sz="900" u="sng" cap="none" strike="noStrike">
                <a:solidFill>
                  <a:schemeClr val="hlink"/>
                </a:solidFill>
                <a:latin typeface="Arial"/>
                <a:ea typeface="Arial"/>
                <a:cs typeface="Arial"/>
                <a:sym typeface="Arial"/>
                <a:hlinkClick r:id="rId4"/>
              </a:rPr>
              <a:t>https://liascript.github.io/course/?https://raw.githubusercontent.com/vib-tcp/introduction-to-generative-ai/refs/heads/main/supplementary/quiz.md</a:t>
            </a:r>
            <a:r>
              <a:rPr b="0" i="0" lang="en" sz="900" u="none" cap="none" strike="noStrike">
                <a:solidFill>
                  <a:schemeClr val="dk1"/>
                </a:solidFill>
                <a:latin typeface="Arial"/>
                <a:ea typeface="Arial"/>
                <a:cs typeface="Arial"/>
                <a:sym typeface="Arial"/>
              </a:rPr>
              <a:t> </a:t>
            </a:r>
            <a:r>
              <a:rPr b="0" i="0" lang="en" sz="1100" u="none" cap="none" strike="noStrike">
                <a:solidFill>
                  <a:schemeClr val="dk1"/>
                </a:solidFill>
                <a:latin typeface="Arial"/>
                <a:ea typeface="Arial"/>
                <a:cs typeface="Arial"/>
                <a:sym typeface="Arial"/>
              </a:rPr>
              <a:t> </a:t>
            </a:r>
            <a:br>
              <a:rPr b="0" i="0" lang="en" sz="2600" u="none" cap="none" strike="noStrike">
                <a:solidFill>
                  <a:schemeClr val="dk1"/>
                </a:solidFill>
                <a:latin typeface="Oswald"/>
                <a:ea typeface="Oswald"/>
                <a:cs typeface="Oswald"/>
                <a:sym typeface="Oswald"/>
              </a:rPr>
            </a:br>
            <a:endParaRPr b="0" i="0" sz="1400" u="none" cap="none" strike="noStrike">
              <a:solidFill>
                <a:srgbClr val="000000"/>
              </a:solidFill>
              <a:latin typeface="Arial"/>
              <a:ea typeface="Arial"/>
              <a:cs typeface="Arial"/>
              <a:sym typeface="Arial"/>
            </a:endParaRPr>
          </a:p>
        </p:txBody>
      </p:sp>
      <p:sp>
        <p:nvSpPr>
          <p:cNvPr id="1168" name="Google Shape;1168;g38ac90ad667_0_0"/>
          <p:cNvSpPr txBox="1"/>
          <p:nvPr/>
        </p:nvSpPr>
        <p:spPr>
          <a:xfrm>
            <a:off x="229800" y="2018925"/>
            <a:ext cx="2125500" cy="711600"/>
          </a:xfrm>
          <a:prstGeom prst="rect">
            <a:avLst/>
          </a:prstGeom>
          <a:noFill/>
          <a:ln>
            <a:noFill/>
          </a:ln>
        </p:spPr>
        <p:txBody>
          <a:bodyPr anchorCtr="0" anchor="t" bIns="91425" lIns="91425" spcFirstLastPara="1" rIns="91425" wrap="square" tIns="91425">
            <a:spAutoFit/>
          </a:bodyPr>
          <a:lstStyle/>
          <a:p>
            <a:pPr indent="0" lvl="0" marL="0" marR="0" rtl="0" algn="l">
              <a:lnSpc>
                <a:spcPct val="114000"/>
              </a:lnSpc>
              <a:spcBef>
                <a:spcPts val="1000"/>
              </a:spcBef>
              <a:spcAft>
                <a:spcPts val="0"/>
              </a:spcAft>
              <a:buClr>
                <a:srgbClr val="000000"/>
              </a:buClr>
              <a:buSzPts val="1600"/>
              <a:buFont typeface="Arial"/>
              <a:buNone/>
            </a:pPr>
            <a:r>
              <a:rPr b="1" i="0" lang="en" sz="1600" u="none" cap="none" strike="noStrike">
                <a:solidFill>
                  <a:srgbClr val="00205F"/>
                </a:solidFill>
                <a:latin typeface="Trebuchet MS"/>
                <a:ea typeface="Trebuchet MS"/>
                <a:cs typeface="Trebuchet MS"/>
                <a:sym typeface="Trebuchet MS"/>
              </a:rPr>
              <a:t>In groups of three</a:t>
            </a:r>
            <a:endParaRPr b="1" i="0" sz="1600" u="none" cap="none" strike="noStrike">
              <a:solidFill>
                <a:srgbClr val="00205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205F"/>
                </a:solidFill>
                <a:latin typeface="Trebuchet MS"/>
                <a:ea typeface="Trebuchet MS"/>
                <a:cs typeface="Trebuchet MS"/>
                <a:sym typeface="Trebuchet MS"/>
              </a:rPr>
              <a:t>⏰ 20 min</a:t>
            </a:r>
            <a:r>
              <a:rPr b="0" i="0" lang="en"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169" name="Google Shape;1169;g38ac90ad667_0_0"/>
          <p:cNvSpPr txBox="1"/>
          <p:nvPr/>
        </p:nvSpPr>
        <p:spPr>
          <a:xfrm>
            <a:off x="2297975" y="1512825"/>
            <a:ext cx="67599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2000"/>
              <a:buFont typeface="Arial"/>
              <a:buNone/>
            </a:pPr>
            <a:r>
              <a:rPr b="0" i="0" lang="en" sz="2000" u="none" cap="none" strike="noStrike">
                <a:solidFill>
                  <a:schemeClr val="dk1"/>
                </a:solidFill>
                <a:latin typeface="Open Sans"/>
                <a:ea typeface="Open Sans"/>
                <a:cs typeface="Open Sans"/>
                <a:sym typeface="Open Sans"/>
              </a:rPr>
              <a:t> Discuss among you which activity you’d like to do.</a:t>
            </a:r>
            <a:br>
              <a:rPr b="0" i="0" lang="en" sz="2000" u="none" cap="none" strike="noStrike">
                <a:solidFill>
                  <a:schemeClr val="dk1"/>
                </a:solidFill>
                <a:latin typeface="Open Sans"/>
                <a:ea typeface="Open Sans"/>
                <a:cs typeface="Open Sans"/>
                <a:sym typeface="Open Sans"/>
              </a:rPr>
            </a:br>
            <a:r>
              <a:rPr b="0" i="0" lang="en" sz="2000" u="none" cap="none" strike="noStrike">
                <a:solidFill>
                  <a:schemeClr val="dk1"/>
                </a:solidFill>
                <a:latin typeface="Open Sans"/>
                <a:ea typeface="Open Sans"/>
                <a:cs typeface="Open Sans"/>
                <a:sym typeface="Open Sans"/>
              </a:rPr>
              <a:t>Select/use the appropriate tool for the tasks.</a:t>
            </a:r>
            <a:br>
              <a:rPr b="0" i="0" lang="en" sz="2000" u="none" cap="none" strike="noStrike">
                <a:solidFill>
                  <a:schemeClr val="dk1"/>
                </a:solidFill>
                <a:latin typeface="Open Sans"/>
                <a:ea typeface="Open Sans"/>
                <a:cs typeface="Open Sans"/>
                <a:sym typeface="Open Sans"/>
              </a:rPr>
            </a:br>
            <a:r>
              <a:rPr b="0" i="0" lang="en" sz="2000" u="none" cap="none" strike="noStrike">
                <a:solidFill>
                  <a:schemeClr val="dk1"/>
                </a:solidFill>
                <a:latin typeface="Open Sans"/>
                <a:ea typeface="Open Sans"/>
                <a:cs typeface="Open Sans"/>
                <a:sym typeface="Open Sans"/>
              </a:rPr>
              <a:t>Deep dive in exploring the tools.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